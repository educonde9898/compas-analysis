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9"/>
  </p:notesMasterIdLst>
  <p:sldIdLst>
    <p:sldId id="256" r:id="rId2"/>
    <p:sldId id="269" r:id="rId3"/>
    <p:sldId id="263" r:id="rId4"/>
    <p:sldId id="264" r:id="rId5"/>
    <p:sldId id="265" r:id="rId6"/>
    <p:sldId id="266" r:id="rId7"/>
    <p:sldId id="267" r:id="rId8"/>
    <p:sldId id="268" r:id="rId9"/>
    <p:sldId id="257" r:id="rId10"/>
    <p:sldId id="259" r:id="rId11"/>
    <p:sldId id="258" r:id="rId12"/>
    <p:sldId id="270" r:id="rId13"/>
    <p:sldId id="260" r:id="rId14"/>
    <p:sldId id="261" r:id="rId15"/>
    <p:sldId id="262" r:id="rId16"/>
    <p:sldId id="271" r:id="rId17"/>
    <p:sldId id="273" r:id="rId18"/>
    <p:sldId id="272" r:id="rId19"/>
    <p:sldId id="274" r:id="rId20"/>
    <p:sldId id="275" r:id="rId21"/>
    <p:sldId id="276" r:id="rId22"/>
    <p:sldId id="277" r:id="rId23"/>
    <p:sldId id="280" r:id="rId24"/>
    <p:sldId id="278" r:id="rId25"/>
    <p:sldId id="281" r:id="rId26"/>
    <p:sldId id="282" r:id="rId27"/>
    <p:sldId id="283" r:id="rId2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437A"/>
    <a:srgbClr val="FF5050"/>
    <a:srgbClr val="FFCC99"/>
    <a:srgbClr val="C4D3EE"/>
    <a:srgbClr val="B9B9B9"/>
    <a:srgbClr val="AAAAAA"/>
    <a:srgbClr val="8293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2010" autoAdjust="0"/>
  </p:normalViewPr>
  <p:slideViewPr>
    <p:cSldViewPr snapToGrid="0">
      <p:cViewPr varScale="1">
        <p:scale>
          <a:sx n="102" d="100"/>
          <a:sy n="102" d="100"/>
        </p:scale>
        <p:origin x="9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B6EE96-320A-4C4F-AC17-E6F718FB1649}" type="datetimeFigureOut">
              <a:rPr lang="es-ES" smtClean="0"/>
              <a:t>28/02/2026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66258A-D4FF-4A1D-BB30-62148326DCC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77991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D3378-C42E-8EE5-FEF0-37A90E51F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45569A-C380-F647-D257-5AAD0479A1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B3E03E-3CE7-6D30-B9CA-4C11F147E2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72514B-7796-0B9D-92B7-691011E4A3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5572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C9B55-14C8-FEEA-913D-27E05B430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C34A27-96D9-1FD4-13F5-51158E5571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7CE287-CDD4-30E2-0B8B-4BA3240B38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75A7E4-1A5C-54D4-6BEA-EA8FD420D3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7216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034E2-B1EF-B5E3-C32A-5995BAEF2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3D7DF7-B911-D363-A131-4B6FB3FD21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21E752-2360-DAA4-D2FF-D5535E2A09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8B5E70-536C-C217-3782-A988FCD0FA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8206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ABA3B-6092-3F75-4B58-72456E0A0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AC59B8-9B0B-E632-854D-26C1038852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AC1AC7-6D30-68E9-703F-92FE1D1F63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77866-3011-6894-98EA-2CDBBA8BA7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2048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52B6A-20F7-304E-0E30-0E8849710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52E540-CB0C-3D1E-F72B-9CDA09FBB9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84F2CD-F3F0-F27B-9CB6-38F63F52F4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BCC4CF-98D4-3238-7D65-601E1F85C0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7046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17DAD-8104-D78E-31F6-273C5A8EC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A8872B-757E-F207-0288-E759698270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486F95-018A-C527-0B4F-8A7478395D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A78F4D-6CB1-1AAC-132E-4A2CDA187C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3255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ACFC7-C2E0-7388-21CD-B6E7F60D31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A88870-37A6-67F6-B88F-01D70C6BE5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D4D48-B49C-DBDC-CB1B-A477B946E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D4C493-05B3-697F-EBCB-DF8CC4ABE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NUCLIO DIGITAL SCHOOL - MÁSTER DATA ANALYTICS - TFM - GRUPO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1302EE-CFD4-2FBF-A8EE-E88B3719E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007C7-A846-4282-9AAF-10922F9BAA4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7868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0B259-0A9B-4CD3-B9F5-C6AB9C277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3E5E9-04CE-2C90-D348-465DEAD2F6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422207-F05F-F9FD-3C17-ACAAEAA78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86D05-7770-28E6-F9AB-B0467B2B6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NUCLIO DIGITAL SCHOOL - MÁSTER DATA ANALYTICS - TFM - GRUPO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F67D9B-4E6F-7E80-B22C-4B85E1DCF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007C7-A846-4282-9AAF-10922F9BAA4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64801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7E30C-55B9-3403-816F-FE80730B1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0BB613-A3E0-2193-4CDF-32289960ED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369D11-7423-A157-8BEF-419D55C3C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38470-8D2D-7216-D93A-183F58C1F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NUCLIO DIGITAL SCHOOL - MÁSTER DATA ANALYTICS - TFM - GRUPO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176EA-B95B-2500-6DA3-77859BEA8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007C7-A846-4282-9AAF-10922F9BAA4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82211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C13C2-B6A7-C6D6-CF3F-B07D35C44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C194B-0DA5-C9BC-01A2-D5081198A5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9797E1-E0B3-BD4B-5B59-53B7FAFA83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54FB4C-211F-F62F-A87B-BB0D1C60E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F53C7D-5BA4-036B-345A-041AD525A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NUCLIO DIGITAL SCHOOL - MÁSTER DATA ANALYTICS - TFM - GRUPO 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F176A2-8992-96C9-55D6-7C9888C0F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007C7-A846-4282-9AAF-10922F9BAA4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92876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0CB46-6396-8C38-5940-2FE9F37DB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F90EDC-8093-CE57-EA9E-5DB455E7C9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E4643A-40DE-9E71-C561-6714AD11C3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C22642-2A8D-9D59-BC28-CC12F5A7EA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0930AA-0F00-312C-AF20-C968BD90E9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3B1B2A-6761-A4DD-DD23-C571E758A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4F2157-EEB6-A0A8-162E-A01BA86F3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NUCLIO DIGITAL SCHOOL - MÁSTER DATA ANALYTICS - TFM - GRUPO 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E7AC88-F40A-9DE7-57C8-57308C902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007C7-A846-4282-9AAF-10922F9BAA4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94412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5E456-9DA0-821E-D7B2-0B9094308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EBCA6F-7022-A0E3-65D5-BED7D7917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14F20A-E216-893C-BCB8-378EA92BC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NUCLIO DIGITAL SCHOOL - MÁSTER DATA ANALYTICS - TFM - GRUPO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3432B0-57BD-05F2-93EA-6BEA1D50A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007C7-A846-4282-9AAF-10922F9BAA4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90984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BA32FE-01ED-AD09-442D-B9EC84DD7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5742C6-249E-C15D-4072-05FDEF7D3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NUCLIO DIGITAL SCHOOL - MÁSTER DATA ANALYTICS - TFM - GRUPO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34214B-40A8-4A2D-F02D-8C1EE231A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007C7-A846-4282-9AAF-10922F9BAA4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52263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3FAC5-2ECE-6398-349A-24AED2B2F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7B126-74FD-B640-3AEB-591EC68176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BBF41E-22A2-DB76-3B8E-4F24FD7022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A51EF2-8607-6F0D-3B83-FCCAE5B33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29BEFE-ADED-325F-48AE-213AB0CF1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NUCLIO DIGITAL SCHOOL - MÁSTER DATA ANALYTICS - TFM - GRUPO 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D99E7A-11FF-3622-0E29-AEF9A02EC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007C7-A846-4282-9AAF-10922F9BAA4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4848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67E6A-07A7-5B68-1DDA-9F2DA9C1A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C23E54-44AC-D203-C765-195CBC2879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783503-1F98-288E-B35F-087039D67C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AE7BBA-6B1E-C817-F119-19E1D7BE8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C862B4-2FED-EA4E-E0DA-4EEA15AA4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NUCLIO DIGITAL SCHOOL - MÁSTER DATA ANALYTICS - TFM - GRUPO 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EF8B65-9DC5-891C-78BA-3593DC234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007C7-A846-4282-9AAF-10922F9BAA4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2150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59C4E-C3E9-AE45-2022-88310CB09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2E60D2-29B8-4CBD-4004-8AD01F26D3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61CFB0-F97B-8C2F-B84C-003A34BB7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15268-3BD8-DC20-E066-94B45A026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NUCLIO DIGITAL SCHOOL - MÁSTER DATA ANALYTICS - TFM - GRUPO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562003-BFBE-3679-B493-40C0F3400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007C7-A846-4282-9AAF-10922F9BAA4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2672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B37B82-7DAB-69E2-701B-9CD2EB01D6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A38B06-F1CC-9439-4920-76C8154D86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C1546-AEA5-B8B0-F9C4-281954FDC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CF13-0D13-13C0-2ABD-91B9D053F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NUCLIO DIGITAL SCHOOL - MÁSTER DATA ANALYTICS - TFM - GRUPO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E3DCB-0EC5-49EA-1B85-15B539E0A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007C7-A846-4282-9AAF-10922F9BAA4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029583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8551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719416-A078-5961-DD65-3FFA15E26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A75B53-9066-D9B5-68C8-433A989625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1703D-6569-EF82-0BF4-C6C6D05024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18CE6A-8BD8-BA3D-800D-4166D9C335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s-ES"/>
              <a:t>NUCLIO DIGITAL SCHOOL - MÁSTER DATA ANALYTICS - TFM - GRUPO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477963-F747-A9C7-C554-6292164F74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8007C7-A846-4282-9AAF-10922F9BAA4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07579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5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38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6.png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3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46AE44B-D8F3-5D0F-FFA9-A52CCC3B4621}"/>
              </a:ext>
            </a:extLst>
          </p:cNvPr>
          <p:cNvSpPr/>
          <p:nvPr/>
        </p:nvSpPr>
        <p:spPr>
          <a:xfrm>
            <a:off x="0" y="0"/>
            <a:ext cx="419330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1"/>
              </a:solidFill>
            </a:endParaRPr>
          </a:p>
        </p:txBody>
      </p:sp>
      <p:pic>
        <p:nvPicPr>
          <p:cNvPr id="1028" name="Picture 4" descr="Our Startups">
            <a:extLst>
              <a:ext uri="{FF2B5EF4-FFF2-40B4-BE49-F238E27FC236}">
                <a16:creationId xmlns:a16="http://schemas.microsoft.com/office/drawing/2014/main" id="{183DBFD2-0C0C-78FE-CF46-B602D77858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848" y="4690884"/>
            <a:ext cx="3359612" cy="1194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EA85936-BD0B-6E1A-5895-2806C9E551FE}"/>
              </a:ext>
            </a:extLst>
          </p:cNvPr>
          <p:cNvSpPr txBox="1"/>
          <p:nvPr/>
        </p:nvSpPr>
        <p:spPr>
          <a:xfrm>
            <a:off x="4709488" y="4109244"/>
            <a:ext cx="6749198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b="1" dirty="0"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MÁSTER EN DATA ANALYTICS </a:t>
            </a:r>
          </a:p>
          <a:p>
            <a:r>
              <a:rPr lang="es-ES" b="1" dirty="0">
                <a:solidFill>
                  <a:srgbClr val="FFC000"/>
                </a:solidFill>
              </a:rPr>
              <a:t>GRUPO 3: </a:t>
            </a:r>
            <a:r>
              <a:rPr lang="es-ES" b="1" dirty="0">
                <a:solidFill>
                  <a:schemeClr val="bg1"/>
                </a:solidFill>
              </a:rPr>
              <a:t>EDUARDO CONDE / LUIS HERMÓGENES</a:t>
            </a:r>
          </a:p>
          <a:p>
            <a:r>
              <a:rPr lang="es-ES" sz="1400" b="1" dirty="0">
                <a:solidFill>
                  <a:schemeClr val="bg1"/>
                </a:solidFill>
              </a:rPr>
              <a:t>PRESENTACIÓN DEL PROYECTO DE TFM </a:t>
            </a:r>
          </a:p>
          <a:p>
            <a:r>
              <a:rPr lang="es-ES" sz="1200" b="1" i="1" dirty="0">
                <a:solidFill>
                  <a:schemeClr val="bg2">
                    <a:lumMod val="75000"/>
                  </a:schemeClr>
                </a:solidFill>
              </a:rPr>
              <a:t>“PROYECTO DE ANÁLISIS AVANZADO DE DATOS PARA EL SISTEMA JUDICIAL DE EE. UU.”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DCDB6E-D04A-0914-42A1-44A17DD75A56}"/>
              </a:ext>
            </a:extLst>
          </p:cNvPr>
          <p:cNvSpPr txBox="1"/>
          <p:nvPr/>
        </p:nvSpPr>
        <p:spPr>
          <a:xfrm>
            <a:off x="4709488" y="1653124"/>
            <a:ext cx="6664457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b="1" i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AUDITORÍA Y EVALUACIÓN DEL ALGORITMO COMPAS:</a:t>
            </a:r>
          </a:p>
          <a:p>
            <a:r>
              <a:rPr lang="es-ES" sz="2800" b="1" i="1" dirty="0">
                <a:solidFill>
                  <a:schemeClr val="bg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SESGOS, MÉTRICAS Y MODELO ALTERNATIVO</a:t>
            </a: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81095C03-40BC-2DF5-5A1E-E79D620D4C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018" y="989174"/>
            <a:ext cx="3348890" cy="3341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1263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255" y="1431876"/>
            <a:ext cx="3706267" cy="1577280"/>
          </a:xfrm>
          <a:prstGeom prst="round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-4442505" y="581025"/>
            <a:ext cx="22128480" cy="5028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3960"/>
              </a:lnSpc>
              <a:buNone/>
            </a:pPr>
            <a:endParaRPr lang="en-US" sz="3300" dirty="0"/>
          </a:p>
        </p:txBody>
      </p:sp>
      <p:sp>
        <p:nvSpPr>
          <p:cNvPr id="5" name="Text 1"/>
          <p:cNvSpPr/>
          <p:nvPr/>
        </p:nvSpPr>
        <p:spPr>
          <a:xfrm>
            <a:off x="71378" y="835149"/>
            <a:ext cx="12241530" cy="34974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754"/>
              </a:lnSpc>
              <a:buNone/>
            </a:pPr>
            <a:r>
              <a:rPr lang="en-US" sz="2025" b="1" dirty="0">
                <a:solidFill>
                  <a:srgbClr val="24437A"/>
                </a:solidFill>
                <a:latin typeface="Merriweather-Bold" pitchFamily="34" charset="0"/>
                <a:ea typeface="Merriweather-Bold" pitchFamily="34" charset="-122"/>
                <a:cs typeface="Merriweather-Bold" pitchFamily="34" charset="-120"/>
              </a:rPr>
              <a:t>MAYO 2016: EL MOMENTO QUE CAMBIÓ TODO</a:t>
            </a:r>
            <a:endParaRPr lang="en-US" sz="2025" dirty="0">
              <a:solidFill>
                <a:srgbClr val="24437A"/>
              </a:solidFill>
            </a:endParaRPr>
          </a:p>
        </p:txBody>
      </p:sp>
      <p:sp>
        <p:nvSpPr>
          <p:cNvPr id="6" name="Text 2"/>
          <p:cNvSpPr/>
          <p:nvPr/>
        </p:nvSpPr>
        <p:spPr>
          <a:xfrm>
            <a:off x="1076325" y="2038350"/>
            <a:ext cx="2657475" cy="323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550"/>
              </a:lnSpc>
              <a:buNone/>
            </a:pPr>
            <a:r>
              <a:rPr lang="en-US" sz="2400" b="1" dirty="0">
                <a:solidFill>
                  <a:srgbClr val="24437A"/>
                </a:solidFill>
                <a:latin typeface="+mj-lt"/>
                <a:ea typeface="Red Hat Display Variable" pitchFamily="34" charset="-122"/>
                <a:cs typeface="Red Hat Display Variable" pitchFamily="34" charset="-120"/>
              </a:rPr>
              <a:t>Los </a:t>
            </a:r>
            <a:r>
              <a:rPr lang="en-US" sz="2400" b="1" dirty="0" err="1">
                <a:solidFill>
                  <a:srgbClr val="24437A"/>
                </a:solidFill>
                <a:latin typeface="+mj-lt"/>
                <a:ea typeface="Red Hat Display Variable" pitchFamily="34" charset="-122"/>
                <a:cs typeface="Red Hat Display Variable" pitchFamily="34" charset="-120"/>
              </a:rPr>
              <a:t>hallazgos</a:t>
            </a:r>
            <a:r>
              <a:rPr lang="en-US" sz="2400" b="1" dirty="0">
                <a:solidFill>
                  <a:srgbClr val="24437A"/>
                </a:solidFill>
                <a:latin typeface="+mj-lt"/>
                <a:ea typeface="Red Hat Display Variable" pitchFamily="34" charset="-122"/>
                <a:cs typeface="Red Hat Display Variable" pitchFamily="34" charset="-120"/>
              </a:rPr>
              <a:t> clave</a:t>
            </a:r>
            <a:endParaRPr lang="en-US" sz="2400" b="1" dirty="0">
              <a:solidFill>
                <a:srgbClr val="24437A"/>
              </a:solidFill>
              <a:latin typeface="+mj-lt"/>
            </a:endParaRPr>
          </a:p>
        </p:txBody>
      </p:sp>
      <p:sp>
        <p:nvSpPr>
          <p:cNvPr id="7" name="Text 3"/>
          <p:cNvSpPr/>
          <p:nvPr/>
        </p:nvSpPr>
        <p:spPr>
          <a:xfrm>
            <a:off x="7715250" y="3349005"/>
            <a:ext cx="8229600" cy="31090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48"/>
              </a:lnSpc>
              <a:buNone/>
            </a:pPr>
            <a:r>
              <a:rPr lang="en-US" sz="1800" b="1" dirty="0">
                <a:solidFill>
                  <a:srgbClr val="24437A"/>
                </a:solidFill>
                <a:latin typeface="+mj-lt"/>
                <a:ea typeface="Red Hat Display Variable" pitchFamily="34" charset="-122"/>
                <a:cs typeface="Red Hat Display Variable" pitchFamily="34" charset="-120"/>
              </a:rPr>
              <a:t>Disparidad en Falsos Positivos</a:t>
            </a:r>
            <a:endParaRPr lang="en-US" sz="1800" dirty="0">
              <a:solidFill>
                <a:srgbClr val="24437A"/>
              </a:solidFill>
              <a:latin typeface="+mj-lt"/>
            </a:endParaRPr>
          </a:p>
        </p:txBody>
      </p:sp>
      <p:sp>
        <p:nvSpPr>
          <p:cNvPr id="8" name="Text 4"/>
          <p:cNvSpPr/>
          <p:nvPr/>
        </p:nvSpPr>
        <p:spPr>
          <a:xfrm>
            <a:off x="1076325" y="2422028"/>
            <a:ext cx="5019675" cy="24955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285750" indent="-285750">
              <a:lnSpc>
                <a:spcPts val="2448"/>
              </a:lnSpc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rgbClr val="24437A"/>
                </a:solidFill>
                <a:latin typeface="+mj-lt"/>
                <a:ea typeface="Roboto-Regular" pitchFamily="34" charset="-122"/>
                <a:cs typeface="Roboto-Regular" pitchFamily="34" charset="-120"/>
              </a:rPr>
              <a:t>Muestra</a:t>
            </a:r>
            <a:r>
              <a:rPr lang="en-US" sz="2000" b="1" dirty="0">
                <a:solidFill>
                  <a:srgbClr val="24437A"/>
                </a:solidFill>
                <a:latin typeface="+mj-lt"/>
                <a:ea typeface="Roboto-Regular" pitchFamily="34" charset="-122"/>
                <a:cs typeface="Roboto-Regular" pitchFamily="34" charset="-120"/>
              </a:rPr>
              <a:t> analizada</a:t>
            </a:r>
            <a:r>
              <a:rPr lang="en-US" sz="2000" dirty="0">
                <a:solidFill>
                  <a:srgbClr val="0B1A30"/>
                </a:solidFill>
                <a:latin typeface="+mj-lt"/>
                <a:ea typeface="Roboto-Regular" pitchFamily="34" charset="-122"/>
                <a:cs typeface="Roboto-Regular" pitchFamily="34" charset="-120"/>
              </a:rPr>
              <a:t>: Más de 7000
detenidos en el Condado de Broward, Florida</a:t>
            </a:r>
          </a:p>
          <a:p>
            <a:pPr marL="285750" indent="-285750">
              <a:lnSpc>
                <a:spcPts val="2448"/>
              </a:lnSpc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rgbClr val="24437A"/>
                </a:solidFill>
                <a:ea typeface="Roboto-Regular" pitchFamily="34" charset="-122"/>
                <a:cs typeface="Roboto-Regular" pitchFamily="34" charset="-120"/>
              </a:rPr>
              <a:t>Período</a:t>
            </a:r>
            <a:r>
              <a:rPr lang="en-US" sz="2000" b="1" dirty="0">
                <a:solidFill>
                  <a:srgbClr val="24437A"/>
                </a:solidFill>
                <a:ea typeface="Roboto-Regular" pitchFamily="34" charset="-122"/>
                <a:cs typeface="Roboto-Regular" pitchFamily="34" charset="-120"/>
              </a:rPr>
              <a:t> de </a:t>
            </a:r>
            <a:r>
              <a:rPr lang="en-US" sz="2000" b="1" dirty="0" err="1">
                <a:solidFill>
                  <a:srgbClr val="24437A"/>
                </a:solidFill>
                <a:ea typeface="Roboto-Regular" pitchFamily="34" charset="-122"/>
                <a:cs typeface="Roboto-Regular" pitchFamily="34" charset="-120"/>
              </a:rPr>
              <a:t>seguimiento</a:t>
            </a:r>
            <a:r>
              <a:rPr lang="en-US" sz="2000" dirty="0">
                <a:solidFill>
                  <a:srgbClr val="0B1A30"/>
                </a:solidFill>
                <a:ea typeface="Roboto-Regular" pitchFamily="34" charset="-122"/>
                <a:cs typeface="Roboto-Regular" pitchFamily="34" charset="-120"/>
              </a:rPr>
              <a:t>: Dos </a:t>
            </a:r>
            <a:r>
              <a:rPr lang="en-US" sz="2000" dirty="0" err="1">
                <a:solidFill>
                  <a:srgbClr val="0B1A30"/>
                </a:solidFill>
                <a:ea typeface="Roboto-Regular" pitchFamily="34" charset="-122"/>
                <a:cs typeface="Roboto-Regular" pitchFamily="34" charset="-120"/>
              </a:rPr>
              <a:t>años</a:t>
            </a:r>
            <a:r>
              <a:rPr lang="en-US" sz="2000" dirty="0">
                <a:solidFill>
                  <a:srgbClr val="0B1A30"/>
                </a:solidFill>
                <a:ea typeface="Roboto-Regular" pitchFamily="34" charset="-122"/>
                <a:cs typeface="Roboto-Regular" pitchFamily="34" charset="-120"/>
              </a:rPr>
              <a:t> de
</a:t>
            </a:r>
            <a:r>
              <a:rPr lang="en-US" sz="2000" dirty="0" err="1">
                <a:solidFill>
                  <a:srgbClr val="0B1A30"/>
                </a:solidFill>
                <a:ea typeface="Roboto-Regular" pitchFamily="34" charset="-122"/>
                <a:cs typeface="Roboto-Regular" pitchFamily="34" charset="-120"/>
              </a:rPr>
              <a:t>datos</a:t>
            </a:r>
            <a:r>
              <a:rPr lang="en-US" sz="2000" dirty="0">
                <a:solidFill>
                  <a:srgbClr val="0B1A30"/>
                </a:solidFill>
                <a:ea typeface="Roboto-Regular" pitchFamily="34" charset="-122"/>
                <a:cs typeface="Roboto-Regular" pitchFamily="34" charset="-120"/>
              </a:rPr>
              <a:t> de </a:t>
            </a:r>
            <a:r>
              <a:rPr lang="en-US" sz="2000" dirty="0" err="1">
                <a:solidFill>
                  <a:srgbClr val="0B1A30"/>
                </a:solidFill>
                <a:ea typeface="Roboto-Regular" pitchFamily="34" charset="-122"/>
                <a:cs typeface="Roboto-Regular" pitchFamily="34" charset="-120"/>
              </a:rPr>
              <a:t>reincidencia</a:t>
            </a:r>
            <a:endParaRPr lang="en-US" sz="2000" dirty="0">
              <a:solidFill>
                <a:srgbClr val="0B1A30"/>
              </a:solidFill>
              <a:ea typeface="Roboto-Regular" pitchFamily="34" charset="-122"/>
              <a:cs typeface="Roboto-Regular" pitchFamily="34" charset="-120"/>
            </a:endParaRPr>
          </a:p>
          <a:p>
            <a:pPr marL="285750" indent="-285750">
              <a:lnSpc>
                <a:spcPts val="2448"/>
              </a:lnSpc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rgbClr val="24437A"/>
                </a:solidFill>
                <a:ea typeface="Roboto-Regular" pitchFamily="34" charset="-122"/>
                <a:cs typeface="Roboto-Regular" pitchFamily="34" charset="-120"/>
              </a:rPr>
              <a:t>Disparidad</a:t>
            </a:r>
            <a:r>
              <a:rPr lang="en-US" sz="2000" b="1" dirty="0">
                <a:solidFill>
                  <a:srgbClr val="24437A"/>
                </a:solidFill>
                <a:ea typeface="Roboto-Regular" pitchFamily="34" charset="-122"/>
                <a:cs typeface="Roboto-Regular" pitchFamily="34" charset="-120"/>
              </a:rPr>
              <a:t> racial</a:t>
            </a:r>
            <a:r>
              <a:rPr lang="en-US" sz="2000" dirty="0">
                <a:solidFill>
                  <a:srgbClr val="0B1A30"/>
                </a:solidFill>
                <a:ea typeface="Roboto-Regular" pitchFamily="34" charset="-122"/>
                <a:cs typeface="Roboto-Regular" pitchFamily="34" charset="-120"/>
              </a:rPr>
              <a:t>: </a:t>
            </a:r>
            <a:r>
              <a:rPr lang="en-US" sz="2000" dirty="0" err="1">
                <a:solidFill>
                  <a:srgbClr val="0B1A30"/>
                </a:solidFill>
                <a:ea typeface="Roboto-Regular" pitchFamily="34" charset="-122"/>
                <a:cs typeface="Roboto-Regular" pitchFamily="34" charset="-120"/>
              </a:rPr>
              <a:t>Errores</a:t>
            </a:r>
            <a:r>
              <a:rPr lang="en-US" sz="2000" dirty="0">
                <a:solidFill>
                  <a:srgbClr val="0B1A30"/>
                </a:solidFill>
                <a:ea typeface="Roboto-Regular" pitchFamily="34" charset="-122"/>
                <a:cs typeface="Roboto-Regular" pitchFamily="34" charset="-120"/>
              </a:rPr>
              <a:t> </a:t>
            </a:r>
            <a:r>
              <a:rPr lang="en-US" sz="2000" dirty="0" err="1">
                <a:solidFill>
                  <a:srgbClr val="0B1A30"/>
                </a:solidFill>
                <a:ea typeface="Roboto-Regular" pitchFamily="34" charset="-122"/>
                <a:cs typeface="Roboto-Regular" pitchFamily="34" charset="-120"/>
              </a:rPr>
              <a:t>asimétricos</a:t>
            </a:r>
            <a:r>
              <a:rPr lang="en-US" sz="2000" dirty="0">
                <a:solidFill>
                  <a:srgbClr val="0B1A30"/>
                </a:solidFill>
                <a:ea typeface="Roboto-Regular" pitchFamily="34" charset="-122"/>
                <a:cs typeface="Roboto-Regular" pitchFamily="34" charset="-120"/>
              </a:rPr>
              <a:t>
</a:t>
            </a:r>
            <a:r>
              <a:rPr lang="en-US" sz="2000" dirty="0" err="1">
                <a:solidFill>
                  <a:srgbClr val="0B1A30"/>
                </a:solidFill>
                <a:ea typeface="Roboto-Regular" pitchFamily="34" charset="-122"/>
                <a:cs typeface="Roboto-Regular" pitchFamily="34" charset="-120"/>
              </a:rPr>
              <a:t>según</a:t>
            </a:r>
            <a:r>
              <a:rPr lang="en-US" sz="2000" dirty="0">
                <a:solidFill>
                  <a:srgbClr val="0B1A30"/>
                </a:solidFill>
                <a:ea typeface="Roboto-Regular" pitchFamily="34" charset="-122"/>
                <a:cs typeface="Roboto-Regular" pitchFamily="34" charset="-120"/>
              </a:rPr>
              <a:t> la raza del </a:t>
            </a:r>
            <a:r>
              <a:rPr lang="en-US" sz="2000" dirty="0" err="1">
                <a:solidFill>
                  <a:srgbClr val="0B1A30"/>
                </a:solidFill>
                <a:ea typeface="Roboto-Regular" pitchFamily="34" charset="-122"/>
                <a:cs typeface="Roboto-Regular" pitchFamily="34" charset="-120"/>
              </a:rPr>
              <a:t>acusado</a:t>
            </a:r>
            <a:endParaRPr lang="en-US" sz="2000" dirty="0">
              <a:solidFill>
                <a:srgbClr val="0B1A30"/>
              </a:solidFill>
              <a:ea typeface="Roboto-Regular" pitchFamily="34" charset="-122"/>
              <a:cs typeface="Roboto-Regular" pitchFamily="34" charset="-120"/>
            </a:endParaRPr>
          </a:p>
          <a:p>
            <a:pPr marL="285750" indent="-285750">
              <a:lnSpc>
                <a:spcPts val="2448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24437A"/>
                </a:solidFill>
                <a:ea typeface="Roboto-Regular" pitchFamily="34" charset="-122"/>
                <a:cs typeface="Roboto-Regular" pitchFamily="34" charset="-120"/>
              </a:rPr>
              <a:t>Impacto </a:t>
            </a:r>
            <a:r>
              <a:rPr lang="en-US" sz="2000" b="1" dirty="0" err="1">
                <a:solidFill>
                  <a:srgbClr val="24437A"/>
                </a:solidFill>
                <a:ea typeface="Roboto-Regular" pitchFamily="34" charset="-122"/>
                <a:cs typeface="Roboto-Regular" pitchFamily="34" charset="-120"/>
              </a:rPr>
              <a:t>mediático</a:t>
            </a:r>
            <a:r>
              <a:rPr lang="en-US" sz="2000" dirty="0">
                <a:solidFill>
                  <a:srgbClr val="0B1A30"/>
                </a:solidFill>
                <a:ea typeface="Roboto-Regular" pitchFamily="34" charset="-122"/>
                <a:cs typeface="Roboto-Regular" pitchFamily="34" charset="-120"/>
              </a:rPr>
              <a:t>: </a:t>
            </a:r>
            <a:r>
              <a:rPr lang="en-US" sz="2000" dirty="0" err="1">
                <a:solidFill>
                  <a:srgbClr val="0B1A30"/>
                </a:solidFill>
                <a:ea typeface="Roboto-Regular" pitchFamily="34" charset="-122"/>
                <a:cs typeface="Roboto-Regular" pitchFamily="34" charset="-120"/>
              </a:rPr>
              <a:t>Cuestionamiento</a:t>
            </a:r>
            <a:r>
              <a:rPr lang="en-US" sz="2000" dirty="0">
                <a:solidFill>
                  <a:srgbClr val="0B1A30"/>
                </a:solidFill>
                <a:ea typeface="Roboto-Regular" pitchFamily="34" charset="-122"/>
                <a:cs typeface="Roboto-Regular" pitchFamily="34" charset="-120"/>
              </a:rPr>
              <a:t>
</a:t>
            </a:r>
            <a:r>
              <a:rPr lang="en-US" sz="2000" dirty="0" err="1">
                <a:solidFill>
                  <a:srgbClr val="0B1A30"/>
                </a:solidFill>
                <a:ea typeface="Roboto-Regular" pitchFamily="34" charset="-122"/>
                <a:cs typeface="Roboto-Regular" pitchFamily="34" charset="-120"/>
              </a:rPr>
              <a:t>público</a:t>
            </a:r>
            <a:r>
              <a:rPr lang="en-US" sz="2000" dirty="0">
                <a:solidFill>
                  <a:srgbClr val="0B1A30"/>
                </a:solidFill>
                <a:ea typeface="Roboto-Regular" pitchFamily="34" charset="-122"/>
                <a:cs typeface="Roboto-Regular" pitchFamily="34" charset="-120"/>
              </a:rPr>
              <a:t> de la "</a:t>
            </a:r>
            <a:r>
              <a:rPr lang="en-US" sz="2000" dirty="0" err="1">
                <a:solidFill>
                  <a:srgbClr val="0B1A30"/>
                </a:solidFill>
                <a:ea typeface="Roboto-Regular" pitchFamily="34" charset="-122"/>
                <a:cs typeface="Roboto-Regular" pitchFamily="34" charset="-120"/>
              </a:rPr>
              <a:t>neutralidad</a:t>
            </a:r>
            <a:r>
              <a:rPr lang="en-US" sz="2000" dirty="0">
                <a:solidFill>
                  <a:srgbClr val="0B1A30"/>
                </a:solidFill>
                <a:ea typeface="Roboto-Regular" pitchFamily="34" charset="-122"/>
                <a:cs typeface="Roboto-Regular" pitchFamily="34" charset="-120"/>
              </a:rPr>
              <a:t>" </a:t>
            </a:r>
            <a:r>
              <a:rPr lang="en-US" sz="2000" dirty="0" err="1">
                <a:solidFill>
                  <a:srgbClr val="0B1A30"/>
                </a:solidFill>
                <a:ea typeface="Roboto-Regular" pitchFamily="34" charset="-122"/>
                <a:cs typeface="Roboto-Regular" pitchFamily="34" charset="-120"/>
              </a:rPr>
              <a:t>algorítmica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1076325" y="3476625"/>
            <a:ext cx="4872038" cy="5959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346"/>
              </a:lnSpc>
              <a:buNone/>
            </a:pPr>
            <a:endParaRPr lang="en-US" sz="1725" dirty="0">
              <a:latin typeface="+mj-lt"/>
            </a:endParaRPr>
          </a:p>
        </p:txBody>
      </p:sp>
      <p:sp>
        <p:nvSpPr>
          <p:cNvPr id="10" name="Text 6"/>
          <p:cNvSpPr/>
          <p:nvPr/>
        </p:nvSpPr>
        <p:spPr>
          <a:xfrm>
            <a:off x="1076325" y="4238625"/>
            <a:ext cx="4861471" cy="5959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346"/>
              </a:lnSpc>
              <a:buNone/>
            </a:pPr>
            <a:endParaRPr lang="en-US" sz="1725" dirty="0">
              <a:latin typeface="+mj-lt"/>
            </a:endParaRPr>
          </a:p>
        </p:txBody>
      </p:sp>
      <p:sp>
        <p:nvSpPr>
          <p:cNvPr id="11" name="Text 7"/>
          <p:cNvSpPr/>
          <p:nvPr/>
        </p:nvSpPr>
        <p:spPr>
          <a:xfrm>
            <a:off x="1076325" y="5000625"/>
            <a:ext cx="4872038" cy="5959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346"/>
              </a:lnSpc>
              <a:buNone/>
            </a:pPr>
            <a:endParaRPr lang="en-US" sz="1725" dirty="0">
              <a:latin typeface="+mj-lt"/>
            </a:endParaRPr>
          </a:p>
        </p:txBody>
      </p:sp>
      <p:sp>
        <p:nvSpPr>
          <p:cNvPr id="13" name="Text 9"/>
          <p:cNvSpPr/>
          <p:nvPr/>
        </p:nvSpPr>
        <p:spPr>
          <a:xfrm>
            <a:off x="6906518" y="5378202"/>
            <a:ext cx="10812780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75"/>
              </a:lnSpc>
              <a:buNone/>
            </a:pPr>
            <a:endParaRPr lang="en-US" sz="1650" dirty="0">
              <a:latin typeface="+mj-lt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1809750" y="5967040"/>
            <a:ext cx="9408765" cy="5959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346"/>
              </a:lnSpc>
              <a:buNone/>
            </a:pPr>
            <a:r>
              <a:rPr lang="en-US" sz="1725" b="1" i="1" dirty="0">
                <a:solidFill>
                  <a:srgbClr val="24437A"/>
                </a:solidFill>
                <a:latin typeface="Merriweather-Regular" pitchFamily="34" charset="0"/>
                <a:ea typeface="Merriweather-Regular" pitchFamily="34" charset="-122"/>
                <a:cs typeface="Merriweather-Regular" pitchFamily="34" charset="-120"/>
              </a:rPr>
              <a:t>“Este hallazgo no solo cuestionó la validez técnica de COMPAS, sino que abrió
un debate ético sobre la equidad algorítmica”</a:t>
            </a:r>
            <a:endParaRPr lang="en-US" sz="1725" b="1" dirty="0">
              <a:solidFill>
                <a:srgbClr val="24437A"/>
              </a:solidFill>
            </a:endParaRPr>
          </a:p>
        </p:txBody>
      </p:sp>
      <p:sp>
        <p:nvSpPr>
          <p:cNvPr id="15" name="Text 11"/>
          <p:cNvSpPr/>
          <p:nvPr/>
        </p:nvSpPr>
        <p:spPr>
          <a:xfrm>
            <a:off x="7484938" y="3080742"/>
            <a:ext cx="3249737" cy="233214"/>
          </a:xfrm>
          <a:prstGeom prst="roundRect">
            <a:avLst/>
          </a:prstGeom>
          <a:solidFill>
            <a:srgbClr val="24437A"/>
          </a:solidFill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36"/>
              </a:lnSpc>
              <a:buNone/>
            </a:pPr>
            <a:r>
              <a:rPr lang="en-US" sz="1350" b="1" dirty="0">
                <a:solidFill>
                  <a:schemeClr val="bg1"/>
                </a:solidFill>
                <a:latin typeface="+mj-lt"/>
                <a:ea typeface="Roboto-Regular" pitchFamily="34" charset="-122"/>
                <a:cs typeface="Roboto-Regular" pitchFamily="34" charset="-120"/>
              </a:rPr>
              <a:t>La intersección entre IA y ética judicial</a:t>
            </a:r>
            <a:endParaRPr lang="en-US" sz="135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46253A3-D937-10D5-6DEA-560B9629A352}"/>
              </a:ext>
            </a:extLst>
          </p:cNvPr>
          <p:cNvSpPr/>
          <p:nvPr/>
        </p:nvSpPr>
        <p:spPr>
          <a:xfrm>
            <a:off x="0" y="-1"/>
            <a:ext cx="12192000" cy="766167"/>
          </a:xfrm>
          <a:prstGeom prst="rect">
            <a:avLst/>
          </a:prstGeom>
          <a:solidFill>
            <a:srgbClr val="2443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3960"/>
              </a:lnSpc>
            </a:pPr>
            <a:r>
              <a:rPr lang="en-US" sz="2800" b="1" dirty="0">
                <a:solidFill>
                  <a:schemeClr val="bg1"/>
                </a:solidFill>
                <a:latin typeface="+mj-lt"/>
                <a:ea typeface="Red Hat Display Variable" pitchFamily="34" charset="-122"/>
                <a:cs typeface="Red Hat Display Variable" pitchFamily="34" charset="-120"/>
              </a:rPr>
              <a:t>EL INFORME PROPUBLICA Y EL SESGO ALGORÍTMICO</a:t>
            </a:r>
            <a:endParaRPr lang="en-US" sz="2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E388638-AC93-6791-9851-5B19D159C218}"/>
              </a:ext>
            </a:extLst>
          </p:cNvPr>
          <p:cNvSpPr/>
          <p:nvPr/>
        </p:nvSpPr>
        <p:spPr>
          <a:xfrm>
            <a:off x="9322993" y="3732312"/>
            <a:ext cx="2179067" cy="1728639"/>
          </a:xfrm>
          <a:prstGeom prst="roundRect">
            <a:avLst/>
          </a:prstGeom>
          <a:solidFill>
            <a:srgbClr val="2443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2346"/>
              </a:lnSpc>
            </a:pPr>
            <a:r>
              <a:rPr lang="en-US" b="1" dirty="0" err="1">
                <a:solidFill>
                  <a:schemeClr val="bg1"/>
                </a:solidFill>
                <a:ea typeface="Roboto-Regular" pitchFamily="34" charset="-122"/>
                <a:cs typeface="Roboto-Regular" pitchFamily="34" charset="-120"/>
              </a:rPr>
              <a:t>Caucásicos</a:t>
            </a:r>
            <a:endParaRPr lang="en-US" b="1" dirty="0">
              <a:solidFill>
                <a:schemeClr val="bg1"/>
              </a:solidFill>
              <a:ea typeface="Roboto-Regular" pitchFamily="34" charset="-122"/>
              <a:cs typeface="Roboto-Regular" pitchFamily="34" charset="-120"/>
            </a:endParaRPr>
          </a:p>
          <a:p>
            <a:pPr algn="ctr">
              <a:lnSpc>
                <a:spcPts val="2346"/>
              </a:lnSpc>
            </a:pPr>
            <a:r>
              <a:rPr lang="en-US" dirty="0">
                <a:solidFill>
                  <a:schemeClr val="bg1"/>
                </a:solidFill>
                <a:ea typeface="Roboto-Regular" pitchFamily="34" charset="-122"/>
                <a:cs typeface="Roboto-Regular" pitchFamily="34" charset="-120"/>
              </a:rPr>
              <a:t>23.5%</a:t>
            </a:r>
            <a:r>
              <a:rPr lang="es-ES" dirty="0">
                <a:solidFill>
                  <a:schemeClr val="bg1"/>
                </a:solidFill>
                <a:ea typeface="Roboto-Regular" pitchFamily="34" charset="-122"/>
                <a:cs typeface="Roboto-Regular" pitchFamily="34" charset="-120"/>
              </a:rPr>
              <a:t>: </a:t>
            </a:r>
            <a:r>
              <a:rPr lang="en-US" dirty="0" err="1">
                <a:solidFill>
                  <a:schemeClr val="bg1"/>
                </a:solidFill>
                <a:ea typeface="Roboto-Regular" pitchFamily="34" charset="-122"/>
                <a:cs typeface="Roboto-Regular" pitchFamily="34" charset="-120"/>
              </a:rPr>
              <a:t>casi</a:t>
            </a:r>
            <a:r>
              <a:rPr lang="en-US" dirty="0">
                <a:solidFill>
                  <a:schemeClr val="bg1"/>
                </a:solidFill>
                <a:ea typeface="Roboto-Regular" pitchFamily="34" charset="-122"/>
                <a:cs typeface="Roboto-Regular" pitchFamily="34" charset="-120"/>
              </a:rPr>
              <a:t> la </a:t>
            </a:r>
            <a:r>
              <a:rPr lang="en-US" dirty="0" err="1">
                <a:solidFill>
                  <a:schemeClr val="bg1"/>
                </a:solidFill>
                <a:ea typeface="Roboto-Regular" pitchFamily="34" charset="-122"/>
                <a:cs typeface="Roboto-Regular" pitchFamily="34" charset="-120"/>
              </a:rPr>
              <a:t>mitad</a:t>
            </a:r>
            <a:r>
              <a:rPr lang="en-US" dirty="0">
                <a:solidFill>
                  <a:schemeClr val="bg1"/>
                </a:solidFill>
                <a:ea typeface="Roboto-Regular" pitchFamily="34" charset="-122"/>
                <a:cs typeface="Roboto-Regular" pitchFamily="34" charset="-120"/>
              </a:rPr>
              <a:t> de la </a:t>
            </a:r>
            <a:r>
              <a:rPr lang="en-US" dirty="0" err="1">
                <a:solidFill>
                  <a:schemeClr val="bg1"/>
                </a:solidFill>
                <a:ea typeface="Roboto-Regular" pitchFamily="34" charset="-122"/>
                <a:cs typeface="Roboto-Regular" pitchFamily="34" charset="-120"/>
              </a:rPr>
              <a:t>tasa</a:t>
            </a:r>
            <a:r>
              <a:rPr lang="en-US" dirty="0">
                <a:solidFill>
                  <a:schemeClr val="bg1"/>
                </a:solidFill>
                <a:ea typeface="Roboto-Regular" pitchFamily="34" charset="-122"/>
                <a:cs typeface="Roboto-Regular" pitchFamily="34" charset="-120"/>
              </a:rPr>
              <a:t> de </a:t>
            </a:r>
            <a:r>
              <a:rPr lang="en-US" dirty="0" err="1">
                <a:solidFill>
                  <a:schemeClr val="bg1"/>
                </a:solidFill>
                <a:ea typeface="Roboto-Regular" pitchFamily="34" charset="-122"/>
                <a:cs typeface="Roboto-Regular" pitchFamily="34" charset="-120"/>
              </a:rPr>
              <a:t>los</a:t>
            </a:r>
            <a:r>
              <a:rPr lang="en-US" dirty="0">
                <a:solidFill>
                  <a:schemeClr val="bg1"/>
                </a:solidFill>
                <a:ea typeface="Roboto-Regular" pitchFamily="34" charset="-122"/>
                <a:cs typeface="Roboto-Regular" pitchFamily="34" charset="-120"/>
              </a:rPr>
              <a:t> </a:t>
            </a:r>
            <a:r>
              <a:rPr lang="en-US" b="1" dirty="0" err="1">
                <a:solidFill>
                  <a:schemeClr val="bg1"/>
                </a:solidFill>
                <a:ea typeface="Roboto-Regular" pitchFamily="34" charset="-122"/>
                <a:cs typeface="Roboto-Regular" pitchFamily="34" charset="-120"/>
              </a:rPr>
              <a:t>afroamericanos</a:t>
            </a:r>
            <a:endParaRPr lang="en-US" b="1" dirty="0">
              <a:solidFill>
                <a:schemeClr val="bg1"/>
              </a:solidFill>
              <a:ea typeface="Roboto-Regular" pitchFamily="34" charset="-122"/>
              <a:cs typeface="Roboto-Regular" pitchFamily="34" charset="-12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9B62E86-C948-ADAE-2FA3-A173D0118432}"/>
              </a:ext>
            </a:extLst>
          </p:cNvPr>
          <p:cNvSpPr/>
          <p:nvPr/>
        </p:nvSpPr>
        <p:spPr>
          <a:xfrm>
            <a:off x="7025222" y="3732833"/>
            <a:ext cx="2179067" cy="1728639"/>
          </a:xfrm>
          <a:prstGeom prst="roundRect">
            <a:avLst/>
          </a:prstGeom>
          <a:solidFill>
            <a:srgbClr val="2443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2346"/>
              </a:lnSpc>
            </a:pPr>
            <a:r>
              <a:rPr lang="en-US" b="1" dirty="0" err="1">
                <a:solidFill>
                  <a:schemeClr val="bg1"/>
                </a:solidFill>
                <a:ea typeface="Roboto-Regular" pitchFamily="34" charset="-122"/>
                <a:cs typeface="Roboto-Regular" pitchFamily="34" charset="-120"/>
              </a:rPr>
              <a:t>Afroamericanos</a:t>
            </a:r>
            <a:endParaRPr lang="en-US" b="1" dirty="0">
              <a:solidFill>
                <a:schemeClr val="bg1"/>
              </a:solidFill>
              <a:ea typeface="Roboto-Regular" pitchFamily="34" charset="-122"/>
              <a:cs typeface="Roboto-Regular" pitchFamily="34" charset="-120"/>
            </a:endParaRPr>
          </a:p>
          <a:p>
            <a:pPr algn="ctr">
              <a:lnSpc>
                <a:spcPts val="2346"/>
              </a:lnSpc>
            </a:pPr>
            <a:r>
              <a:rPr lang="en-US" dirty="0">
                <a:solidFill>
                  <a:schemeClr val="bg1"/>
                </a:solidFill>
                <a:ea typeface="Roboto-Regular" pitchFamily="34" charset="-122"/>
                <a:cs typeface="Roboto-Regular" pitchFamily="34" charset="-120"/>
              </a:rPr>
              <a:t>44.9% </a:t>
            </a:r>
            <a:r>
              <a:rPr lang="en-US" dirty="0" err="1">
                <a:solidFill>
                  <a:schemeClr val="bg1"/>
                </a:solidFill>
                <a:ea typeface="Roboto-Regular" pitchFamily="34" charset="-122"/>
                <a:cs typeface="Roboto-Regular" pitchFamily="34" charset="-120"/>
              </a:rPr>
              <a:t>clasificados</a:t>
            </a:r>
            <a:r>
              <a:rPr lang="en-US" dirty="0">
                <a:solidFill>
                  <a:schemeClr val="bg1"/>
                </a:solidFill>
                <a:ea typeface="Roboto-Regular" pitchFamily="34" charset="-122"/>
                <a:cs typeface="Roboto-Regular" pitchFamily="34" charset="-120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Roboto-Regular" pitchFamily="34" charset="-122"/>
                <a:cs typeface="Roboto-Regular" pitchFamily="34" charset="-120"/>
              </a:rPr>
              <a:t>erróneamente</a:t>
            </a:r>
            <a:r>
              <a:rPr lang="en-US" dirty="0">
                <a:solidFill>
                  <a:schemeClr val="bg1"/>
                </a:solidFill>
                <a:ea typeface="Roboto-Regular" pitchFamily="34" charset="-122"/>
                <a:cs typeface="Roboto-Regular" pitchFamily="34" charset="-120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Roboto-Regular" pitchFamily="34" charset="-122"/>
                <a:cs typeface="Roboto-Regular" pitchFamily="34" charset="-120"/>
              </a:rPr>
              <a:t>como</a:t>
            </a:r>
            <a:r>
              <a:rPr lang="en-US" dirty="0">
                <a:solidFill>
                  <a:schemeClr val="bg1"/>
                </a:solidFill>
                <a:ea typeface="Roboto-Regular" pitchFamily="34" charset="-122"/>
                <a:cs typeface="Roboto-Regular" pitchFamily="34" charset="-120"/>
              </a:rPr>
              <a:t> 'alto </a:t>
            </a:r>
            <a:r>
              <a:rPr lang="en-US" dirty="0" err="1">
                <a:solidFill>
                  <a:schemeClr val="bg1"/>
                </a:solidFill>
                <a:ea typeface="Roboto-Regular" pitchFamily="34" charset="-122"/>
                <a:cs typeface="Roboto-Regular" pitchFamily="34" charset="-120"/>
              </a:rPr>
              <a:t>riesgo</a:t>
            </a:r>
            <a:r>
              <a:rPr lang="en-US" dirty="0">
                <a:solidFill>
                  <a:schemeClr val="bg1"/>
                </a:solidFill>
                <a:ea typeface="Roboto-Regular" pitchFamily="34" charset="-122"/>
                <a:cs typeface="Roboto-Regular" pitchFamily="34" charset="-120"/>
              </a:rPr>
              <a:t>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571500" y="381000"/>
            <a:ext cx="11384280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11" name="Text 1"/>
          <p:cNvSpPr/>
          <p:nvPr/>
        </p:nvSpPr>
        <p:spPr>
          <a:xfrm>
            <a:off x="809625" y="1800642"/>
            <a:ext cx="4939444" cy="30238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437A"/>
                </a:solidFill>
                <a:ea typeface="Segoe UI" pitchFamily="34" charset="-122"/>
                <a:cs typeface="Segoe UI" pitchFamily="34" charset="-120"/>
              </a:rPr>
              <a:t>'</a:t>
            </a:r>
            <a:r>
              <a:rPr lang="en-US" sz="2400" b="1" dirty="0" err="1">
                <a:solidFill>
                  <a:srgbClr val="24437A"/>
                </a:solidFill>
                <a:ea typeface="Segoe UI" pitchFamily="34" charset="-122"/>
                <a:cs typeface="Segoe UI" pitchFamily="34" charset="-120"/>
              </a:rPr>
              <a:t>compass_score_raw</a:t>
            </a:r>
            <a:r>
              <a:rPr lang="en-US" sz="2400" b="1" dirty="0">
                <a:solidFill>
                  <a:srgbClr val="24437A"/>
                </a:solidFill>
                <a:ea typeface="Segoe UI" pitchFamily="34" charset="-122"/>
                <a:cs typeface="Segoe UI" pitchFamily="34" charset="-120"/>
              </a:rPr>
              <a:t>'</a:t>
            </a:r>
            <a:endParaRPr lang="en-US" sz="2400" dirty="0">
              <a:solidFill>
                <a:srgbClr val="24437A"/>
              </a:solidFill>
            </a:endParaRPr>
          </a:p>
        </p:txBody>
      </p:sp>
      <p:sp>
        <p:nvSpPr>
          <p:cNvPr id="12" name="Text 2"/>
          <p:cNvSpPr/>
          <p:nvPr/>
        </p:nvSpPr>
        <p:spPr>
          <a:xfrm>
            <a:off x="822063" y="2371633"/>
            <a:ext cx="3449308" cy="2720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600" b="1" dirty="0">
                <a:ea typeface="Segoe UI" pitchFamily="34" charset="-122"/>
                <a:cs typeface="Segoe UI" pitchFamily="34" charset="-120"/>
              </a:rPr>
              <a:t>Volumen:</a:t>
            </a:r>
            <a:r>
              <a:rPr lang="en-US" sz="1600" dirty="0">
                <a:ea typeface="Segoe UI" pitchFamily="34" charset="-122"/>
                <a:cs typeface="Segoe UI" pitchFamily="34" charset="-120"/>
              </a:rPr>
              <a:t> 60.843 filas | 28 columnas</a:t>
            </a:r>
            <a:endParaRPr lang="en-US" sz="1600" dirty="0"/>
          </a:p>
        </p:txBody>
      </p:sp>
      <p:sp>
        <p:nvSpPr>
          <p:cNvPr id="13" name="Text 3"/>
          <p:cNvSpPr/>
          <p:nvPr/>
        </p:nvSpPr>
        <p:spPr>
          <a:xfrm>
            <a:off x="822063" y="2725844"/>
            <a:ext cx="3368937" cy="2720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600" b="1" dirty="0">
                <a:ea typeface="Segoe UI" pitchFamily="34" charset="-122"/>
                <a:cs typeface="Segoe UI" pitchFamily="34" charset="-120"/>
              </a:rPr>
              <a:t>Individuos:</a:t>
            </a:r>
            <a:r>
              <a:rPr lang="en-US" sz="1600" dirty="0">
                <a:ea typeface="Segoe UI" pitchFamily="34" charset="-122"/>
                <a:cs typeface="Segoe UI" pitchFamily="34" charset="-120"/>
              </a:rPr>
              <a:t> 18.610 perfiles únicos</a:t>
            </a:r>
            <a:endParaRPr lang="en-US" sz="1600" dirty="0"/>
          </a:p>
        </p:txBody>
      </p:sp>
      <p:sp>
        <p:nvSpPr>
          <p:cNvPr id="14" name="Text 4"/>
          <p:cNvSpPr/>
          <p:nvPr/>
        </p:nvSpPr>
        <p:spPr>
          <a:xfrm>
            <a:off x="809625" y="3015851"/>
            <a:ext cx="4747621" cy="81603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600" b="1" dirty="0">
                <a:ea typeface="Segoe UI" pitchFamily="34" charset="-122"/>
                <a:cs typeface="Segoe UI" pitchFamily="34" charset="-120"/>
              </a:rPr>
              <a:t>Variables clave:</a:t>
            </a:r>
            <a:r>
              <a:rPr lang="en-US" sz="1600" dirty="0">
                <a:ea typeface="Segoe UI" pitchFamily="34" charset="-122"/>
                <a:cs typeface="Segoe UI" pitchFamily="34" charset="-120"/>
              </a:rPr>
              <a:t> Demográficas (sexo, etnia, edad), contexto judicial (estatus, custodia) y puntuaciones COMPAS (RawScore, DecileScore).</a:t>
            </a:r>
            <a:endParaRPr lang="en-US" sz="1600" dirty="0"/>
          </a:p>
        </p:txBody>
      </p:sp>
      <p:sp>
        <p:nvSpPr>
          <p:cNvPr id="15" name="Text 5"/>
          <p:cNvSpPr/>
          <p:nvPr/>
        </p:nvSpPr>
        <p:spPr>
          <a:xfrm>
            <a:off x="809625" y="3881986"/>
            <a:ext cx="4747621" cy="54402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600" b="1" dirty="0">
                <a:ea typeface="Segoe UI" pitchFamily="34" charset="-122"/>
                <a:cs typeface="Segoe UI" pitchFamily="34" charset="-120"/>
              </a:rPr>
              <a:t>Propósito:</a:t>
            </a:r>
            <a:r>
              <a:rPr lang="en-US" sz="1600" dirty="0">
                <a:ea typeface="Segoe UI" pitchFamily="34" charset="-122"/>
                <a:cs typeface="Segoe UI" pitchFamily="34" charset="-120"/>
              </a:rPr>
              <a:t> Análisis inicial de la muestra y detección de sesgos demográficos en el momento del arresto.</a:t>
            </a:r>
            <a:endParaRPr lang="en-US" sz="1600" dirty="0"/>
          </a:p>
        </p:txBody>
      </p:sp>
      <p:sp>
        <p:nvSpPr>
          <p:cNvPr id="16" name="Text 6"/>
          <p:cNvSpPr/>
          <p:nvPr/>
        </p:nvSpPr>
        <p:spPr>
          <a:xfrm>
            <a:off x="6119820" y="1789284"/>
            <a:ext cx="4939444" cy="30238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437A"/>
                </a:solidFill>
                <a:ea typeface="Segoe UI" pitchFamily="34" charset="-122"/>
                <a:cs typeface="Segoe UI" pitchFamily="34" charset="-120"/>
              </a:rPr>
              <a:t>'</a:t>
            </a:r>
            <a:r>
              <a:rPr lang="en-US" sz="2400" b="1" dirty="0" err="1">
                <a:solidFill>
                  <a:srgbClr val="24437A"/>
                </a:solidFill>
                <a:ea typeface="Segoe UI" pitchFamily="34" charset="-122"/>
                <a:cs typeface="Segoe UI" pitchFamily="34" charset="-120"/>
              </a:rPr>
              <a:t>compas</a:t>
            </a:r>
            <a:r>
              <a:rPr lang="en-US" sz="2400" b="1" dirty="0">
                <a:solidFill>
                  <a:srgbClr val="24437A"/>
                </a:solidFill>
                <a:ea typeface="Segoe UI" pitchFamily="34" charset="-122"/>
                <a:cs typeface="Segoe UI" pitchFamily="34" charset="-120"/>
              </a:rPr>
              <a:t>-scores-two-years'</a:t>
            </a:r>
            <a:endParaRPr lang="en-US" sz="2400" b="1" dirty="0">
              <a:solidFill>
                <a:srgbClr val="24437A"/>
              </a:solidFill>
            </a:endParaRPr>
          </a:p>
        </p:txBody>
      </p:sp>
      <p:sp>
        <p:nvSpPr>
          <p:cNvPr id="17" name="Text 7"/>
          <p:cNvSpPr/>
          <p:nvPr/>
        </p:nvSpPr>
        <p:spPr>
          <a:xfrm>
            <a:off x="6252431" y="2361906"/>
            <a:ext cx="3158686" cy="30238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600" b="1" dirty="0">
                <a:ea typeface="Segoe UI" pitchFamily="34" charset="-122"/>
                <a:cs typeface="Segoe UI" pitchFamily="34" charset="-120"/>
              </a:rPr>
              <a:t>Volumen:</a:t>
            </a:r>
            <a:r>
              <a:rPr lang="en-US" sz="1600" dirty="0">
                <a:ea typeface="Segoe UI" pitchFamily="34" charset="-122"/>
                <a:cs typeface="Segoe UI" pitchFamily="34" charset="-120"/>
              </a:rPr>
              <a:t> 7.214 filas | 53 columnas</a:t>
            </a:r>
            <a:endParaRPr lang="en-US" sz="1600" dirty="0"/>
          </a:p>
        </p:txBody>
      </p:sp>
      <p:sp>
        <p:nvSpPr>
          <p:cNvPr id="18" name="Text 8"/>
          <p:cNvSpPr/>
          <p:nvPr/>
        </p:nvSpPr>
        <p:spPr>
          <a:xfrm>
            <a:off x="6252431" y="2731877"/>
            <a:ext cx="5129943" cy="2720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600" b="1" dirty="0">
                <a:ea typeface="Segoe UI" pitchFamily="34" charset="-122"/>
                <a:cs typeface="Segoe UI" pitchFamily="34" charset="-120"/>
              </a:rPr>
              <a:t>Foco:</a:t>
            </a:r>
            <a:r>
              <a:rPr lang="en-US" sz="1600" dirty="0">
                <a:ea typeface="Segoe UI" pitchFamily="34" charset="-122"/>
                <a:cs typeface="Segoe UI" pitchFamily="34" charset="-120"/>
              </a:rPr>
              <a:t> Reincidencia criminal tras 2 años del estudio inicial.</a:t>
            </a:r>
            <a:endParaRPr lang="en-US" sz="1600" dirty="0"/>
          </a:p>
        </p:txBody>
      </p:sp>
      <p:sp>
        <p:nvSpPr>
          <p:cNvPr id="19" name="Text 9"/>
          <p:cNvSpPr/>
          <p:nvPr/>
        </p:nvSpPr>
        <p:spPr>
          <a:xfrm>
            <a:off x="6252431" y="3006124"/>
            <a:ext cx="4747621" cy="81603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600" b="1" dirty="0">
                <a:ea typeface="Segoe UI" pitchFamily="34" charset="-122"/>
                <a:cs typeface="Segoe UI" pitchFamily="34" charset="-120"/>
              </a:rPr>
              <a:t>Variables clave:</a:t>
            </a:r>
            <a:r>
              <a:rPr lang="en-US" sz="1600" dirty="0">
                <a:ea typeface="Segoe UI" pitchFamily="34" charset="-122"/>
                <a:cs typeface="Segoe UI" pitchFamily="34" charset="-120"/>
              </a:rPr>
              <a:t> Antecedentes (priors_count), datos del caso actual, variable target (two_year_recid) y análisis de supervivencia (start, end, event).</a:t>
            </a:r>
            <a:endParaRPr lang="en-US" sz="1600" dirty="0"/>
          </a:p>
        </p:txBody>
      </p:sp>
      <p:sp>
        <p:nvSpPr>
          <p:cNvPr id="20" name="Text 10"/>
          <p:cNvSpPr/>
          <p:nvPr/>
        </p:nvSpPr>
        <p:spPr>
          <a:xfrm>
            <a:off x="6263640" y="3808369"/>
            <a:ext cx="4747621" cy="54402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600" b="1" dirty="0">
                <a:ea typeface="Segoe UI" pitchFamily="34" charset="-122"/>
                <a:cs typeface="Segoe UI" pitchFamily="34" charset="-120"/>
              </a:rPr>
              <a:t>Propósito:</a:t>
            </a:r>
            <a:r>
              <a:rPr lang="en-US" sz="1600" dirty="0">
                <a:ea typeface="Segoe UI" pitchFamily="34" charset="-122"/>
                <a:cs typeface="Segoe UI" pitchFamily="34" charset="-120"/>
              </a:rPr>
              <a:t> Evaluación de la precisión predictiva del algoritmo a largo plazo.</a:t>
            </a:r>
            <a:endParaRPr lang="en-US" sz="1600" dirty="0"/>
          </a:p>
        </p:txBody>
      </p:sp>
      <p:sp>
        <p:nvSpPr>
          <p:cNvPr id="21" name="Text 11"/>
          <p:cNvSpPr/>
          <p:nvPr/>
        </p:nvSpPr>
        <p:spPr>
          <a:xfrm>
            <a:off x="809625" y="5126156"/>
            <a:ext cx="10382250" cy="810717"/>
          </a:xfrm>
          <a:prstGeom prst="roundRect">
            <a:avLst/>
          </a:prstGeom>
          <a:solidFill>
            <a:srgbClr val="24437A"/>
          </a:solidFill>
          <a:ln/>
        </p:spPr>
        <p:txBody>
          <a:bodyPr vert="horz" wrap="square" lIns="0" tIns="0" rIns="0" bIns="0" rtlCol="0" anchor="ctr"/>
          <a:lstStyle/>
          <a:p>
            <a:pPr marL="182880" indent="0">
              <a:buNone/>
            </a:pPr>
            <a:r>
              <a:rPr lang="en-US" sz="1600" b="1" dirty="0">
                <a:solidFill>
                  <a:schemeClr val="bg1"/>
                </a:solidFill>
                <a:ea typeface="Segoe UI" pitchFamily="34" charset="-122"/>
                <a:cs typeface="Segoe UI" pitchFamily="34" charset="-120"/>
              </a:rPr>
              <a:t>LIMITACIÓN CRÍTICA: Los datasets poseen estructuras diferentes y no existe coincidencia total de </a:t>
            </a:r>
            <a:r>
              <a:rPr lang="en-US" sz="1600" b="1" dirty="0" err="1">
                <a:solidFill>
                  <a:schemeClr val="bg1"/>
                </a:solidFill>
                <a:ea typeface="Segoe UI" pitchFamily="34" charset="-122"/>
                <a:cs typeface="Segoe UI" pitchFamily="34" charset="-120"/>
              </a:rPr>
              <a:t>individuos</a:t>
            </a:r>
            <a:r>
              <a:rPr lang="en-US" sz="1600" b="1" dirty="0">
                <a:solidFill>
                  <a:schemeClr val="bg1"/>
                </a:solidFill>
                <a:ea typeface="Segoe UI" pitchFamily="34" charset="-122"/>
                <a:cs typeface="Segoe UI" pitchFamily="34" charset="-120"/>
              </a:rPr>
              <a:t>.</a:t>
            </a:r>
          </a:p>
          <a:p>
            <a:pPr marL="182880" indent="0">
              <a:buNone/>
            </a:pPr>
            <a:r>
              <a:rPr lang="en-US" sz="1600" b="1" dirty="0">
                <a:solidFill>
                  <a:schemeClr val="bg1"/>
                </a:solidFill>
                <a:ea typeface="Segoe UI" pitchFamily="34" charset="-122"/>
                <a:cs typeface="Segoe UI" pitchFamily="34" charset="-120"/>
              </a:rPr>
              <a:t>Se analizan por separado para obtener conclusiones independientes y estadísticamente válidas.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4" name="Footer Placeholder 3">
            <a:extLst>
              <a:ext uri="{FF2B5EF4-FFF2-40B4-BE49-F238E27FC236}">
                <a16:creationId xmlns:a16="http://schemas.microsoft.com/office/drawing/2014/main" id="{409FBD98-3B28-0F41-7AC8-39C49467CA32}"/>
              </a:ext>
            </a:extLst>
          </p:cNvPr>
          <p:cNvSpPr txBox="1">
            <a:spLocks/>
          </p:cNvSpPr>
          <p:nvPr/>
        </p:nvSpPr>
        <p:spPr>
          <a:xfrm>
            <a:off x="3262312" y="6414591"/>
            <a:ext cx="4844740" cy="365125"/>
          </a:xfrm>
          <a:prstGeom prst="rect">
            <a:avLst/>
          </a:prstGeom>
        </p:spPr>
        <p:txBody>
          <a:bodyPr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200" dirty="0">
                <a:solidFill>
                  <a:schemeClr val="bg2">
                    <a:lumMod val="75000"/>
                  </a:schemeClr>
                </a:solidFill>
              </a:rPr>
              <a:t>NUCLIO DIGITAL SCHOOL - MÁSTER DATA ANALYTICS - TFM - GRUPO 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C07DC22-598B-F441-6CF4-B3F48A8318BD}"/>
              </a:ext>
            </a:extLst>
          </p:cNvPr>
          <p:cNvSpPr/>
          <p:nvPr/>
        </p:nvSpPr>
        <p:spPr>
          <a:xfrm>
            <a:off x="0" y="-1"/>
            <a:ext cx="12192000" cy="766167"/>
          </a:xfrm>
          <a:prstGeom prst="rect">
            <a:avLst/>
          </a:prstGeom>
          <a:solidFill>
            <a:srgbClr val="2443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2880"/>
            <a:r>
              <a:rPr lang="en-US" sz="2800" b="1" dirty="0">
                <a:solidFill>
                  <a:schemeClr val="bg1"/>
                </a:solidFill>
                <a:ea typeface="Segoe UI" pitchFamily="34" charset="-122"/>
                <a:cs typeface="Segoe UI" pitchFamily="34" charset="-120"/>
              </a:rPr>
              <a:t>DESCRIPCIÓN DE LOS DATOS</a:t>
            </a:r>
            <a:endParaRPr lang="es-ES" sz="2800" dirty="0">
              <a:solidFill>
                <a:schemeClr val="bg1"/>
              </a:solidFill>
            </a:endParaRPr>
          </a:p>
        </p:txBody>
      </p:sp>
      <p:sp>
        <p:nvSpPr>
          <p:cNvPr id="26" name="Rectangle: Diagonal Corners Rounded 25">
            <a:extLst>
              <a:ext uri="{FF2B5EF4-FFF2-40B4-BE49-F238E27FC236}">
                <a16:creationId xmlns:a16="http://schemas.microsoft.com/office/drawing/2014/main" id="{BA25820D-89D5-7D5E-A301-4B82C25D845A}"/>
              </a:ext>
            </a:extLst>
          </p:cNvPr>
          <p:cNvSpPr/>
          <p:nvPr/>
        </p:nvSpPr>
        <p:spPr>
          <a:xfrm>
            <a:off x="438874" y="1495425"/>
            <a:ext cx="5419001" cy="3153013"/>
          </a:xfrm>
          <a:prstGeom prst="round2DiagRect">
            <a:avLst/>
          </a:prstGeom>
          <a:noFill/>
          <a:ln w="28575">
            <a:solidFill>
              <a:srgbClr val="24437A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Rectangle: Diagonal Corners Rounded 26">
            <a:extLst>
              <a:ext uri="{FF2B5EF4-FFF2-40B4-BE49-F238E27FC236}">
                <a16:creationId xmlns:a16="http://schemas.microsoft.com/office/drawing/2014/main" id="{41D5E9BA-7303-5E5B-BD69-42AC0A480DA5}"/>
              </a:ext>
            </a:extLst>
          </p:cNvPr>
          <p:cNvSpPr/>
          <p:nvPr/>
        </p:nvSpPr>
        <p:spPr>
          <a:xfrm flipH="1">
            <a:off x="5943599" y="1495425"/>
            <a:ext cx="5566527" cy="3153013"/>
          </a:xfrm>
          <a:prstGeom prst="round2DiagRect">
            <a:avLst/>
          </a:prstGeom>
          <a:noFill/>
          <a:ln w="28575">
            <a:solidFill>
              <a:srgbClr val="24437A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28" name="Picture 8">
            <a:extLst>
              <a:ext uri="{FF2B5EF4-FFF2-40B4-BE49-F238E27FC236}">
                <a16:creationId xmlns:a16="http://schemas.microsoft.com/office/drawing/2014/main" id="{997C83AA-B0C3-7128-6CAC-A32D9EA7F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6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8128" y="78457"/>
            <a:ext cx="591924" cy="590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Escuela de Formación Digital | Nuclio Digital School">
            <a:extLst>
              <a:ext uri="{FF2B5EF4-FFF2-40B4-BE49-F238E27FC236}">
                <a16:creationId xmlns:a16="http://schemas.microsoft.com/office/drawing/2014/main" id="{B1392D00-9DC2-F60A-E0DB-7149CB9469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6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261533" y="77226"/>
            <a:ext cx="591924" cy="591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3351" y="2391259"/>
            <a:ext cx="927199" cy="927199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3550" y="2438400"/>
            <a:ext cx="774650" cy="774650"/>
          </a:xfrm>
          <a:prstGeom prst="rect">
            <a:avLst/>
          </a:prstGeom>
        </p:spPr>
      </p:pic>
      <p:sp>
        <p:nvSpPr>
          <p:cNvPr id="13" name="Text 1"/>
          <p:cNvSpPr/>
          <p:nvPr/>
        </p:nvSpPr>
        <p:spPr>
          <a:xfrm>
            <a:off x="762000" y="1209675"/>
            <a:ext cx="1066800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endParaRPr lang="en-US" sz="1200" dirty="0">
              <a:latin typeface="+mj-lt"/>
            </a:endParaRPr>
          </a:p>
        </p:txBody>
      </p:sp>
      <p:sp>
        <p:nvSpPr>
          <p:cNvPr id="14" name="Text 2"/>
          <p:cNvSpPr/>
          <p:nvPr/>
        </p:nvSpPr>
        <p:spPr>
          <a:xfrm>
            <a:off x="762000" y="1428750"/>
            <a:ext cx="10668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endParaRPr lang="en-US" sz="1200" dirty="0">
              <a:latin typeface="+mj-lt"/>
            </a:endParaRPr>
          </a:p>
        </p:txBody>
      </p:sp>
      <p:sp>
        <p:nvSpPr>
          <p:cNvPr id="15" name="Text 3"/>
          <p:cNvSpPr/>
          <p:nvPr/>
        </p:nvSpPr>
        <p:spPr>
          <a:xfrm>
            <a:off x="-85115" y="3429000"/>
            <a:ext cx="486918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C3E50"/>
                </a:solidFill>
                <a:latin typeface="+mj-lt"/>
                <a:ea typeface="Segoe UI" pitchFamily="34" charset="-122"/>
                <a:cs typeface="Segoe UI" pitchFamily="34" charset="-120"/>
              </a:rPr>
              <a:t>1. Conversión de </a:t>
            </a:r>
            <a:r>
              <a:rPr lang="en-US" sz="2000" b="1" dirty="0" err="1">
                <a:solidFill>
                  <a:srgbClr val="2C3E50"/>
                </a:solidFill>
                <a:latin typeface="+mj-lt"/>
                <a:ea typeface="Segoe UI" pitchFamily="34" charset="-122"/>
                <a:cs typeface="Segoe UI" pitchFamily="34" charset="-120"/>
              </a:rPr>
              <a:t>fechas</a:t>
            </a:r>
            <a:endParaRPr lang="en-US" sz="2000" dirty="0">
              <a:latin typeface="+mj-lt"/>
            </a:endParaRPr>
          </a:p>
        </p:txBody>
      </p:sp>
      <p:sp>
        <p:nvSpPr>
          <p:cNvPr id="16" name="Text 4"/>
          <p:cNvSpPr/>
          <p:nvPr/>
        </p:nvSpPr>
        <p:spPr>
          <a:xfrm>
            <a:off x="714374" y="3581400"/>
            <a:ext cx="3603575" cy="1304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470"/>
              </a:lnSpc>
              <a:buNone/>
            </a:pPr>
            <a:endParaRPr lang="en-US" sz="2000" dirty="0">
              <a:latin typeface="+mj-lt"/>
            </a:endParaRPr>
          </a:p>
        </p:txBody>
      </p:sp>
      <p:sp>
        <p:nvSpPr>
          <p:cNvPr id="17" name="Text 5"/>
          <p:cNvSpPr/>
          <p:nvPr/>
        </p:nvSpPr>
        <p:spPr>
          <a:xfrm>
            <a:off x="3352800" y="3476624"/>
            <a:ext cx="54864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C3E50"/>
                </a:solidFill>
                <a:latin typeface="+mj-lt"/>
                <a:ea typeface="Segoe UI" pitchFamily="34" charset="-122"/>
                <a:cs typeface="Segoe UI" pitchFamily="34" charset="-120"/>
              </a:rPr>
              <a:t>2. Normalización de </a:t>
            </a:r>
            <a:r>
              <a:rPr lang="en-US" sz="2000" b="1" dirty="0" err="1">
                <a:solidFill>
                  <a:srgbClr val="2C3E50"/>
                </a:solidFill>
                <a:latin typeface="+mj-lt"/>
                <a:ea typeface="Segoe UI" pitchFamily="34" charset="-122"/>
                <a:cs typeface="Segoe UI" pitchFamily="34" charset="-120"/>
              </a:rPr>
              <a:t>etnias</a:t>
            </a:r>
            <a:endParaRPr lang="en-US" sz="2000" dirty="0">
              <a:latin typeface="+mj-lt"/>
            </a:endParaRPr>
          </a:p>
        </p:txBody>
      </p:sp>
      <p:sp>
        <p:nvSpPr>
          <p:cNvPr id="18" name="Text 6"/>
          <p:cNvSpPr/>
          <p:nvPr/>
        </p:nvSpPr>
        <p:spPr>
          <a:xfrm>
            <a:off x="4258895" y="3809999"/>
            <a:ext cx="3634739" cy="14966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/>
            <a:r>
              <a:rPr lang="en-US" sz="2000" dirty="0">
                <a:latin typeface="+mj-lt"/>
                <a:cs typeface="Segoe UI" pitchFamily="34" charset="-120"/>
              </a:rPr>
              <a:t>Corrección de errores de imputación:
</a:t>
            </a:r>
            <a:r>
              <a:rPr lang="en-US" sz="2000" b="1" dirty="0">
                <a:solidFill>
                  <a:srgbClr val="24437A"/>
                </a:solidFill>
                <a:latin typeface="+mj-lt"/>
                <a:cs typeface="Segoe UI" pitchFamily="34" charset="-120"/>
              </a:rPr>
              <a:t>African-Am</a:t>
            </a:r>
            <a:r>
              <a:rPr lang="en-US" sz="2000" dirty="0">
                <a:latin typeface="+mj-lt"/>
                <a:cs typeface="Segoe UI" pitchFamily="34" charset="-120"/>
              </a:rPr>
              <a:t> → African-American
</a:t>
            </a:r>
            <a:r>
              <a:rPr lang="en-US" sz="2000" b="1" dirty="0">
                <a:solidFill>
                  <a:srgbClr val="24437A"/>
                </a:solidFill>
                <a:latin typeface="+mj-lt"/>
                <a:cs typeface="Segoe UI" pitchFamily="34" charset="-120"/>
              </a:rPr>
              <a:t>Arabic</a:t>
            </a:r>
            <a:r>
              <a:rPr lang="en-US" sz="2000" dirty="0">
                <a:latin typeface="+mj-lt"/>
                <a:cs typeface="Segoe UI" pitchFamily="34" charset="-120"/>
              </a:rPr>
              <a:t> → Other</a:t>
            </a:r>
          </a:p>
          <a:p>
            <a:pPr algn="ctr"/>
            <a:r>
              <a:rPr lang="en-US" sz="2000" b="1" dirty="0">
                <a:solidFill>
                  <a:srgbClr val="24437A"/>
                </a:solidFill>
                <a:latin typeface="+mj-lt"/>
                <a:cs typeface="Segoe UI" pitchFamily="34" charset="-120"/>
              </a:rPr>
              <a:t>Oriental</a:t>
            </a:r>
            <a:r>
              <a:rPr lang="en-US" sz="2000" dirty="0">
                <a:latin typeface="+mj-lt"/>
                <a:cs typeface="Segoe UI" pitchFamily="34" charset="-120"/>
              </a:rPr>
              <a:t> → Asian</a:t>
            </a:r>
          </a:p>
        </p:txBody>
      </p:sp>
      <p:sp>
        <p:nvSpPr>
          <p:cNvPr id="19" name="Text 7"/>
          <p:cNvSpPr/>
          <p:nvPr/>
        </p:nvSpPr>
        <p:spPr>
          <a:xfrm>
            <a:off x="8011659" y="3476624"/>
            <a:ext cx="363474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C3E50"/>
                </a:solidFill>
                <a:latin typeface="+mj-lt"/>
                <a:ea typeface="Segoe UI" pitchFamily="34" charset="-122"/>
                <a:cs typeface="Segoe UI" pitchFamily="34" charset="-120"/>
              </a:rPr>
              <a:t>3. Filtro de </a:t>
            </a:r>
            <a:r>
              <a:rPr lang="en-US" sz="2400" b="1" dirty="0" err="1">
                <a:solidFill>
                  <a:srgbClr val="2C3E50"/>
                </a:solidFill>
                <a:latin typeface="+mj-lt"/>
                <a:ea typeface="Segoe UI" pitchFamily="34" charset="-122"/>
                <a:cs typeface="Segoe UI" pitchFamily="34" charset="-120"/>
              </a:rPr>
              <a:t>edad</a:t>
            </a:r>
            <a:endParaRPr lang="en-US" sz="2400" dirty="0">
              <a:latin typeface="+mj-lt"/>
            </a:endParaRPr>
          </a:p>
        </p:txBody>
      </p:sp>
      <p:sp>
        <p:nvSpPr>
          <p:cNvPr id="20" name="Text 8"/>
          <p:cNvSpPr/>
          <p:nvPr/>
        </p:nvSpPr>
        <p:spPr>
          <a:xfrm>
            <a:off x="8159651" y="4302773"/>
            <a:ext cx="3270349" cy="5598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latin typeface="+mj-lt"/>
                <a:ea typeface="Segoe UI" pitchFamily="34" charset="-122"/>
                <a:cs typeface="Segoe UI" pitchFamily="34" charset="-120"/>
              </a:rPr>
              <a:t>Eliminación de edades </a:t>
            </a:r>
            <a:r>
              <a:rPr lang="en-US" sz="2000" dirty="0" err="1">
                <a:latin typeface="+mj-lt"/>
                <a:ea typeface="Segoe UI" pitchFamily="34" charset="-122"/>
                <a:cs typeface="Segoe UI" pitchFamily="34" charset="-120"/>
              </a:rPr>
              <a:t>inverosímiles</a:t>
            </a:r>
            <a:r>
              <a:rPr lang="en-US" sz="2000" dirty="0">
                <a:latin typeface="+mj-lt"/>
                <a:ea typeface="Segoe UI" pitchFamily="34" charset="-122"/>
                <a:cs typeface="Segoe UI" pitchFamily="34" charset="-120"/>
              </a:rPr>
              <a:t>.</a:t>
            </a:r>
            <a:br>
              <a:rPr lang="en-US" sz="2000" dirty="0">
                <a:latin typeface="+mj-lt"/>
                <a:ea typeface="Segoe UI" pitchFamily="34" charset="-122"/>
                <a:cs typeface="Segoe UI" pitchFamily="34" charset="-120"/>
              </a:rPr>
            </a:br>
            <a:r>
              <a:rPr lang="en-US" sz="2000" dirty="0">
                <a:latin typeface="+mj-lt"/>
                <a:ea typeface="Segoe UI" pitchFamily="34" charset="-122"/>
                <a:cs typeface="Segoe UI" pitchFamily="34" charset="-120"/>
              </a:rPr>
              <a:t>Rango validado: </a:t>
            </a:r>
            <a:r>
              <a:rPr lang="en-US" sz="2000" b="1" dirty="0">
                <a:solidFill>
                  <a:srgbClr val="24437A"/>
                </a:solidFill>
                <a:latin typeface="+mj-lt"/>
                <a:ea typeface="Segoe UI" pitchFamily="34" charset="-122"/>
                <a:cs typeface="Segoe UI" pitchFamily="34" charset="-120"/>
              </a:rPr>
              <a:t>18 años</a:t>
            </a:r>
            <a:r>
              <a:rPr lang="en-US" sz="2000" dirty="0">
                <a:solidFill>
                  <a:srgbClr val="24437A"/>
                </a:solidFill>
                <a:latin typeface="+mj-lt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000" dirty="0">
                <a:latin typeface="+mj-lt"/>
                <a:ea typeface="Segoe UI" pitchFamily="34" charset="-122"/>
                <a:cs typeface="Segoe UI" pitchFamily="34" charset="-120"/>
              </a:rPr>
              <a:t>hasta esperanza de vida en EE.UU. </a:t>
            </a:r>
            <a:r>
              <a:rPr lang="en-US" sz="2000" dirty="0">
                <a:solidFill>
                  <a:srgbClr val="24437A"/>
                </a:solidFill>
                <a:latin typeface="+mj-lt"/>
                <a:ea typeface="Segoe UI" pitchFamily="34" charset="-122"/>
                <a:cs typeface="Segoe UI" pitchFamily="34" charset="-120"/>
              </a:rPr>
              <a:t>(</a:t>
            </a:r>
            <a:r>
              <a:rPr lang="en-US" sz="2000" b="1" dirty="0">
                <a:solidFill>
                  <a:srgbClr val="24437A"/>
                </a:solidFill>
                <a:latin typeface="+mj-lt"/>
                <a:ea typeface="Segoe UI" pitchFamily="34" charset="-122"/>
                <a:cs typeface="Segoe UI" pitchFamily="34" charset="-120"/>
              </a:rPr>
              <a:t>~77 años</a:t>
            </a:r>
            <a:r>
              <a:rPr lang="en-US" sz="2000" dirty="0">
                <a:latin typeface="+mj-lt"/>
                <a:ea typeface="Segoe UI" pitchFamily="34" charset="-122"/>
                <a:cs typeface="Segoe UI" pitchFamily="34" charset="-120"/>
              </a:rPr>
              <a:t>).</a:t>
            </a:r>
            <a:endParaRPr lang="en-US" sz="2000" dirty="0">
              <a:latin typeface="+mj-lt"/>
            </a:endParaRPr>
          </a:p>
        </p:txBody>
      </p:sp>
      <p:sp>
        <p:nvSpPr>
          <p:cNvPr id="21" name="Footer Placeholder 3">
            <a:extLst>
              <a:ext uri="{FF2B5EF4-FFF2-40B4-BE49-F238E27FC236}">
                <a16:creationId xmlns:a16="http://schemas.microsoft.com/office/drawing/2014/main" id="{12BCC5A1-1CCD-CA6F-4B3D-CAC776D126D9}"/>
              </a:ext>
            </a:extLst>
          </p:cNvPr>
          <p:cNvSpPr txBox="1">
            <a:spLocks/>
          </p:cNvSpPr>
          <p:nvPr/>
        </p:nvSpPr>
        <p:spPr>
          <a:xfrm>
            <a:off x="3540665" y="6381750"/>
            <a:ext cx="5096256" cy="365125"/>
          </a:xfrm>
          <a:prstGeom prst="rect">
            <a:avLst/>
          </a:prstGeom>
        </p:spPr>
        <p:txBody>
          <a:bodyPr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200">
                <a:solidFill>
                  <a:srgbClr val="B9B9B9"/>
                </a:solidFill>
                <a:latin typeface="+mj-lt"/>
              </a:rPr>
              <a:t>NUCLIO DIGITAL SCHOOL - MÁSTER DATA ANALYTICS - TFM - GRUPO 3</a:t>
            </a:r>
            <a:endParaRPr lang="es-ES" sz="1200" dirty="0">
              <a:solidFill>
                <a:srgbClr val="B9B9B9"/>
              </a:solidFill>
              <a:latin typeface="+mj-lt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6E34DEF-10A6-0314-651E-1D6CC591FD18}"/>
              </a:ext>
            </a:extLst>
          </p:cNvPr>
          <p:cNvSpPr/>
          <p:nvPr/>
        </p:nvSpPr>
        <p:spPr>
          <a:xfrm>
            <a:off x="0" y="-1"/>
            <a:ext cx="12192000" cy="766167"/>
          </a:xfrm>
          <a:prstGeom prst="rect">
            <a:avLst/>
          </a:prstGeom>
          <a:solidFill>
            <a:srgbClr val="2443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  <a:latin typeface="+mj-lt"/>
                <a:ea typeface="Segoe UI" pitchFamily="34" charset="-122"/>
                <a:cs typeface="Segoe UI" pitchFamily="34" charset="-120"/>
              </a:rPr>
              <a:t>ESTRATEGIA Y LIMPIEZA DE '</a:t>
            </a:r>
            <a:r>
              <a:rPr lang="en-US" sz="2800" b="1" dirty="0" err="1">
                <a:solidFill>
                  <a:schemeClr val="bg1"/>
                </a:solidFill>
                <a:latin typeface="+mj-lt"/>
                <a:ea typeface="Segoe UI" pitchFamily="34" charset="-122"/>
                <a:cs typeface="Segoe UI" pitchFamily="34" charset="-120"/>
              </a:rPr>
              <a:t>compass_score_raw</a:t>
            </a:r>
            <a:r>
              <a:rPr lang="en-US" sz="2800" b="1" dirty="0">
                <a:solidFill>
                  <a:schemeClr val="bg1"/>
                </a:solidFill>
                <a:latin typeface="+mj-lt"/>
                <a:ea typeface="Segoe UI" pitchFamily="34" charset="-122"/>
                <a:cs typeface="Segoe UI" pitchFamily="34" charset="-120"/>
              </a:rPr>
              <a:t>'</a:t>
            </a:r>
            <a:endParaRPr lang="en-US" sz="2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F269C069-1B4D-9CDC-55A9-70188D87AA08}"/>
              </a:ext>
            </a:extLst>
          </p:cNvPr>
          <p:cNvSpPr/>
          <p:nvPr/>
        </p:nvSpPr>
        <p:spPr>
          <a:xfrm>
            <a:off x="571500" y="970284"/>
            <a:ext cx="10925175" cy="1277613"/>
          </a:xfrm>
          <a:prstGeom prst="roundRect">
            <a:avLst/>
          </a:prstGeom>
          <a:solidFill>
            <a:srgbClr val="24437A"/>
          </a:solidFill>
          <a:ln/>
        </p:spPr>
        <p:txBody>
          <a:bodyPr vert="horz" wrap="square" lIns="0" tIns="0" rIns="0" bIns="0" rtlCol="0" anchor="ctr"/>
          <a:lstStyle/>
          <a:p>
            <a:pPr marL="182880"/>
            <a:r>
              <a:rPr lang="en-US" sz="1600" b="1" dirty="0" err="1">
                <a:solidFill>
                  <a:schemeClr val="bg1"/>
                </a:solidFill>
                <a:latin typeface="+mj-lt"/>
                <a:ea typeface="Segoe UI" pitchFamily="34" charset="-122"/>
                <a:cs typeface="Segoe UI" pitchFamily="34" charset="-120"/>
              </a:rPr>
              <a:t>Discrepancia</a:t>
            </a:r>
            <a:r>
              <a:rPr lang="en-US" sz="1600" b="1" dirty="0">
                <a:solidFill>
                  <a:schemeClr val="bg1"/>
                </a:solidFill>
                <a:latin typeface="+mj-lt"/>
                <a:ea typeface="Segoe UI" pitchFamily="34" charset="-122"/>
                <a:cs typeface="Segoe UI" pitchFamily="34" charset="-120"/>
              </a:rPr>
              <a:t> de Datasets (23,11%)</a:t>
            </a:r>
            <a:endParaRPr lang="en-US" sz="1600" b="1" dirty="0">
              <a:solidFill>
                <a:schemeClr val="bg1"/>
              </a:solidFill>
              <a:latin typeface="+mj-lt"/>
            </a:endParaRPr>
          </a:p>
          <a:p>
            <a:pPr marL="182880"/>
            <a:r>
              <a:rPr lang="en-US" sz="1600" dirty="0">
                <a:solidFill>
                  <a:schemeClr val="bg1"/>
                </a:solidFill>
                <a:latin typeface="+mj-lt"/>
                <a:ea typeface="Segoe UI" pitchFamily="34" charset="-122"/>
                <a:cs typeface="Segoe UI" pitchFamily="34" charset="-120"/>
              </a:rPr>
              <a:t>Se </a:t>
            </a:r>
            <a:r>
              <a:rPr lang="en-US" sz="1600" dirty="0" err="1">
                <a:solidFill>
                  <a:schemeClr val="bg1"/>
                </a:solidFill>
                <a:latin typeface="+mj-lt"/>
                <a:ea typeface="Segoe UI" pitchFamily="34" charset="-122"/>
                <a:cs typeface="Segoe UI" pitchFamily="34" charset="-120"/>
              </a:rPr>
              <a:t>identificaron</a:t>
            </a:r>
            <a:r>
              <a:rPr lang="en-US" sz="1600" dirty="0">
                <a:solidFill>
                  <a:schemeClr val="bg1"/>
                </a:solidFill>
                <a:latin typeface="+mj-lt"/>
                <a:ea typeface="Segoe UI" pitchFamily="34" charset="-122"/>
                <a:cs typeface="Segoe UI" pitchFamily="34" charset="-120"/>
              </a:rPr>
              <a:t> 1.437 </a:t>
            </a:r>
            <a:r>
              <a:rPr lang="en-US" sz="1600" dirty="0" err="1">
                <a:solidFill>
                  <a:schemeClr val="bg1"/>
                </a:solidFill>
                <a:latin typeface="+mj-lt"/>
                <a:ea typeface="Segoe UI" pitchFamily="34" charset="-122"/>
                <a:cs typeface="Segoe UI" pitchFamily="34" charset="-120"/>
              </a:rPr>
              <a:t>registros</a:t>
            </a:r>
            <a:r>
              <a:rPr lang="en-US" sz="1600" dirty="0">
                <a:solidFill>
                  <a:schemeClr val="bg1"/>
                </a:solidFill>
                <a:latin typeface="+mj-lt"/>
                <a:ea typeface="Segoe UI" pitchFamily="34" charset="-122"/>
                <a:cs typeface="Segoe UI" pitchFamily="34" charset="-120"/>
              </a:rPr>
              <a:t> en ProPublica sin </a:t>
            </a:r>
            <a:r>
              <a:rPr lang="en-US" sz="1600" dirty="0" err="1">
                <a:solidFill>
                  <a:schemeClr val="bg1"/>
                </a:solidFill>
                <a:latin typeface="+mj-lt"/>
                <a:ea typeface="Segoe UI" pitchFamily="34" charset="-122"/>
                <a:cs typeface="Segoe UI" pitchFamily="34" charset="-120"/>
              </a:rPr>
              <a:t>correspondencia</a:t>
            </a:r>
            <a:r>
              <a:rPr lang="en-US" sz="1600" dirty="0">
                <a:solidFill>
                  <a:schemeClr val="bg1"/>
                </a:solidFill>
                <a:latin typeface="+mj-lt"/>
                <a:ea typeface="Segoe UI" pitchFamily="34" charset="-122"/>
                <a:cs typeface="Segoe UI" pitchFamily="34" charset="-120"/>
              </a:rPr>
              <a:t> en el Condado de Broward.</a:t>
            </a:r>
          </a:p>
          <a:p>
            <a:pPr marL="182880"/>
            <a:r>
              <a:rPr lang="en-US" sz="1600" b="1" dirty="0" err="1">
                <a:solidFill>
                  <a:schemeClr val="bg1"/>
                </a:solidFill>
                <a:latin typeface="+mj-lt"/>
                <a:ea typeface="Segoe UI" pitchFamily="34" charset="-122"/>
                <a:cs typeface="Segoe UI" pitchFamily="34" charset="-120"/>
              </a:rPr>
              <a:t>Decisión</a:t>
            </a:r>
            <a:r>
              <a:rPr lang="en-US" sz="1600" dirty="0">
                <a:solidFill>
                  <a:schemeClr val="bg1"/>
                </a:solidFill>
                <a:latin typeface="+mj-lt"/>
                <a:ea typeface="Segoe UI" pitchFamily="34" charset="-122"/>
                <a:cs typeface="Segoe UI" pitchFamily="34" charset="-120"/>
              </a:rPr>
              <a:t>: No </a:t>
            </a:r>
            <a:r>
              <a:rPr lang="en-US" sz="1600" dirty="0" err="1">
                <a:solidFill>
                  <a:schemeClr val="bg1"/>
                </a:solidFill>
                <a:latin typeface="+mj-lt"/>
                <a:ea typeface="Segoe UI" pitchFamily="34" charset="-122"/>
                <a:cs typeface="Segoe UI" pitchFamily="34" charset="-120"/>
              </a:rPr>
              <a:t>eliminarlos</a:t>
            </a:r>
            <a:r>
              <a:rPr lang="en-US" sz="1600" dirty="0">
                <a:solidFill>
                  <a:schemeClr val="bg1"/>
                </a:solidFill>
                <a:latin typeface="+mj-lt"/>
                <a:ea typeface="Segoe UI" pitchFamily="34" charset="-122"/>
                <a:cs typeface="Segoe UI" pitchFamily="34" charset="-120"/>
              </a:rPr>
              <a:t>. La </a:t>
            </a:r>
            <a:r>
              <a:rPr lang="en-US" sz="1600" dirty="0" err="1">
                <a:solidFill>
                  <a:schemeClr val="bg1"/>
                </a:solidFill>
                <a:latin typeface="+mj-lt"/>
                <a:ea typeface="Segoe UI" pitchFamily="34" charset="-122"/>
                <a:cs typeface="Segoe UI" pitchFamily="34" charset="-120"/>
              </a:rPr>
              <a:t>metodología</a:t>
            </a:r>
            <a:r>
              <a:rPr lang="en-US" sz="1600" dirty="0">
                <a:solidFill>
                  <a:schemeClr val="bg1"/>
                </a:solidFill>
                <a:latin typeface="+mj-lt"/>
                <a:ea typeface="Segoe UI" pitchFamily="34" charset="-122"/>
                <a:cs typeface="Segoe UI" pitchFamily="34" charset="-120"/>
              </a:rPr>
              <a:t> de ProPublica es </a:t>
            </a:r>
            <a:r>
              <a:rPr lang="en-US" sz="1600" dirty="0" err="1">
                <a:solidFill>
                  <a:schemeClr val="bg1"/>
                </a:solidFill>
                <a:latin typeface="+mj-lt"/>
                <a:ea typeface="Segoe UI" pitchFamily="34" charset="-122"/>
                <a:cs typeface="Segoe UI" pitchFamily="34" charset="-120"/>
              </a:rPr>
              <a:t>válida</a:t>
            </a:r>
            <a:r>
              <a:rPr lang="en-US" sz="1600" dirty="0">
                <a:solidFill>
                  <a:schemeClr val="bg1"/>
                </a:solidFill>
                <a:latin typeface="+mj-lt"/>
                <a:ea typeface="Segoe UI" pitchFamily="34" charset="-122"/>
                <a:cs typeface="Segoe UI" pitchFamily="34" charset="-120"/>
              </a:rPr>
              <a:t> y </a:t>
            </a:r>
            <a:r>
              <a:rPr lang="en-US" sz="1600" dirty="0" err="1">
                <a:solidFill>
                  <a:schemeClr val="bg1"/>
                </a:solidFill>
                <a:latin typeface="+mj-lt"/>
                <a:ea typeface="Segoe UI" pitchFamily="34" charset="-122"/>
                <a:cs typeface="Segoe UI" pitchFamily="34" charset="-120"/>
              </a:rPr>
              <a:t>los</a:t>
            </a:r>
            <a:r>
              <a:rPr lang="en-US" sz="1600" dirty="0">
                <a:solidFill>
                  <a:schemeClr val="bg1"/>
                </a:solidFill>
                <a:latin typeface="+mj-lt"/>
                <a:ea typeface="Segoe UI" pitchFamily="34" charset="-122"/>
                <a:cs typeface="Segoe UI" pitchFamily="34" charset="-120"/>
              </a:rPr>
              <a:t> datasets se </a:t>
            </a:r>
            <a:r>
              <a:rPr lang="en-US" sz="1600" dirty="0" err="1">
                <a:solidFill>
                  <a:schemeClr val="bg1"/>
                </a:solidFill>
                <a:latin typeface="+mj-lt"/>
                <a:ea typeface="Segoe UI" pitchFamily="34" charset="-122"/>
                <a:cs typeface="Segoe UI" pitchFamily="34" charset="-120"/>
              </a:rPr>
              <a:t>trabajarán</a:t>
            </a:r>
            <a:r>
              <a:rPr lang="en-US" sz="1600" dirty="0">
                <a:solidFill>
                  <a:schemeClr val="bg1"/>
                </a:solidFill>
                <a:latin typeface="+mj-lt"/>
                <a:ea typeface="Segoe UI" pitchFamily="34" charset="-122"/>
                <a:cs typeface="Segoe UI" pitchFamily="34" charset="-120"/>
              </a:rPr>
              <a:t> en </a:t>
            </a:r>
            <a:r>
              <a:rPr lang="en-US" sz="1600" dirty="0" err="1">
                <a:solidFill>
                  <a:schemeClr val="bg1"/>
                </a:solidFill>
                <a:latin typeface="+mj-lt"/>
                <a:ea typeface="Segoe UI" pitchFamily="34" charset="-122"/>
                <a:cs typeface="Segoe UI" pitchFamily="34" charset="-120"/>
              </a:rPr>
              <a:t>paralelo</a:t>
            </a:r>
            <a:r>
              <a:rPr lang="en-US" sz="1600" dirty="0">
                <a:solidFill>
                  <a:schemeClr val="bg1"/>
                </a:solidFill>
                <a:latin typeface="+mj-lt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+mj-lt"/>
                <a:ea typeface="Segoe UI" pitchFamily="34" charset="-122"/>
                <a:cs typeface="Segoe UI" pitchFamily="34" charset="-120"/>
              </a:rPr>
              <a:t>según</a:t>
            </a:r>
            <a:r>
              <a:rPr lang="en-US" sz="1600" dirty="0">
                <a:solidFill>
                  <a:schemeClr val="bg1"/>
                </a:solidFill>
                <a:latin typeface="+mj-lt"/>
                <a:ea typeface="Segoe UI" pitchFamily="34" charset="-122"/>
                <a:cs typeface="Segoe UI" pitchFamily="34" charset="-120"/>
              </a:rPr>
              <a:t> el </a:t>
            </a:r>
            <a:r>
              <a:rPr lang="en-US" sz="1600" dirty="0" err="1">
                <a:solidFill>
                  <a:schemeClr val="bg1"/>
                </a:solidFill>
                <a:latin typeface="+mj-lt"/>
                <a:ea typeface="Segoe UI" pitchFamily="34" charset="-122"/>
                <a:cs typeface="Segoe UI" pitchFamily="34" charset="-120"/>
              </a:rPr>
              <a:t>propósito</a:t>
            </a:r>
            <a:r>
              <a:rPr lang="en-US" sz="1600" dirty="0">
                <a:solidFill>
                  <a:schemeClr val="bg1"/>
                </a:solidFill>
                <a:latin typeface="+mj-lt"/>
                <a:ea typeface="Segoe UI" pitchFamily="34" charset="-122"/>
                <a:cs typeface="Segoe UI" pitchFamily="34" charset="-120"/>
              </a:rPr>
              <a:t> del </a:t>
            </a:r>
            <a:r>
              <a:rPr lang="en-US" sz="1600" dirty="0" err="1">
                <a:solidFill>
                  <a:schemeClr val="bg1"/>
                </a:solidFill>
                <a:latin typeface="+mj-lt"/>
                <a:ea typeface="Segoe UI" pitchFamily="34" charset="-122"/>
                <a:cs typeface="Segoe UI" pitchFamily="34" charset="-120"/>
              </a:rPr>
              <a:t>análisis</a:t>
            </a:r>
            <a:r>
              <a:rPr lang="en-US" sz="1600" dirty="0">
                <a:solidFill>
                  <a:schemeClr val="bg1"/>
                </a:solidFill>
                <a:latin typeface="+mj-lt"/>
                <a:ea typeface="Segoe UI" pitchFamily="34" charset="-122"/>
                <a:cs typeface="Segoe UI" pitchFamily="34" charset="-120"/>
              </a:rPr>
              <a:t>.</a:t>
            </a:r>
            <a:endParaRPr lang="en-US" sz="1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57EAAFC-2233-6490-870C-A8CB887F19C2}"/>
              </a:ext>
            </a:extLst>
          </p:cNvPr>
          <p:cNvSpPr txBox="1"/>
          <p:nvPr/>
        </p:nvSpPr>
        <p:spPr>
          <a:xfrm>
            <a:off x="675054" y="3762375"/>
            <a:ext cx="3212707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000" dirty="0" err="1">
                <a:latin typeface="+mj-lt"/>
                <a:ea typeface="Segoe UI" pitchFamily="34" charset="-122"/>
                <a:cs typeface="Segoe UI" pitchFamily="34" charset="-120"/>
              </a:rPr>
              <a:t>Transformación</a:t>
            </a:r>
            <a:r>
              <a:rPr lang="en-US" sz="2000" dirty="0">
                <a:latin typeface="+mj-lt"/>
                <a:ea typeface="Segoe UI" pitchFamily="34" charset="-122"/>
                <a:cs typeface="Segoe UI" pitchFamily="34" charset="-120"/>
              </a:rPr>
              <a:t> de </a:t>
            </a:r>
            <a:r>
              <a:rPr lang="en-US" sz="2000" i="1" dirty="0" err="1">
                <a:latin typeface="+mj-lt"/>
                <a:ea typeface="Segoe UI" pitchFamily="34" charset="-122"/>
                <a:cs typeface="Segoe UI" pitchFamily="34" charset="-120"/>
              </a:rPr>
              <a:t>DateOfBirth</a:t>
            </a:r>
            <a:r>
              <a:rPr lang="en-US" sz="2000" dirty="0">
                <a:latin typeface="+mj-lt"/>
                <a:ea typeface="Segoe UI" pitchFamily="34" charset="-122"/>
                <a:cs typeface="Segoe UI" pitchFamily="34" charset="-120"/>
              </a:rPr>
              <a:t> y </a:t>
            </a:r>
            <a:r>
              <a:rPr lang="en-US" sz="2000" i="1" dirty="0" err="1">
                <a:latin typeface="+mj-lt"/>
                <a:ea typeface="Segoe UI" pitchFamily="34" charset="-122"/>
                <a:cs typeface="Segoe UI" pitchFamily="34" charset="-120"/>
              </a:rPr>
              <a:t>Screening_Date</a:t>
            </a:r>
            <a:r>
              <a:rPr lang="en-US" sz="2000" dirty="0">
                <a:latin typeface="+mj-lt"/>
                <a:ea typeface="Segoe UI" pitchFamily="34" charset="-122"/>
                <a:cs typeface="Segoe UI" pitchFamily="34" charset="-120"/>
              </a:rPr>
              <a:t> a </a:t>
            </a:r>
            <a:r>
              <a:rPr lang="en-US" sz="2000" dirty="0" err="1">
                <a:latin typeface="+mj-lt"/>
                <a:ea typeface="Segoe UI" pitchFamily="34" charset="-122"/>
                <a:cs typeface="Segoe UI" pitchFamily="34" charset="-120"/>
              </a:rPr>
              <a:t>formatos</a:t>
            </a:r>
            <a:r>
              <a:rPr lang="en-US" sz="2000" dirty="0">
                <a:latin typeface="+mj-lt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000" b="1" dirty="0">
                <a:solidFill>
                  <a:srgbClr val="24437A"/>
                </a:solidFill>
                <a:latin typeface="+mj-lt"/>
                <a:ea typeface="Segoe UI" pitchFamily="34" charset="-122"/>
                <a:cs typeface="Segoe UI" pitchFamily="34" charset="-120"/>
              </a:rPr>
              <a:t>date/datetime</a:t>
            </a:r>
            <a:r>
              <a:rPr lang="en-US" sz="2000" dirty="0">
                <a:solidFill>
                  <a:srgbClr val="24437A"/>
                </a:solidFill>
                <a:latin typeface="+mj-lt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000" dirty="0">
                <a:latin typeface="+mj-lt"/>
                <a:ea typeface="Segoe UI" pitchFamily="34" charset="-122"/>
                <a:cs typeface="Segoe UI" pitchFamily="34" charset="-120"/>
              </a:rPr>
              <a:t>para </a:t>
            </a:r>
            <a:r>
              <a:rPr lang="en-US" sz="2000" dirty="0" err="1">
                <a:latin typeface="+mj-lt"/>
                <a:ea typeface="Segoe UI" pitchFamily="34" charset="-122"/>
                <a:cs typeface="Segoe UI" pitchFamily="34" charset="-120"/>
              </a:rPr>
              <a:t>cálculos</a:t>
            </a:r>
            <a:r>
              <a:rPr lang="en-US" sz="2000" dirty="0">
                <a:latin typeface="+mj-lt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000" dirty="0" err="1">
                <a:latin typeface="+mj-lt"/>
                <a:ea typeface="Segoe UI" pitchFamily="34" charset="-122"/>
                <a:cs typeface="Segoe UI" pitchFamily="34" charset="-120"/>
              </a:rPr>
              <a:t>temporales</a:t>
            </a:r>
            <a:r>
              <a:rPr lang="en-US" sz="2000" dirty="0">
                <a:latin typeface="+mj-lt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000" dirty="0" err="1">
                <a:latin typeface="+mj-lt"/>
                <a:ea typeface="Segoe UI" pitchFamily="34" charset="-122"/>
                <a:cs typeface="Segoe UI" pitchFamily="34" charset="-120"/>
              </a:rPr>
              <a:t>precisos</a:t>
            </a:r>
            <a:r>
              <a:rPr lang="en-US" sz="2000" dirty="0">
                <a:latin typeface="+mj-lt"/>
                <a:ea typeface="Segoe UI" pitchFamily="34" charset="-122"/>
                <a:cs typeface="Segoe UI" pitchFamily="34" charset="-120"/>
              </a:rPr>
              <a:t>.</a:t>
            </a:r>
            <a:endParaRPr lang="en-US" sz="2000" dirty="0">
              <a:latin typeface="+mj-lt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82FAD0D-85DD-1D59-00F4-A3DEA3AEA223}"/>
              </a:ext>
            </a:extLst>
          </p:cNvPr>
          <p:cNvSpPr/>
          <p:nvPr/>
        </p:nvSpPr>
        <p:spPr>
          <a:xfrm>
            <a:off x="571500" y="2324100"/>
            <a:ext cx="3595421" cy="3257550"/>
          </a:xfrm>
          <a:prstGeom prst="rect">
            <a:avLst/>
          </a:prstGeom>
          <a:noFill/>
          <a:ln w="28575">
            <a:solidFill>
              <a:srgbClr val="2443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latin typeface="+mj-lt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4119563-52F6-A6DD-B77B-B55B9940B9CE}"/>
              </a:ext>
            </a:extLst>
          </p:cNvPr>
          <p:cNvSpPr/>
          <p:nvPr/>
        </p:nvSpPr>
        <p:spPr>
          <a:xfrm>
            <a:off x="4291082" y="2333624"/>
            <a:ext cx="3595421" cy="3248025"/>
          </a:xfrm>
          <a:prstGeom prst="rect">
            <a:avLst/>
          </a:prstGeom>
          <a:noFill/>
          <a:ln w="28575">
            <a:solidFill>
              <a:srgbClr val="2443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latin typeface="+mj-lt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AF2E3F9-D2A6-170D-092F-EA1564DA7A20}"/>
              </a:ext>
            </a:extLst>
          </p:cNvPr>
          <p:cNvSpPr/>
          <p:nvPr/>
        </p:nvSpPr>
        <p:spPr>
          <a:xfrm>
            <a:off x="7985460" y="2338985"/>
            <a:ext cx="3595421" cy="3242664"/>
          </a:xfrm>
          <a:prstGeom prst="rect">
            <a:avLst/>
          </a:prstGeom>
          <a:noFill/>
          <a:ln w="28575">
            <a:solidFill>
              <a:srgbClr val="2443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latin typeface="+mj-lt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D588F29D-FA8B-4854-E04B-B77647237E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42" t="25393" r="27955" b="32416"/>
          <a:stretch>
            <a:fillRect/>
          </a:stretch>
        </p:blipFill>
        <p:spPr>
          <a:xfrm>
            <a:off x="5580617" y="2459347"/>
            <a:ext cx="906940" cy="855985"/>
          </a:xfrm>
          <a:prstGeom prst="ellipse">
            <a:avLst/>
          </a:prstGeom>
        </p:spPr>
      </p:pic>
      <p:pic>
        <p:nvPicPr>
          <p:cNvPr id="34" name="Picture 8">
            <a:extLst>
              <a:ext uri="{FF2B5EF4-FFF2-40B4-BE49-F238E27FC236}">
                <a16:creationId xmlns:a16="http://schemas.microsoft.com/office/drawing/2014/main" id="{1A8AC34B-2C8D-3762-16E1-454B93749E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alphaModFix amt="6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8128" y="78457"/>
            <a:ext cx="591924" cy="590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0" descr="Escuela de Formación Digital | Nuclio Digital School">
            <a:extLst>
              <a:ext uri="{FF2B5EF4-FFF2-40B4-BE49-F238E27FC236}">
                <a16:creationId xmlns:a16="http://schemas.microsoft.com/office/drawing/2014/main" id="{3C27BDB1-DB54-C3AA-FF40-AD456412F5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alphaModFix amt="6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261533" y="77226"/>
            <a:ext cx="591924" cy="591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71203EA-81BC-1760-9E9B-12EBCA3A3971}"/>
              </a:ext>
            </a:extLst>
          </p:cNvPr>
          <p:cNvSpPr/>
          <p:nvPr/>
        </p:nvSpPr>
        <p:spPr>
          <a:xfrm>
            <a:off x="571500" y="3086100"/>
            <a:ext cx="5238750" cy="2064267"/>
          </a:xfrm>
          <a:prstGeom prst="rect">
            <a:avLst/>
          </a:prstGeom>
          <a:solidFill>
            <a:srgbClr val="C4D3E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81000"/>
            <a:ext cx="11049000" cy="4953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031" y="3207565"/>
            <a:ext cx="762000" cy="762000"/>
          </a:xfrm>
          <a:prstGeom prst="ellipse">
            <a:avLst/>
          </a:prstGeom>
        </p:spPr>
      </p:pic>
      <p:sp>
        <p:nvSpPr>
          <p:cNvPr id="10" name="Text 1"/>
          <p:cNvSpPr/>
          <p:nvPr/>
        </p:nvSpPr>
        <p:spPr>
          <a:xfrm>
            <a:off x="809625" y="1304925"/>
            <a:ext cx="105727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244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Acciones</a:t>
            </a:r>
            <a:r>
              <a:rPr lang="en-US" sz="1800" b="1" dirty="0">
                <a:solidFill>
                  <a:srgbClr val="244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800" b="1" dirty="0" err="1">
                <a:solidFill>
                  <a:srgbClr val="244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técnicas</a:t>
            </a:r>
            <a:endParaRPr lang="en-US" sz="1800" dirty="0">
              <a:solidFill>
                <a:srgbClr val="24437A"/>
              </a:solidFill>
            </a:endParaRPr>
          </a:p>
        </p:txBody>
      </p:sp>
      <p:sp>
        <p:nvSpPr>
          <p:cNvPr id="11" name="Text 2"/>
          <p:cNvSpPr/>
          <p:nvPr/>
        </p:nvSpPr>
        <p:spPr>
          <a:xfrm>
            <a:off x="1000125" y="1714500"/>
            <a:ext cx="15556539" cy="2399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244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Preprocesamiento</a:t>
            </a:r>
            <a:r>
              <a:rPr lang="en-US" sz="1400" b="1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</a:t>
            </a:r>
            <a:r>
              <a:rPr lang="en-US" sz="14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Conversión de variables temporales a tipos </a:t>
            </a:r>
            <a:r>
              <a:rPr lang="en-US" sz="1400" i="1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</a:t>
            </a:r>
            <a:r>
              <a:rPr lang="en-US" sz="14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r>
              <a:rPr lang="en-US" sz="1400" i="1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datetime</a:t>
            </a:r>
            <a:r>
              <a:rPr lang="en-US" sz="14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sp>
        <p:nvSpPr>
          <p:cNvPr id="12" name="Text 3"/>
          <p:cNvSpPr/>
          <p:nvPr/>
        </p:nvSpPr>
        <p:spPr>
          <a:xfrm>
            <a:off x="1000125" y="2068711"/>
            <a:ext cx="20876741" cy="2399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244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Eliminación de duplicados</a:t>
            </a:r>
            <a:r>
              <a:rPr lang="en-US" sz="1400" b="1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</a:t>
            </a:r>
            <a:r>
              <a:rPr lang="en-US" sz="14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Borrado de columnas </a:t>
            </a:r>
            <a:r>
              <a:rPr lang="en-US" sz="1400" i="1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decile_score.1</a:t>
            </a:r>
            <a:r>
              <a:rPr lang="en-US" sz="14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r>
              <a:rPr lang="en-US" sz="1400" i="1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priors_count.1</a:t>
            </a:r>
            <a:r>
              <a:rPr lang="en-US" sz="14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por redundancia exacta.</a:t>
            </a:r>
            <a:endParaRPr lang="en-US" sz="1400" dirty="0"/>
          </a:p>
        </p:txBody>
      </p:sp>
      <p:sp>
        <p:nvSpPr>
          <p:cNvPr id="13" name="Text 4"/>
          <p:cNvSpPr/>
          <p:nvPr/>
        </p:nvSpPr>
        <p:spPr>
          <a:xfrm>
            <a:off x="1000125" y="2422922"/>
            <a:ext cx="26398975" cy="2399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244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Validación de fuente</a:t>
            </a:r>
            <a:r>
              <a:rPr lang="en-US" sz="1400" b="1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</a:t>
            </a:r>
            <a:r>
              <a:rPr lang="en-US" sz="14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La caída de registros en julio 2013 es un </a:t>
            </a:r>
            <a:r>
              <a:rPr lang="en-US" sz="1400" b="1" dirty="0">
                <a:solidFill>
                  <a:srgbClr val="244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 de origen</a:t>
            </a:r>
            <a:r>
              <a:rPr lang="en-US" sz="1400" dirty="0">
                <a:solidFill>
                  <a:srgbClr val="244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4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(Condado Broward), no un fallo de procesamiento.</a:t>
            </a:r>
            <a:endParaRPr lang="en-US" sz="1400" dirty="0"/>
          </a:p>
        </p:txBody>
      </p:sp>
      <p:sp>
        <p:nvSpPr>
          <p:cNvPr id="14" name="Text 5"/>
          <p:cNvSpPr/>
          <p:nvPr/>
        </p:nvSpPr>
        <p:spPr>
          <a:xfrm>
            <a:off x="1609138" y="3301942"/>
            <a:ext cx="9569946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244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Corrección</a:t>
            </a:r>
            <a:r>
              <a:rPr lang="en-US" sz="1200" b="1" dirty="0">
                <a:solidFill>
                  <a:srgbClr val="244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b="1" dirty="0" err="1">
                <a:solidFill>
                  <a:srgbClr val="244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metodológica</a:t>
            </a:r>
            <a:r>
              <a:rPr lang="en-US" sz="1200" b="1" dirty="0">
                <a:solidFill>
                  <a:srgbClr val="244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del cutoff (Punto Crítico)</a:t>
            </a:r>
            <a:endParaRPr lang="en-US" sz="1200" dirty="0">
              <a:solidFill>
                <a:srgbClr val="24437A"/>
              </a:solidFill>
            </a:endParaRPr>
          </a:p>
        </p:txBody>
      </p:sp>
      <p:sp>
        <p:nvSpPr>
          <p:cNvPr id="15" name="Text 6"/>
          <p:cNvSpPr/>
          <p:nvPr/>
        </p:nvSpPr>
        <p:spPr>
          <a:xfrm>
            <a:off x="1608751" y="3633134"/>
            <a:ext cx="3997778" cy="11763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ProPublica mantuvo reincidentes posteriores al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01/04/2014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pero eliminó a los no reincidentes, inflando artificialmente la tasa.
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Solución: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 eliminan todos los </a:t>
            </a:r>
            <a:r>
              <a:rPr lang="en-US" sz="1400" dirty="0" err="1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registros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posteriores a esa fecha para garantizar una ventana de observación equitativa de 2 años.</a:t>
            </a:r>
            <a:endParaRPr lang="en-US" sz="1400" dirty="0"/>
          </a:p>
        </p:txBody>
      </p:sp>
      <p:sp>
        <p:nvSpPr>
          <p:cNvPr id="16" name="Text 7"/>
          <p:cNvSpPr/>
          <p:nvPr/>
        </p:nvSpPr>
        <p:spPr>
          <a:xfrm>
            <a:off x="797465" y="5687183"/>
            <a:ext cx="2393442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244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Consistencia</a:t>
            </a:r>
            <a:r>
              <a:rPr lang="en-US" sz="1600" b="1" dirty="0">
                <a:solidFill>
                  <a:srgbClr val="244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</a:t>
            </a:r>
            <a:r>
              <a:rPr lang="en-US" sz="1600" b="1" dirty="0" err="1">
                <a:solidFill>
                  <a:srgbClr val="244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edad</a:t>
            </a:r>
            <a:r>
              <a:rPr lang="en-US" sz="1600" b="1" dirty="0">
                <a:solidFill>
                  <a:srgbClr val="244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Se aplica el mismo rango (18-77 años) para asegurar la homogeneidad entre ambos datasets.</a:t>
            </a:r>
            <a:endParaRPr lang="en-US" sz="1600" dirty="0">
              <a:solidFill>
                <a:srgbClr val="24437A"/>
              </a:solidFill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8AA802E1-E170-B709-C08E-1DC391F0D2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086100"/>
            <a:ext cx="5474503" cy="2115301"/>
          </a:xfrm>
          <a:prstGeom prst="rect">
            <a:avLst/>
          </a:prstGeom>
        </p:spPr>
      </p:pic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194EF23-B7DA-8669-490F-766291E5660A}"/>
              </a:ext>
            </a:extLst>
          </p:cNvPr>
          <p:cNvSpPr txBox="1">
            <a:spLocks/>
          </p:cNvSpPr>
          <p:nvPr/>
        </p:nvSpPr>
        <p:spPr>
          <a:xfrm>
            <a:off x="3540665" y="6381750"/>
            <a:ext cx="5096256" cy="365125"/>
          </a:xfrm>
          <a:prstGeom prst="rect">
            <a:avLst/>
          </a:prstGeom>
        </p:spPr>
        <p:txBody>
          <a:bodyPr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200" dirty="0">
                <a:solidFill>
                  <a:srgbClr val="B9B9B9"/>
                </a:solidFill>
              </a:rPr>
              <a:t>NUCLIO DIGITAL SCHOOL - MÁSTER DATA ANALYTICS - TFM - GRUPO 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986B23-F9A6-834B-54AE-2F3C2233682F}"/>
              </a:ext>
            </a:extLst>
          </p:cNvPr>
          <p:cNvSpPr/>
          <p:nvPr/>
        </p:nvSpPr>
        <p:spPr>
          <a:xfrm>
            <a:off x="0" y="-1"/>
            <a:ext cx="12192000" cy="766167"/>
          </a:xfrm>
          <a:prstGeom prst="rect">
            <a:avLst/>
          </a:prstGeom>
          <a:solidFill>
            <a:srgbClr val="2443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LIMPIEZA Y CORRECCIÓN EN '</a:t>
            </a:r>
            <a:r>
              <a:rPr lang="en-US" sz="2800" b="1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compass_score_two_years</a:t>
            </a:r>
            <a:r>
              <a:rPr lang="en-US" sz="2800" b="1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'</a:t>
            </a: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20" name="Picture 8">
            <a:extLst>
              <a:ext uri="{FF2B5EF4-FFF2-40B4-BE49-F238E27FC236}">
                <a16:creationId xmlns:a16="http://schemas.microsoft.com/office/drawing/2014/main" id="{D395ED60-AB20-083C-E738-39602E403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alphaModFix amt="6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8128" y="78457"/>
            <a:ext cx="591924" cy="590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10" descr="Escuela de Formación Digital | Nuclio Digital School">
            <a:extLst>
              <a:ext uri="{FF2B5EF4-FFF2-40B4-BE49-F238E27FC236}">
                <a16:creationId xmlns:a16="http://schemas.microsoft.com/office/drawing/2014/main" id="{099D4EED-C57F-F1A3-B56F-341DEBE41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alphaModFix amt="6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261533" y="77226"/>
            <a:ext cx="591924" cy="591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1"/>
          <p:cNvSpPr/>
          <p:nvPr/>
        </p:nvSpPr>
        <p:spPr>
          <a:xfrm>
            <a:off x="364444" y="1000720"/>
            <a:ext cx="11581765" cy="723900"/>
          </a:xfrm>
          <a:prstGeom prst="roundRect">
            <a:avLst/>
          </a:prstGeom>
          <a:solidFill>
            <a:srgbClr val="24437A"/>
          </a:solidFill>
          <a:ln/>
        </p:spPr>
        <p:txBody>
          <a:bodyPr vert="horz" wrap="square" lIns="0" tIns="0" rIns="0" bIns="0" rtlCol="0" anchor="ctr"/>
          <a:lstStyle/>
          <a:p>
            <a:pPr marL="182880" indent="0">
              <a:buNone/>
            </a:pPr>
            <a:r>
              <a:rPr lang="en-US" b="1" dirty="0" err="1">
                <a:solidFill>
                  <a:schemeClr val="bg1"/>
                </a:solidFill>
                <a:latin typeface="+mj-lt"/>
                <a:ea typeface="Segoe UI" pitchFamily="34" charset="-122"/>
                <a:cs typeface="Segoe UI" pitchFamily="34" charset="-120"/>
              </a:rPr>
              <a:t>Análisis</a:t>
            </a:r>
            <a:r>
              <a:rPr lang="en-US" b="1" dirty="0">
                <a:solidFill>
                  <a:schemeClr val="bg1"/>
                </a:solidFill>
                <a:latin typeface="+mj-lt"/>
                <a:ea typeface="Segoe UI" pitchFamily="34" charset="-122"/>
                <a:cs typeface="Segoe UI" pitchFamily="34" charset="-120"/>
              </a:rPr>
              <a:t> de la </a:t>
            </a:r>
            <a:r>
              <a:rPr lang="en-US" b="1" dirty="0" err="1">
                <a:solidFill>
                  <a:schemeClr val="bg1"/>
                </a:solidFill>
                <a:latin typeface="+mj-lt"/>
                <a:ea typeface="Segoe UI" pitchFamily="34" charset="-122"/>
                <a:cs typeface="Segoe UI" pitchFamily="34" charset="-120"/>
              </a:rPr>
              <a:t>distribución</a:t>
            </a:r>
            <a:r>
              <a:rPr lang="en-US" b="1" dirty="0">
                <a:solidFill>
                  <a:schemeClr val="bg1"/>
                </a:solidFill>
                <a:latin typeface="+mj-lt"/>
                <a:ea typeface="Segoe UI" pitchFamily="34" charset="-122"/>
                <a:cs typeface="Segoe UI" pitchFamily="34" charset="-120"/>
              </a:rPr>
              <a:t> del </a:t>
            </a:r>
            <a:r>
              <a:rPr lang="en-US" b="1" dirty="0" err="1">
                <a:solidFill>
                  <a:schemeClr val="bg1"/>
                </a:solidFill>
                <a:latin typeface="+mj-lt"/>
                <a:ea typeface="Segoe UI" pitchFamily="34" charset="-122"/>
                <a:cs typeface="Segoe UI" pitchFamily="34" charset="-120"/>
              </a:rPr>
              <a:t>riesgo</a:t>
            </a:r>
            <a:r>
              <a:rPr lang="en-US" b="1" dirty="0">
                <a:solidFill>
                  <a:schemeClr val="bg1"/>
                </a:solidFill>
                <a:latin typeface="+mj-lt"/>
                <a:ea typeface="Segoe UI" pitchFamily="34" charset="-122"/>
                <a:cs typeface="Segoe UI" pitchFamily="34" charset="-120"/>
              </a:rPr>
              <a:t> (</a:t>
            </a:r>
            <a:r>
              <a:rPr lang="en-US" b="1" dirty="0" err="1">
                <a:solidFill>
                  <a:schemeClr val="bg1"/>
                </a:solidFill>
                <a:latin typeface="+mj-lt"/>
                <a:ea typeface="Segoe UI" pitchFamily="34" charset="-122"/>
                <a:cs typeface="Segoe UI" pitchFamily="34" charset="-120"/>
              </a:rPr>
              <a:t>reincidencia</a:t>
            </a:r>
            <a:r>
              <a:rPr lang="en-US" b="1" dirty="0">
                <a:solidFill>
                  <a:schemeClr val="bg1"/>
                </a:solidFill>
                <a:latin typeface="+mj-lt"/>
                <a:ea typeface="Segoe UI" pitchFamily="34" charset="-122"/>
                <a:cs typeface="Segoe UI" pitchFamily="34" charset="-120"/>
              </a:rPr>
              <a:t>)</a:t>
            </a:r>
          </a:p>
          <a:p>
            <a:pPr marL="182880"/>
            <a:r>
              <a:rPr lang="en-US" dirty="0">
                <a:solidFill>
                  <a:schemeClr val="bg1"/>
                </a:solidFill>
                <a:latin typeface="+mj-lt"/>
                <a:ea typeface="Segoe UI" pitchFamily="34" charset="-122"/>
                <a:cs typeface="Segoe UI" pitchFamily="34" charset="-120"/>
              </a:rPr>
              <a:t>Se </a:t>
            </a:r>
            <a:r>
              <a:rPr lang="en-US" dirty="0" err="1">
                <a:solidFill>
                  <a:schemeClr val="bg1"/>
                </a:solidFill>
                <a:latin typeface="+mj-lt"/>
                <a:ea typeface="Segoe UI" pitchFamily="34" charset="-122"/>
                <a:cs typeface="Segoe UI" pitchFamily="34" charset="-120"/>
              </a:rPr>
              <a:t>evalúa</a:t>
            </a:r>
            <a:r>
              <a:rPr lang="en-US" dirty="0">
                <a:solidFill>
                  <a:schemeClr val="bg1"/>
                </a:solidFill>
                <a:latin typeface="+mj-lt"/>
                <a:ea typeface="Segoe UI" pitchFamily="34" charset="-122"/>
                <a:cs typeface="Segoe UI" pitchFamily="34" charset="-12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+mj-lt"/>
                <a:ea typeface="Segoe UI" pitchFamily="34" charset="-122"/>
                <a:cs typeface="Segoe UI" pitchFamily="34" charset="-120"/>
              </a:rPr>
              <a:t>cómo</a:t>
            </a:r>
            <a:r>
              <a:rPr lang="en-US" dirty="0">
                <a:solidFill>
                  <a:schemeClr val="bg1"/>
                </a:solidFill>
                <a:latin typeface="+mj-lt"/>
                <a:ea typeface="Segoe UI" pitchFamily="34" charset="-122"/>
                <a:cs typeface="Segoe UI" pitchFamily="34" charset="-120"/>
              </a:rPr>
              <a:t> el </a:t>
            </a:r>
            <a:r>
              <a:rPr lang="en-US" dirty="0" err="1">
                <a:solidFill>
                  <a:schemeClr val="bg1"/>
                </a:solidFill>
                <a:latin typeface="+mj-lt"/>
                <a:ea typeface="Segoe UI" pitchFamily="34" charset="-122"/>
                <a:cs typeface="Segoe UI" pitchFamily="34" charset="-120"/>
              </a:rPr>
              <a:t>sistema</a:t>
            </a:r>
            <a:r>
              <a:rPr lang="en-US" dirty="0">
                <a:solidFill>
                  <a:schemeClr val="bg1"/>
                </a:solidFill>
                <a:latin typeface="+mj-lt"/>
                <a:ea typeface="Segoe UI" pitchFamily="34" charset="-122"/>
                <a:cs typeface="Segoe UI" pitchFamily="34" charset="-12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+mj-lt"/>
                <a:ea typeface="Segoe UI" pitchFamily="34" charset="-122"/>
                <a:cs typeface="Segoe UI" pitchFamily="34" charset="-120"/>
              </a:rPr>
              <a:t>asigna</a:t>
            </a:r>
            <a:r>
              <a:rPr lang="en-US" dirty="0">
                <a:solidFill>
                  <a:schemeClr val="bg1"/>
                </a:solidFill>
                <a:latin typeface="+mj-lt"/>
                <a:ea typeface="Segoe UI" pitchFamily="34" charset="-122"/>
                <a:cs typeface="Segoe UI" pitchFamily="34" charset="-12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+mj-lt"/>
                <a:ea typeface="Segoe UI" pitchFamily="34" charset="-122"/>
                <a:cs typeface="Segoe UI" pitchFamily="34" charset="-120"/>
              </a:rPr>
              <a:t>puntajes</a:t>
            </a:r>
            <a:r>
              <a:rPr lang="en-US" dirty="0">
                <a:solidFill>
                  <a:schemeClr val="bg1"/>
                </a:solidFill>
                <a:latin typeface="+mj-lt"/>
                <a:ea typeface="Segoe UI" pitchFamily="34" charset="-122"/>
                <a:cs typeface="Segoe UI" pitchFamily="34" charset="-12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+mj-lt"/>
                <a:ea typeface="Segoe UI" pitchFamily="34" charset="-122"/>
                <a:cs typeface="Segoe UI" pitchFamily="34" charset="-120"/>
              </a:rPr>
              <a:t>según</a:t>
            </a:r>
            <a:r>
              <a:rPr lang="en-US" dirty="0">
                <a:solidFill>
                  <a:schemeClr val="bg1"/>
                </a:solidFill>
                <a:latin typeface="+mj-lt"/>
                <a:ea typeface="Segoe UI" pitchFamily="34" charset="-122"/>
                <a:cs typeface="Segoe UI" pitchFamily="34" charset="-120"/>
              </a:rPr>
              <a:t> la </a:t>
            </a:r>
            <a:r>
              <a:rPr lang="en-US" dirty="0" err="1">
                <a:solidFill>
                  <a:schemeClr val="bg1"/>
                </a:solidFill>
                <a:latin typeface="+mj-lt"/>
                <a:ea typeface="Segoe UI" pitchFamily="34" charset="-122"/>
                <a:cs typeface="Segoe UI" pitchFamily="34" charset="-120"/>
              </a:rPr>
              <a:t>etnia</a:t>
            </a:r>
            <a:r>
              <a:rPr lang="en-US" dirty="0">
                <a:solidFill>
                  <a:schemeClr val="bg1"/>
                </a:solidFill>
                <a:latin typeface="+mj-lt"/>
                <a:ea typeface="Segoe UI" pitchFamily="34" charset="-122"/>
                <a:cs typeface="Segoe UI" pitchFamily="34" charset="-12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+mj-lt"/>
                <a:ea typeface="Segoe UI" pitchFamily="34" charset="-122"/>
                <a:cs typeface="Segoe UI" pitchFamily="34" charset="-120"/>
              </a:rPr>
              <a:t>centrando</a:t>
            </a:r>
            <a:r>
              <a:rPr lang="en-US" dirty="0">
                <a:solidFill>
                  <a:schemeClr val="bg1"/>
                </a:solidFill>
                <a:latin typeface="+mj-lt"/>
                <a:ea typeface="Segoe UI" pitchFamily="34" charset="-122"/>
                <a:cs typeface="Segoe UI" pitchFamily="34" charset="-120"/>
              </a:rPr>
              <a:t> el </a:t>
            </a:r>
            <a:r>
              <a:rPr lang="en-US" dirty="0" err="1">
                <a:solidFill>
                  <a:schemeClr val="bg1"/>
                </a:solidFill>
                <a:latin typeface="+mj-lt"/>
                <a:ea typeface="Segoe UI" pitchFamily="34" charset="-122"/>
                <a:cs typeface="Segoe UI" pitchFamily="34" charset="-120"/>
              </a:rPr>
              <a:t>estudio</a:t>
            </a:r>
            <a:r>
              <a:rPr lang="en-US" dirty="0">
                <a:solidFill>
                  <a:schemeClr val="bg1"/>
                </a:solidFill>
                <a:latin typeface="+mj-lt"/>
                <a:ea typeface="Segoe UI" pitchFamily="34" charset="-122"/>
                <a:cs typeface="Segoe UI" pitchFamily="34" charset="-120"/>
              </a:rPr>
              <a:t> en las variables </a:t>
            </a:r>
            <a:r>
              <a:rPr lang="en-US" b="1" dirty="0" err="1">
                <a:solidFill>
                  <a:schemeClr val="bg1"/>
                </a:solidFill>
                <a:latin typeface="+mj-lt"/>
                <a:ea typeface="Segoe UI" pitchFamily="34" charset="-122"/>
                <a:cs typeface="Segoe UI" pitchFamily="34" charset="-120"/>
              </a:rPr>
              <a:t>DecileScore</a:t>
            </a:r>
            <a:r>
              <a:rPr lang="en-US" dirty="0">
                <a:solidFill>
                  <a:schemeClr val="bg1"/>
                </a:solidFill>
                <a:latin typeface="+mj-lt"/>
                <a:ea typeface="Segoe UI" pitchFamily="34" charset="-122"/>
                <a:cs typeface="Segoe UI" pitchFamily="34" charset="-120"/>
              </a:rPr>
              <a:t> y </a:t>
            </a:r>
            <a:r>
              <a:rPr lang="en-US" b="1" dirty="0" err="1">
                <a:solidFill>
                  <a:schemeClr val="bg1"/>
                </a:solidFill>
                <a:latin typeface="+mj-lt"/>
                <a:ea typeface="Segoe UI" pitchFamily="34" charset="-122"/>
                <a:cs typeface="Segoe UI" pitchFamily="34" charset="-120"/>
              </a:rPr>
              <a:t>RawScore</a:t>
            </a:r>
            <a:r>
              <a:rPr lang="en-US" dirty="0">
                <a:solidFill>
                  <a:schemeClr val="bg1"/>
                </a:solidFill>
                <a:latin typeface="+mj-lt"/>
                <a:ea typeface="Segoe UI" pitchFamily="34" charset="-122"/>
                <a:cs typeface="Segoe UI" pitchFamily="34" charset="-120"/>
              </a:rPr>
              <a:t>.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8" name="Text 2"/>
          <p:cNvSpPr/>
          <p:nvPr/>
        </p:nvSpPr>
        <p:spPr>
          <a:xfrm>
            <a:off x="762000" y="1428750"/>
            <a:ext cx="2176272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endParaRPr lang="en-US" sz="1200" dirty="0">
              <a:latin typeface="+mj-lt"/>
            </a:endParaRPr>
          </a:p>
        </p:txBody>
      </p:sp>
      <p:sp>
        <p:nvSpPr>
          <p:cNvPr id="19" name="Text 3"/>
          <p:cNvSpPr/>
          <p:nvPr/>
        </p:nvSpPr>
        <p:spPr>
          <a:xfrm>
            <a:off x="600710" y="2219325"/>
            <a:ext cx="4323715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 err="1">
                <a:solidFill>
                  <a:srgbClr val="24437A"/>
                </a:solidFill>
                <a:latin typeface="+mj-lt"/>
                <a:ea typeface="Segoe UI" pitchFamily="34" charset="-122"/>
                <a:cs typeface="Segoe UI" pitchFamily="34" charset="-120"/>
              </a:rPr>
              <a:t>Distribución</a:t>
            </a:r>
            <a:r>
              <a:rPr lang="en-US" sz="2000" b="1" dirty="0">
                <a:solidFill>
                  <a:srgbClr val="24437A"/>
                </a:solidFill>
                <a:latin typeface="+mj-lt"/>
                <a:ea typeface="Segoe UI" pitchFamily="34" charset="-122"/>
                <a:cs typeface="Segoe UI" pitchFamily="34" charset="-120"/>
              </a:rPr>
              <a:t> de </a:t>
            </a:r>
            <a:r>
              <a:rPr lang="en-US" sz="2000" b="1" dirty="0" err="1">
                <a:solidFill>
                  <a:srgbClr val="24437A"/>
                </a:solidFill>
                <a:latin typeface="+mj-lt"/>
                <a:ea typeface="Segoe UI" pitchFamily="34" charset="-122"/>
                <a:cs typeface="Segoe UI" pitchFamily="34" charset="-120"/>
              </a:rPr>
              <a:t>DecileScore</a:t>
            </a:r>
            <a:r>
              <a:rPr lang="en-US" sz="2000" b="1" dirty="0">
                <a:solidFill>
                  <a:srgbClr val="24437A"/>
                </a:solidFill>
                <a:latin typeface="+mj-lt"/>
                <a:ea typeface="Segoe UI" pitchFamily="34" charset="-122"/>
                <a:cs typeface="Segoe UI" pitchFamily="34" charset="-120"/>
              </a:rPr>
              <a:t> (1-10)</a:t>
            </a:r>
            <a:endParaRPr lang="en-US" sz="2000" dirty="0">
              <a:solidFill>
                <a:srgbClr val="24437A"/>
              </a:solidFill>
              <a:latin typeface="+mj-lt"/>
            </a:endParaRPr>
          </a:p>
        </p:txBody>
      </p:sp>
      <p:sp>
        <p:nvSpPr>
          <p:cNvPr id="23" name="Text 7"/>
          <p:cNvSpPr/>
          <p:nvPr/>
        </p:nvSpPr>
        <p:spPr>
          <a:xfrm>
            <a:off x="762000" y="4447581"/>
            <a:ext cx="5393327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+mj-lt"/>
                <a:ea typeface="Segoe UI" pitchFamily="34" charset="-122"/>
                <a:cs typeface="Segoe UI" pitchFamily="34" charset="-120"/>
              </a:rPr>
              <a:t>En la etnia 'African-American', la distribución es </a:t>
            </a:r>
            <a:r>
              <a:rPr lang="en-US" sz="1400" b="1" dirty="0" err="1">
                <a:solidFill>
                  <a:srgbClr val="000000"/>
                </a:solidFill>
                <a:latin typeface="+mj-lt"/>
                <a:ea typeface="Segoe UI" pitchFamily="34" charset="-122"/>
                <a:cs typeface="Segoe UI" pitchFamily="34" charset="-120"/>
              </a:rPr>
              <a:t>constante</a:t>
            </a:r>
            <a:r>
              <a:rPr lang="en-US" sz="1400" dirty="0">
                <a:solidFill>
                  <a:srgbClr val="000000"/>
                </a:solidFill>
                <a:latin typeface="+mj-lt"/>
                <a:ea typeface="Segoe UI" pitchFamily="34" charset="-122"/>
                <a:cs typeface="Segoe UI" pitchFamily="34" charset="-120"/>
              </a:rPr>
              <a:t>.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+mj-lt"/>
                <a:ea typeface="Segoe UI" pitchFamily="34" charset="-122"/>
                <a:cs typeface="Segoe UI" pitchFamily="34" charset="-120"/>
              </a:rPr>
              <a:t>En el resto, la tendencia es </a:t>
            </a:r>
            <a:r>
              <a:rPr lang="en-US" sz="1400" b="1" dirty="0">
                <a:solidFill>
                  <a:srgbClr val="000000"/>
                </a:solidFill>
                <a:latin typeface="+mj-lt"/>
                <a:ea typeface="Segoe UI" pitchFamily="34" charset="-122"/>
                <a:cs typeface="Segoe UI" pitchFamily="34" charset="-120"/>
              </a:rPr>
              <a:t>descendente</a:t>
            </a:r>
            <a:r>
              <a:rPr lang="en-US" sz="1400" dirty="0">
                <a:solidFill>
                  <a:srgbClr val="000000"/>
                </a:solidFill>
                <a:latin typeface="+mj-lt"/>
                <a:ea typeface="Segoe UI" pitchFamily="34" charset="-122"/>
                <a:cs typeface="Segoe UI" pitchFamily="34" charset="-120"/>
              </a:rPr>
              <a:t> a medida que aumenta el DecileScore.</a:t>
            </a:r>
            <a:endParaRPr lang="en-US" sz="1400" dirty="0">
              <a:latin typeface="+mj-lt"/>
            </a:endParaRPr>
          </a:p>
        </p:txBody>
      </p:sp>
      <p:sp>
        <p:nvSpPr>
          <p:cNvPr id="24" name="Text 8"/>
          <p:cNvSpPr/>
          <p:nvPr/>
        </p:nvSpPr>
        <p:spPr>
          <a:xfrm>
            <a:off x="7267577" y="2219325"/>
            <a:ext cx="3476625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24437A"/>
                </a:solidFill>
                <a:latin typeface="+mj-lt"/>
                <a:cs typeface="Segoe UI" pitchFamily="34" charset="-120"/>
              </a:rPr>
              <a:t>Distribución de RawScore</a:t>
            </a:r>
          </a:p>
        </p:txBody>
      </p:sp>
      <p:sp>
        <p:nvSpPr>
          <p:cNvPr id="25" name="Text 9"/>
          <p:cNvSpPr/>
          <p:nvPr/>
        </p:nvSpPr>
        <p:spPr>
          <a:xfrm>
            <a:off x="6345827" y="4447581"/>
            <a:ext cx="51435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+mj-lt"/>
                <a:ea typeface="Segoe UI" pitchFamily="34" charset="-122"/>
                <a:cs typeface="Segoe UI" pitchFamily="34" charset="-120"/>
              </a:rPr>
              <a:t>Desplazamiento de la campana:</a:t>
            </a:r>
            <a:r>
              <a:rPr lang="en-US" sz="1400" dirty="0">
                <a:solidFill>
                  <a:srgbClr val="000000"/>
                </a:solidFill>
                <a:latin typeface="+mj-lt"/>
                <a:ea typeface="Segoe UI" pitchFamily="34" charset="-122"/>
                <a:cs typeface="Segoe UI" pitchFamily="34" charset="-120"/>
              </a:rPr>
              <a:t> Los individuos afroamericanos presentan una curva desplazada hacia la </a:t>
            </a:r>
            <a:r>
              <a:rPr lang="en-US" sz="1400" b="1" dirty="0">
                <a:solidFill>
                  <a:srgbClr val="000000"/>
                </a:solidFill>
                <a:latin typeface="+mj-lt"/>
                <a:ea typeface="Segoe UI" pitchFamily="34" charset="-122"/>
                <a:cs typeface="Segoe UI" pitchFamily="34" charset="-120"/>
              </a:rPr>
              <a:t>derecha</a:t>
            </a:r>
            <a:r>
              <a:rPr lang="en-US" sz="1400" dirty="0">
                <a:solidFill>
                  <a:srgbClr val="000000"/>
                </a:solidFill>
                <a:latin typeface="+mj-lt"/>
                <a:ea typeface="Segoe UI" pitchFamily="34" charset="-122"/>
                <a:cs typeface="Segoe UI" pitchFamily="34" charset="-120"/>
              </a:rPr>
              <a:t>, recibiendo sistemáticamente puntajes más altos que el resto de grupos.</a:t>
            </a:r>
            <a:endParaRPr lang="en-US" sz="1400" dirty="0">
              <a:latin typeface="+mj-lt"/>
            </a:endParaRPr>
          </a:p>
        </p:txBody>
      </p:sp>
      <p:sp>
        <p:nvSpPr>
          <p:cNvPr id="26" name="Text 10"/>
          <p:cNvSpPr/>
          <p:nvPr/>
        </p:nvSpPr>
        <p:spPr>
          <a:xfrm>
            <a:off x="3619499" y="5731379"/>
            <a:ext cx="5143501" cy="457199"/>
          </a:xfrm>
          <a:prstGeom prst="roundRect">
            <a:avLst/>
          </a:prstGeom>
          <a:solidFill>
            <a:srgbClr val="FF5050"/>
          </a:solidFill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+mj-lt"/>
                <a:ea typeface="Segoe UI" pitchFamily="34" charset="-122"/>
                <a:cs typeface="Segoe UI" pitchFamily="34" charset="-120"/>
              </a:rPr>
              <a:t>Hipótesis: Penalización superior por raza.</a:t>
            </a:r>
            <a:endParaRPr lang="en-US" sz="20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543E1CF7-3DD7-7768-11B4-0E4A5F9CD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557" y="2814936"/>
            <a:ext cx="5400040" cy="1547515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D03C7281-F228-AADE-CA39-CFF3F175E6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10" y="2950553"/>
            <a:ext cx="5317490" cy="1345005"/>
          </a:xfrm>
          <a:prstGeom prst="rect">
            <a:avLst/>
          </a:prstGeom>
        </p:spPr>
      </p:pic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42FF3BF0-A557-BCD1-ECCE-AE346E4520F7}"/>
              </a:ext>
            </a:extLst>
          </p:cNvPr>
          <p:cNvSpPr txBox="1">
            <a:spLocks/>
          </p:cNvSpPr>
          <p:nvPr/>
        </p:nvSpPr>
        <p:spPr>
          <a:xfrm>
            <a:off x="3547872" y="6582470"/>
            <a:ext cx="5096256" cy="365125"/>
          </a:xfrm>
          <a:prstGeom prst="rect">
            <a:avLst/>
          </a:prstGeom>
        </p:spPr>
        <p:txBody>
          <a:bodyPr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200" dirty="0">
                <a:solidFill>
                  <a:srgbClr val="B9B9B9"/>
                </a:solidFill>
                <a:latin typeface="+mj-lt"/>
              </a:rPr>
              <a:t>NUCLIO DIGITAL SCHOOL - MÁSTER DATA ANALYTICS - TFM - GRUPO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E8DAA9-3693-779D-FEF7-B6B29C145B36}"/>
              </a:ext>
            </a:extLst>
          </p:cNvPr>
          <p:cNvSpPr/>
          <p:nvPr/>
        </p:nvSpPr>
        <p:spPr>
          <a:xfrm>
            <a:off x="0" y="-1"/>
            <a:ext cx="12192000" cy="766167"/>
          </a:xfrm>
          <a:prstGeom prst="rect">
            <a:avLst/>
          </a:prstGeom>
          <a:solidFill>
            <a:srgbClr val="2443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  <a:latin typeface="+mj-lt"/>
                <a:ea typeface="Segoe UI" pitchFamily="34" charset="-122"/>
                <a:cs typeface="Segoe UI" pitchFamily="34" charset="-120"/>
              </a:rPr>
              <a:t>DETECCIÓN DE SESGOS: ANÁLISIS POR ETNIA</a:t>
            </a:r>
            <a:endParaRPr lang="en-US" sz="28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0E9D0E45-60F6-0C8A-F2A5-385BF2532E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alphaModFix amt="6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8128" y="78457"/>
            <a:ext cx="591924" cy="590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Escuela de Formación Digital | Nuclio Digital School">
            <a:extLst>
              <a:ext uri="{FF2B5EF4-FFF2-40B4-BE49-F238E27FC236}">
                <a16:creationId xmlns:a16="http://schemas.microsoft.com/office/drawing/2014/main" id="{549866FE-0CB1-12FA-F78F-0D7AA56AD1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alphaModFix amt="6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261533" y="77226"/>
            <a:ext cx="591924" cy="591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0"/>
          <p:cNvSpPr/>
          <p:nvPr/>
        </p:nvSpPr>
        <p:spPr>
          <a:xfrm>
            <a:off x="571500" y="381000"/>
            <a:ext cx="15910560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19" name="Text 1"/>
          <p:cNvSpPr/>
          <p:nvPr/>
        </p:nvSpPr>
        <p:spPr>
          <a:xfrm>
            <a:off x="1563112" y="1415279"/>
            <a:ext cx="384429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437A"/>
                </a:solidFill>
                <a:ea typeface="Segoe UI" pitchFamily="34" charset="-122"/>
                <a:cs typeface="Segoe UI" pitchFamily="34" charset="-120"/>
              </a:rPr>
              <a:t>Matriz de </a:t>
            </a:r>
            <a:r>
              <a:rPr lang="en-US" sz="2000" b="1" dirty="0" err="1">
                <a:solidFill>
                  <a:srgbClr val="24437A"/>
                </a:solidFill>
                <a:ea typeface="Segoe UI" pitchFamily="34" charset="-122"/>
                <a:cs typeface="Segoe UI" pitchFamily="34" charset="-120"/>
              </a:rPr>
              <a:t>correlación</a:t>
            </a:r>
            <a:r>
              <a:rPr lang="en-US" sz="2000" b="1" dirty="0">
                <a:solidFill>
                  <a:srgbClr val="24437A"/>
                </a:solidFill>
                <a:ea typeface="Segoe UI" pitchFamily="34" charset="-122"/>
                <a:cs typeface="Segoe UI" pitchFamily="34" charset="-120"/>
              </a:rPr>
              <a:t> de Pearson</a:t>
            </a:r>
            <a:endParaRPr lang="en-US" sz="2000" dirty="0">
              <a:solidFill>
                <a:srgbClr val="24437A"/>
              </a:solidFill>
            </a:endParaRPr>
          </a:p>
        </p:txBody>
      </p:sp>
      <p:sp>
        <p:nvSpPr>
          <p:cNvPr id="32" name="Text 14"/>
          <p:cNvSpPr/>
          <p:nvPr/>
        </p:nvSpPr>
        <p:spPr>
          <a:xfrm>
            <a:off x="809625" y="2962275"/>
            <a:ext cx="5351264" cy="2590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endParaRPr lang="en-US" sz="1200" dirty="0">
              <a:solidFill>
                <a:srgbClr val="000000"/>
              </a:solidFill>
              <a:ea typeface="Segoe UI" pitchFamily="34" charset="-122"/>
              <a:cs typeface="Segoe UI" pitchFamily="34" charset="-120"/>
            </a:endParaRPr>
          </a:p>
          <a:p>
            <a:pPr marL="0" indent="0">
              <a:buNone/>
            </a:pPr>
            <a:endParaRPr lang="en-US" sz="1200" dirty="0">
              <a:solidFill>
                <a:srgbClr val="000000"/>
              </a:solidFill>
              <a:ea typeface="Segoe UI" pitchFamily="34" charset="-122"/>
              <a:cs typeface="Segoe UI" pitchFamily="34" charset="-120"/>
            </a:endParaRPr>
          </a:p>
          <a:p>
            <a:pPr marL="0" indent="0">
              <a:buNone/>
            </a:pPr>
            <a:endParaRPr lang="en-US" sz="1200" dirty="0">
              <a:solidFill>
                <a:srgbClr val="000000"/>
              </a:solidFill>
              <a:ea typeface="Segoe UI" pitchFamily="34" charset="-122"/>
              <a:cs typeface="Segoe UI" pitchFamily="34" charset="-120"/>
            </a:endParaRPr>
          </a:p>
          <a:p>
            <a:pPr marL="0" indent="0">
              <a:buNone/>
            </a:pPr>
            <a:endParaRPr lang="en-US" sz="1200" dirty="0">
              <a:solidFill>
                <a:srgbClr val="000000"/>
              </a:solidFill>
              <a:ea typeface="Segoe UI" pitchFamily="34" charset="-122"/>
              <a:cs typeface="Segoe UI" pitchFamily="34" charset="-120"/>
            </a:endParaRPr>
          </a:p>
          <a:p>
            <a:pPr marL="0" indent="0">
              <a:buNone/>
            </a:pPr>
            <a:endParaRPr lang="en-US" sz="1200" dirty="0">
              <a:solidFill>
                <a:srgbClr val="000000"/>
              </a:solidFill>
              <a:ea typeface="Segoe UI" pitchFamily="34" charset="-122"/>
              <a:cs typeface="Segoe UI" pitchFamily="34" charset="-120"/>
            </a:endParaRPr>
          </a:p>
          <a:p>
            <a:pPr marL="0" indent="0">
              <a:buNone/>
            </a:pPr>
            <a:endParaRPr lang="en-US" sz="1200" dirty="0">
              <a:solidFill>
                <a:srgbClr val="000000"/>
              </a:solidFill>
              <a:ea typeface="Segoe UI" pitchFamily="34" charset="-122"/>
              <a:cs typeface="Segoe UI" pitchFamily="34" charset="-120"/>
            </a:endParaRPr>
          </a:p>
          <a:p>
            <a:pPr marL="0" indent="0">
              <a:buNone/>
            </a:pPr>
            <a:endParaRPr lang="en-US" sz="1200" dirty="0">
              <a:solidFill>
                <a:srgbClr val="000000"/>
              </a:solidFill>
              <a:ea typeface="Segoe UI" pitchFamily="34" charset="-122"/>
              <a:cs typeface="Segoe UI" pitchFamily="34" charset="-120"/>
            </a:endParaRPr>
          </a:p>
          <a:p>
            <a:pPr marL="0" indent="0">
              <a:buNone/>
            </a:pPr>
            <a:endParaRPr lang="en-US" sz="1200" dirty="0">
              <a:solidFill>
                <a:srgbClr val="000000"/>
              </a:solidFill>
              <a:ea typeface="Segoe UI" pitchFamily="34" charset="-122"/>
              <a:cs typeface="Segoe UI" pitchFamily="34" charset="-120"/>
            </a:endParaRPr>
          </a:p>
          <a:p>
            <a:pPr marL="0" indent="0">
              <a:buNone/>
            </a:pPr>
            <a:endParaRPr lang="en-US" sz="1200" dirty="0">
              <a:solidFill>
                <a:srgbClr val="000000"/>
              </a:solidFill>
              <a:ea typeface="Segoe UI" pitchFamily="34" charset="-122"/>
              <a:cs typeface="Segoe UI" pitchFamily="34" charset="-120"/>
            </a:endParaRPr>
          </a:p>
          <a:p>
            <a:pPr marL="0" indent="0">
              <a:buNone/>
            </a:pPr>
            <a:endParaRPr lang="en-US" sz="1200" dirty="0">
              <a:solidFill>
                <a:srgbClr val="000000"/>
              </a:solidFill>
              <a:ea typeface="Segoe UI" pitchFamily="34" charset="-122"/>
              <a:cs typeface="Segoe UI" pitchFamily="34" charset="-120"/>
            </a:endParaRPr>
          </a:p>
          <a:p>
            <a:pPr marL="0" indent="0">
              <a:buNone/>
            </a:pPr>
            <a:endParaRPr lang="en-US" sz="1200" dirty="0">
              <a:solidFill>
                <a:srgbClr val="000000"/>
              </a:solidFill>
              <a:ea typeface="Segoe UI" pitchFamily="34" charset="-122"/>
              <a:cs typeface="Segoe UI" pitchFamily="34" charset="-120"/>
            </a:endParaRPr>
          </a:p>
          <a:p>
            <a:pPr marL="0" indent="0">
              <a:buNone/>
            </a:pPr>
            <a:endParaRPr lang="en-US" sz="1200" dirty="0">
              <a:solidFill>
                <a:srgbClr val="000000"/>
              </a:solidFill>
              <a:ea typeface="Segoe UI" pitchFamily="34" charset="-122"/>
              <a:cs typeface="Segoe UI" pitchFamily="34" charset="-120"/>
            </a:endParaRPr>
          </a:p>
          <a:p>
            <a:pPr marL="0" indent="0">
              <a:buNone/>
            </a:pPr>
            <a:endParaRPr lang="en-US" sz="1200" dirty="0">
              <a:solidFill>
                <a:srgbClr val="000000"/>
              </a:solidFill>
              <a:ea typeface="Segoe UI" pitchFamily="34" charset="-122"/>
              <a:cs typeface="Segoe UI" pitchFamily="34" charset="-120"/>
            </a:endParaRPr>
          </a:p>
          <a:p>
            <a:pPr marL="0" indent="0">
              <a:buNone/>
            </a:pPr>
            <a:endParaRPr lang="en-US" sz="1200" dirty="0">
              <a:solidFill>
                <a:srgbClr val="000000"/>
              </a:solidFill>
              <a:ea typeface="Segoe UI" pitchFamily="34" charset="-122"/>
              <a:cs typeface="Segoe UI" pitchFamily="34" charset="-120"/>
            </a:endParaRPr>
          </a:p>
          <a:p>
            <a:pPr marL="0" indent="0">
              <a:buNone/>
            </a:pPr>
            <a:endParaRPr lang="en-US" sz="1200" dirty="0">
              <a:solidFill>
                <a:srgbClr val="000000"/>
              </a:solidFill>
              <a:ea typeface="Segoe UI" pitchFamily="34" charset="-122"/>
              <a:cs typeface="Segoe UI" pitchFamily="34" charset="-120"/>
            </a:endParaRPr>
          </a:p>
          <a:p>
            <a:pPr marL="0" indent="0">
              <a:buNone/>
            </a:pPr>
            <a:endParaRPr lang="en-US" sz="1200" dirty="0">
              <a:solidFill>
                <a:srgbClr val="000000"/>
              </a:solidFill>
              <a:ea typeface="Segoe UI" pitchFamily="34" charset="-122"/>
              <a:cs typeface="Segoe UI" pitchFamily="34" charset="-120"/>
            </a:endParaRPr>
          </a:p>
        </p:txBody>
      </p:sp>
      <p:sp>
        <p:nvSpPr>
          <p:cNvPr id="33" name="Text 15"/>
          <p:cNvSpPr/>
          <p:nvPr/>
        </p:nvSpPr>
        <p:spPr>
          <a:xfrm>
            <a:off x="7277100" y="1519237"/>
            <a:ext cx="41052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 err="1">
                <a:solidFill>
                  <a:srgbClr val="24437A"/>
                </a:solidFill>
                <a:ea typeface="Segoe UI" pitchFamily="34" charset="-122"/>
                <a:cs typeface="Segoe UI" pitchFamily="34" charset="-120"/>
              </a:rPr>
              <a:t>Distribución</a:t>
            </a:r>
            <a:r>
              <a:rPr lang="en-US" sz="2000" b="1" dirty="0">
                <a:solidFill>
                  <a:srgbClr val="24437A"/>
                </a:solidFill>
                <a:ea typeface="Segoe UI" pitchFamily="34" charset="-122"/>
                <a:cs typeface="Segoe UI" pitchFamily="34" charset="-120"/>
              </a:rPr>
              <a:t> de </a:t>
            </a:r>
            <a:r>
              <a:rPr lang="en-US" sz="2000" b="1" dirty="0" err="1">
                <a:solidFill>
                  <a:srgbClr val="24437A"/>
                </a:solidFill>
                <a:ea typeface="Segoe UI" pitchFamily="34" charset="-122"/>
                <a:cs typeface="Segoe UI" pitchFamily="34" charset="-120"/>
              </a:rPr>
              <a:t>riesgo</a:t>
            </a:r>
            <a:r>
              <a:rPr lang="en-US" sz="2000" b="1" dirty="0">
                <a:solidFill>
                  <a:srgbClr val="24437A"/>
                </a:solidFill>
                <a:ea typeface="Segoe UI" pitchFamily="34" charset="-122"/>
                <a:cs typeface="Segoe UI" pitchFamily="34" charset="-120"/>
              </a:rPr>
              <a:t> de </a:t>
            </a:r>
            <a:r>
              <a:rPr lang="en-US" sz="2000" b="1" dirty="0" err="1">
                <a:solidFill>
                  <a:srgbClr val="24437A"/>
                </a:solidFill>
                <a:ea typeface="Segoe UI" pitchFamily="34" charset="-122"/>
                <a:cs typeface="Segoe UI" pitchFamily="34" charset="-120"/>
              </a:rPr>
              <a:t>violencia</a:t>
            </a:r>
            <a:endParaRPr lang="en-US" sz="2000" dirty="0">
              <a:solidFill>
                <a:srgbClr val="24437A"/>
              </a:solidFill>
            </a:endParaRPr>
          </a:p>
        </p:txBody>
      </p:sp>
      <p:sp>
        <p:nvSpPr>
          <p:cNvPr id="34" name="Text 16"/>
          <p:cNvSpPr/>
          <p:nvPr/>
        </p:nvSpPr>
        <p:spPr>
          <a:xfrm>
            <a:off x="6922889" y="2952750"/>
            <a:ext cx="4459486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CF2E90B7-D61A-DC26-0A6F-2C83F95B8F95}"/>
              </a:ext>
            </a:extLst>
          </p:cNvPr>
          <p:cNvSpPr txBox="1"/>
          <p:nvPr/>
        </p:nvSpPr>
        <p:spPr>
          <a:xfrm>
            <a:off x="1251590" y="4559945"/>
            <a:ext cx="41558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  <a:ea typeface="Segoe UI" pitchFamily="34" charset="-122"/>
                <a:cs typeface="Segoe UI" pitchFamily="34" charset="-120"/>
              </a:rPr>
              <a:t>La </a:t>
            </a:r>
            <a:r>
              <a:rPr lang="en-US" b="1" dirty="0" err="1">
                <a:solidFill>
                  <a:srgbClr val="000000"/>
                </a:solidFill>
                <a:ea typeface="Segoe UI" pitchFamily="34" charset="-122"/>
                <a:cs typeface="Segoe UI" pitchFamily="34" charset="-120"/>
              </a:rPr>
              <a:t>alta</a:t>
            </a:r>
            <a:r>
              <a:rPr lang="en-US" b="1" dirty="0">
                <a:solidFill>
                  <a:srgbClr val="000000"/>
                </a:solidFill>
                <a:ea typeface="Segoe UI" pitchFamily="34" charset="-122"/>
                <a:cs typeface="Segoe UI" pitchFamily="34" charset="-120"/>
              </a:rPr>
              <a:t> </a:t>
            </a:r>
            <a:r>
              <a:rPr lang="en-US" b="1" dirty="0" err="1">
                <a:solidFill>
                  <a:srgbClr val="000000"/>
                </a:solidFill>
                <a:ea typeface="Segoe UI" pitchFamily="34" charset="-122"/>
                <a:cs typeface="Segoe UI" pitchFamily="34" charset="-120"/>
              </a:rPr>
              <a:t>correlación</a:t>
            </a:r>
            <a:r>
              <a:rPr lang="en-US" b="1" dirty="0">
                <a:solidFill>
                  <a:srgbClr val="000000"/>
                </a:solidFill>
                <a:ea typeface="Segoe UI" pitchFamily="34" charset="-122"/>
                <a:cs typeface="Segoe UI" pitchFamily="34" charset="-120"/>
              </a:rPr>
              <a:t> (81,3%)</a:t>
            </a:r>
            <a:r>
              <a:rPr lang="en-US" dirty="0">
                <a:solidFill>
                  <a:srgbClr val="000000"/>
                </a:solidFill>
                <a:ea typeface="Segoe UI" pitchFamily="34" charset="-122"/>
                <a:cs typeface="Segoe UI" pitchFamily="34" charset="-120"/>
              </a:rPr>
              <a:t> entre el </a:t>
            </a:r>
            <a:r>
              <a:rPr lang="en-US" dirty="0" err="1">
                <a:solidFill>
                  <a:srgbClr val="000000"/>
                </a:solidFill>
                <a:ea typeface="Segoe UI" pitchFamily="34" charset="-122"/>
                <a:cs typeface="Segoe UI" pitchFamily="34" charset="-120"/>
              </a:rPr>
              <a:t>riesgo</a:t>
            </a:r>
            <a:r>
              <a:rPr lang="en-US" dirty="0">
                <a:solidFill>
                  <a:srgbClr val="000000"/>
                </a:solidFill>
                <a:ea typeface="Segoe UI" pitchFamily="34" charset="-122"/>
                <a:cs typeface="Segoe UI" pitchFamily="34" charset="-120"/>
              </a:rPr>
              <a:t> de </a:t>
            </a:r>
            <a:r>
              <a:rPr lang="en-US" dirty="0" err="1">
                <a:solidFill>
                  <a:srgbClr val="000000"/>
                </a:solidFill>
                <a:ea typeface="Segoe UI" pitchFamily="34" charset="-122"/>
                <a:cs typeface="Segoe UI" pitchFamily="34" charset="-120"/>
              </a:rPr>
              <a:t>reincidir</a:t>
            </a:r>
            <a:r>
              <a:rPr lang="en-US" dirty="0">
                <a:solidFill>
                  <a:srgbClr val="000000"/>
                </a:solidFill>
                <a:ea typeface="Segoe UI" pitchFamily="34" charset="-122"/>
                <a:cs typeface="Segoe UI" pitchFamily="34" charset="-120"/>
              </a:rPr>
              <a:t> y el de </a:t>
            </a:r>
            <a:r>
              <a:rPr lang="en-US" dirty="0" err="1">
                <a:solidFill>
                  <a:srgbClr val="000000"/>
                </a:solidFill>
                <a:ea typeface="Segoe UI" pitchFamily="34" charset="-122"/>
                <a:cs typeface="Segoe UI" pitchFamily="34" charset="-120"/>
              </a:rPr>
              <a:t>violencia</a:t>
            </a:r>
            <a:r>
              <a:rPr lang="en-US" dirty="0">
                <a:solidFill>
                  <a:srgbClr val="000000"/>
                </a:solidFill>
                <a:ea typeface="Segoe UI" pitchFamily="34" charset="-122"/>
                <a:cs typeface="Segoe UI" pitchFamily="34" charset="-120"/>
              </a:rPr>
              <a:t> indica que el </a:t>
            </a:r>
            <a:r>
              <a:rPr lang="en-US" dirty="0" err="1">
                <a:solidFill>
                  <a:srgbClr val="000000"/>
                </a:solidFill>
                <a:ea typeface="Segoe UI" pitchFamily="34" charset="-122"/>
                <a:cs typeface="Segoe UI" pitchFamily="34" charset="-120"/>
              </a:rPr>
              <a:t>segundo</a:t>
            </a:r>
            <a:r>
              <a:rPr lang="en-US" dirty="0">
                <a:solidFill>
                  <a:srgbClr val="000000"/>
                </a:solidFill>
                <a:ea typeface="Segoe UI" pitchFamily="34" charset="-122"/>
                <a:cs typeface="Segoe UI" pitchFamily="34" charset="-120"/>
              </a:rPr>
              <a:t> es un pilar </a:t>
            </a:r>
            <a:r>
              <a:rPr lang="en-US" dirty="0" err="1">
                <a:solidFill>
                  <a:srgbClr val="000000"/>
                </a:solidFill>
                <a:ea typeface="Segoe UI" pitchFamily="34" charset="-122"/>
                <a:cs typeface="Segoe UI" pitchFamily="34" charset="-120"/>
              </a:rPr>
              <a:t>crítico</a:t>
            </a:r>
            <a:r>
              <a:rPr lang="en-US" dirty="0">
                <a:solidFill>
                  <a:srgbClr val="000000"/>
                </a:solidFill>
                <a:ea typeface="Segoe UI" pitchFamily="34" charset="-122"/>
                <a:cs typeface="Segoe UI" pitchFamily="34" charset="-120"/>
              </a:rPr>
              <a:t> en la </a:t>
            </a:r>
            <a:r>
              <a:rPr lang="en-US" dirty="0" err="1">
                <a:solidFill>
                  <a:srgbClr val="000000"/>
                </a:solidFill>
                <a:ea typeface="Segoe UI" pitchFamily="34" charset="-122"/>
                <a:cs typeface="Segoe UI" pitchFamily="34" charset="-120"/>
              </a:rPr>
              <a:t>predicción</a:t>
            </a:r>
            <a:r>
              <a:rPr lang="en-US" dirty="0">
                <a:solidFill>
                  <a:srgbClr val="000000"/>
                </a:solidFill>
                <a:ea typeface="Segoe UI" pitchFamily="34" charset="-122"/>
                <a:cs typeface="Segoe UI" pitchFamily="34" charset="-120"/>
              </a:rPr>
              <a:t> final de COMPAS.</a:t>
            </a:r>
            <a:endParaRPr lang="en-US" dirty="0"/>
          </a:p>
        </p:txBody>
      </p:sp>
      <p:pic>
        <p:nvPicPr>
          <p:cNvPr id="37" name="Imagen 36">
            <a:extLst>
              <a:ext uri="{FF2B5EF4-FFF2-40B4-BE49-F238E27FC236}">
                <a16:creationId xmlns:a16="http://schemas.microsoft.com/office/drawing/2014/main" id="{AD016FD2-145A-56B5-E6A4-09554B03B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2264" y="1907313"/>
            <a:ext cx="2905125" cy="2449830"/>
          </a:xfrm>
          <a:prstGeom prst="rect">
            <a:avLst/>
          </a:prstGeom>
        </p:spPr>
      </p:pic>
      <p:pic>
        <p:nvPicPr>
          <p:cNvPr id="38" name="Imagen 37">
            <a:extLst>
              <a:ext uri="{FF2B5EF4-FFF2-40B4-BE49-F238E27FC236}">
                <a16:creationId xmlns:a16="http://schemas.microsoft.com/office/drawing/2014/main" id="{B124FB13-1BE2-F28D-0406-F0B5BDE9C8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3044" y="1900237"/>
            <a:ext cx="4943125" cy="2541315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581042A-D898-2D96-00AE-122A453802FE}"/>
              </a:ext>
            </a:extLst>
          </p:cNvPr>
          <p:cNvSpPr txBox="1">
            <a:spLocks/>
          </p:cNvSpPr>
          <p:nvPr/>
        </p:nvSpPr>
        <p:spPr>
          <a:xfrm>
            <a:off x="3547872" y="6608037"/>
            <a:ext cx="5096256" cy="365125"/>
          </a:xfrm>
          <a:prstGeom prst="rect">
            <a:avLst/>
          </a:prstGeom>
        </p:spPr>
        <p:txBody>
          <a:bodyPr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200">
                <a:solidFill>
                  <a:srgbClr val="B9B9B9"/>
                </a:solidFill>
              </a:rPr>
              <a:t>NUCLIO DIGITAL SCHOOL - MÁSTER DATA ANALYTICS - TFM - GRUPO 3</a:t>
            </a:r>
            <a:endParaRPr lang="es-ES" sz="1200" dirty="0">
              <a:solidFill>
                <a:srgbClr val="B9B9B9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C6E89D-598C-4FAD-D037-A653CBBFD66B}"/>
              </a:ext>
            </a:extLst>
          </p:cNvPr>
          <p:cNvSpPr/>
          <p:nvPr/>
        </p:nvSpPr>
        <p:spPr>
          <a:xfrm>
            <a:off x="0" y="-1"/>
            <a:ext cx="12192000" cy="766167"/>
          </a:xfrm>
          <a:prstGeom prst="rect">
            <a:avLst/>
          </a:prstGeom>
          <a:solidFill>
            <a:srgbClr val="2443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  <a:ea typeface="Segoe UI" pitchFamily="34" charset="-122"/>
                <a:cs typeface="Segoe UI" pitchFamily="34" charset="-120"/>
              </a:rPr>
              <a:t>CORRELACIONES Y RIESGO DE VIOLENCIA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7A8544-8647-A74F-DF9F-0C187426ACAE}"/>
              </a:ext>
            </a:extLst>
          </p:cNvPr>
          <p:cNvSpPr txBox="1"/>
          <p:nvPr/>
        </p:nvSpPr>
        <p:spPr>
          <a:xfrm>
            <a:off x="7010400" y="4559945"/>
            <a:ext cx="45890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ea typeface="Segoe UI" pitchFamily="34" charset="-122"/>
                <a:cs typeface="Segoe UI" pitchFamily="34" charset="-120"/>
              </a:rPr>
              <a:t>Al </a:t>
            </a:r>
            <a:r>
              <a:rPr lang="en-US" sz="1800" dirty="0" err="1">
                <a:solidFill>
                  <a:srgbClr val="000000"/>
                </a:solidFill>
                <a:ea typeface="Segoe UI" pitchFamily="34" charset="-122"/>
                <a:cs typeface="Segoe UI" pitchFamily="34" charset="-120"/>
              </a:rPr>
              <a:t>igual</a:t>
            </a:r>
            <a:r>
              <a:rPr lang="en-US" sz="1800" dirty="0">
                <a:solidFill>
                  <a:srgbClr val="000000"/>
                </a:solidFill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a typeface="Segoe UI" pitchFamily="34" charset="-122"/>
                <a:cs typeface="Segoe UI" pitchFamily="34" charset="-120"/>
              </a:rPr>
              <a:t>que</a:t>
            </a:r>
            <a:r>
              <a:rPr lang="en-US" sz="1800" dirty="0">
                <a:solidFill>
                  <a:srgbClr val="000000"/>
                </a:solidFill>
                <a:ea typeface="Segoe UI" pitchFamily="34" charset="-122"/>
                <a:cs typeface="Segoe UI" pitchFamily="34" charset="-120"/>
              </a:rPr>
              <a:t> en el </a:t>
            </a:r>
            <a:r>
              <a:rPr lang="en-US" sz="1800" dirty="0" err="1">
                <a:solidFill>
                  <a:srgbClr val="000000"/>
                </a:solidFill>
                <a:ea typeface="Segoe UI" pitchFamily="34" charset="-122"/>
                <a:cs typeface="Segoe UI" pitchFamily="34" charset="-120"/>
              </a:rPr>
              <a:t>riesgo</a:t>
            </a:r>
            <a:r>
              <a:rPr lang="en-US" sz="1800" dirty="0">
                <a:solidFill>
                  <a:srgbClr val="000000"/>
                </a:solidFill>
                <a:ea typeface="Segoe UI" pitchFamily="34" charset="-122"/>
                <a:cs typeface="Segoe UI" pitchFamily="34" charset="-120"/>
              </a:rPr>
              <a:t> general, la raza</a:t>
            </a:r>
          </a:p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ea typeface="Segoe UI" pitchFamily="34" charset="-122"/>
                <a:cs typeface="Segoe UI" pitchFamily="34" charset="-120"/>
              </a:rPr>
              <a:t>'African-American'</a:t>
            </a:r>
            <a:r>
              <a:rPr lang="en-US" sz="1800" dirty="0">
                <a:solidFill>
                  <a:srgbClr val="000000"/>
                </a:solidFill>
                <a:ea typeface="Segoe UI" pitchFamily="34" charset="-122"/>
                <a:cs typeface="Segoe UI" pitchFamily="34" charset="-120"/>
              </a:rPr>
              <a:t> se </a:t>
            </a:r>
            <a:r>
              <a:rPr lang="en-US" sz="1800" dirty="0" err="1">
                <a:solidFill>
                  <a:srgbClr val="000000"/>
                </a:solidFill>
                <a:ea typeface="Segoe UI" pitchFamily="34" charset="-122"/>
                <a:cs typeface="Segoe UI" pitchFamily="34" charset="-120"/>
              </a:rPr>
              <a:t>encuentra</a:t>
            </a:r>
            <a:r>
              <a:rPr lang="en-US" sz="1800" dirty="0">
                <a:solidFill>
                  <a:srgbClr val="000000"/>
                </a:solidFill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a typeface="Segoe UI" pitchFamily="34" charset="-122"/>
                <a:cs typeface="Segoe UI" pitchFamily="34" charset="-120"/>
              </a:rPr>
              <a:t>desplazada</a:t>
            </a:r>
            <a:r>
              <a:rPr lang="en-US" sz="1800" dirty="0">
                <a:solidFill>
                  <a:srgbClr val="000000"/>
                </a:solidFill>
                <a:ea typeface="Segoe UI" pitchFamily="34" charset="-122"/>
                <a:cs typeface="Segoe UI" pitchFamily="34" charset="-120"/>
              </a:rPr>
              <a:t> a la </a:t>
            </a:r>
            <a:r>
              <a:rPr lang="en-US" sz="1800" dirty="0" err="1">
                <a:solidFill>
                  <a:srgbClr val="000000"/>
                </a:solidFill>
                <a:ea typeface="Segoe UI" pitchFamily="34" charset="-122"/>
                <a:cs typeface="Segoe UI" pitchFamily="34" charset="-120"/>
              </a:rPr>
              <a:t>derecha</a:t>
            </a:r>
            <a:r>
              <a:rPr lang="en-US" sz="1800" dirty="0">
                <a:solidFill>
                  <a:srgbClr val="000000"/>
                </a:solidFill>
                <a:ea typeface="Segoe UI" pitchFamily="34" charset="-122"/>
                <a:cs typeface="Segoe UI" pitchFamily="34" charset="-120"/>
              </a:rPr>
              <a:t> en el </a:t>
            </a:r>
            <a:r>
              <a:rPr lang="en-US" sz="1800" dirty="0" err="1">
                <a:solidFill>
                  <a:srgbClr val="000000"/>
                </a:solidFill>
                <a:ea typeface="Segoe UI" pitchFamily="34" charset="-122"/>
                <a:cs typeface="Segoe UI" pitchFamily="34" charset="-120"/>
              </a:rPr>
              <a:t>puntaje</a:t>
            </a:r>
            <a:r>
              <a:rPr lang="en-US" sz="1800" dirty="0">
                <a:solidFill>
                  <a:srgbClr val="000000"/>
                </a:solidFill>
                <a:ea typeface="Segoe UI" pitchFamily="34" charset="-122"/>
                <a:cs typeface="Segoe UI" pitchFamily="34" charset="-120"/>
              </a:rPr>
              <a:t> de </a:t>
            </a:r>
            <a:r>
              <a:rPr lang="en-US" sz="1800" dirty="0" err="1">
                <a:solidFill>
                  <a:srgbClr val="000000"/>
                </a:solidFill>
                <a:ea typeface="Segoe UI" pitchFamily="34" charset="-122"/>
                <a:cs typeface="Segoe UI" pitchFamily="34" charset="-120"/>
              </a:rPr>
              <a:t>violencia</a:t>
            </a:r>
            <a:r>
              <a:rPr lang="en-US" sz="1800" dirty="0">
                <a:solidFill>
                  <a:srgbClr val="000000"/>
                </a:solidFill>
                <a:ea typeface="Segoe UI" pitchFamily="34" charset="-122"/>
                <a:cs typeface="Segoe UI" pitchFamily="34" charset="-120"/>
              </a:rPr>
              <a:t>.</a:t>
            </a:r>
            <a:endParaRPr lang="en-US" sz="1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32E76C9-43DC-BE74-B81E-9CBD5FE3DA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alphaModFix amt="6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8128" y="78457"/>
            <a:ext cx="591924" cy="590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Escuela de Formación Digital | Nuclio Digital School">
            <a:extLst>
              <a:ext uri="{FF2B5EF4-FFF2-40B4-BE49-F238E27FC236}">
                <a16:creationId xmlns:a16="http://schemas.microsoft.com/office/drawing/2014/main" id="{4FC69B0B-130E-FD4F-AF44-EA7732B229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alphaModFix amt="6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261533" y="77226"/>
            <a:ext cx="591924" cy="591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24075"/>
            <a:ext cx="2375595" cy="457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7095" y="2124075"/>
            <a:ext cx="2707630" cy="4572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4725" y="2124075"/>
            <a:ext cx="2487811" cy="457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2536" y="2124075"/>
            <a:ext cx="3477964" cy="457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581275"/>
            <a:ext cx="11049000" cy="457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2581275"/>
            <a:ext cx="2375595" cy="457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47095" y="2581275"/>
            <a:ext cx="2707630" cy="457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54725" y="2581275"/>
            <a:ext cx="2487811" cy="457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42536" y="2581275"/>
            <a:ext cx="3477964" cy="457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85411" y="2752725"/>
            <a:ext cx="1428750" cy="952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049361"/>
            <a:ext cx="2375595" cy="4572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47095" y="3038475"/>
            <a:ext cx="2707630" cy="4572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54725" y="3038475"/>
            <a:ext cx="2487811" cy="4572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42536" y="3038475"/>
            <a:ext cx="3477964" cy="4572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85411" y="3209925"/>
            <a:ext cx="952500" cy="952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495675"/>
            <a:ext cx="2375595" cy="4572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47095" y="3495675"/>
            <a:ext cx="2707630" cy="4572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54725" y="3495675"/>
            <a:ext cx="2487811" cy="4572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42536" y="3495675"/>
            <a:ext cx="3477964" cy="4572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85411" y="3667125"/>
            <a:ext cx="952500" cy="95250"/>
          </a:xfrm>
          <a:prstGeom prst="rect">
            <a:avLst/>
          </a:prstGeom>
        </p:spPr>
      </p:pic>
      <p:sp>
        <p:nvSpPr>
          <p:cNvPr id="28" name="Text 1"/>
          <p:cNvSpPr/>
          <p:nvPr/>
        </p:nvSpPr>
        <p:spPr>
          <a:xfrm>
            <a:off x="762000" y="1495425"/>
            <a:ext cx="1066800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4437A"/>
                </a:solidFill>
                <a:ea typeface="Segoe UI" pitchFamily="34" charset="-122"/>
                <a:cs typeface="Segoe UI" pitchFamily="34" charset="-120"/>
              </a:rPr>
              <a:t>Análisis de la </a:t>
            </a:r>
            <a:r>
              <a:rPr lang="en-US" b="1" dirty="0" err="1">
                <a:solidFill>
                  <a:srgbClr val="24437A"/>
                </a:solidFill>
                <a:ea typeface="Segoe UI" pitchFamily="34" charset="-122"/>
                <a:cs typeface="Segoe UI" pitchFamily="34" charset="-120"/>
              </a:rPr>
              <a:t>brecha</a:t>
            </a:r>
            <a:r>
              <a:rPr lang="en-US" b="1" dirty="0">
                <a:solidFill>
                  <a:srgbClr val="24437A"/>
                </a:solidFill>
                <a:ea typeface="Segoe UI" pitchFamily="34" charset="-122"/>
                <a:cs typeface="Segoe UI" pitchFamily="34" charset="-120"/>
              </a:rPr>
              <a:t> de </a:t>
            </a:r>
            <a:r>
              <a:rPr lang="en-US" b="1" dirty="0" err="1">
                <a:solidFill>
                  <a:srgbClr val="24437A"/>
                </a:solidFill>
                <a:ea typeface="Segoe UI" pitchFamily="34" charset="-122"/>
                <a:cs typeface="Segoe UI" pitchFamily="34" charset="-120"/>
              </a:rPr>
              <a:t>violencia</a:t>
            </a:r>
            <a:endParaRPr lang="en-US" b="1" dirty="0">
              <a:solidFill>
                <a:srgbClr val="24437A"/>
              </a:solidFill>
              <a:ea typeface="Segoe UI" pitchFamily="34" charset="-122"/>
              <a:cs typeface="Segoe UI" pitchFamily="34" charset="-120"/>
            </a:endParaRPr>
          </a:p>
          <a:p>
            <a:r>
              <a:rPr lang="en-US" dirty="0" err="1">
                <a:ea typeface="Segoe UI" pitchFamily="34" charset="-122"/>
                <a:cs typeface="Segoe UI" pitchFamily="34" charset="-120"/>
              </a:rPr>
              <a:t>Contraste</a:t>
            </a:r>
            <a:r>
              <a:rPr lang="en-US" dirty="0">
                <a:ea typeface="Segoe UI" pitchFamily="34" charset="-122"/>
                <a:cs typeface="Segoe UI" pitchFamily="34" charset="-120"/>
              </a:rPr>
              <a:t> entre la </a:t>
            </a:r>
            <a:r>
              <a:rPr lang="en-US" dirty="0" err="1">
                <a:ea typeface="Segoe UI" pitchFamily="34" charset="-122"/>
                <a:cs typeface="Segoe UI" pitchFamily="34" charset="-120"/>
              </a:rPr>
              <a:t>probabilidad</a:t>
            </a:r>
            <a:r>
              <a:rPr lang="en-US" dirty="0">
                <a:ea typeface="Segoe UI" pitchFamily="34" charset="-122"/>
                <a:cs typeface="Segoe UI" pitchFamily="34" charset="-120"/>
              </a:rPr>
              <a:t> </a:t>
            </a:r>
            <a:r>
              <a:rPr lang="en-US" dirty="0" err="1">
                <a:ea typeface="Segoe UI" pitchFamily="34" charset="-122"/>
                <a:cs typeface="Segoe UI" pitchFamily="34" charset="-120"/>
              </a:rPr>
              <a:t>asignada</a:t>
            </a:r>
            <a:r>
              <a:rPr lang="en-US" dirty="0">
                <a:ea typeface="Segoe UI" pitchFamily="34" charset="-122"/>
                <a:cs typeface="Segoe UI" pitchFamily="34" charset="-120"/>
              </a:rPr>
              <a:t> (</a:t>
            </a:r>
            <a:r>
              <a:rPr lang="en-US" b="1" i="1" dirty="0" err="1">
                <a:ea typeface="Segoe UI" pitchFamily="34" charset="-122"/>
                <a:cs typeface="Segoe UI" pitchFamily="34" charset="-120"/>
              </a:rPr>
              <a:t>v_decile_score</a:t>
            </a:r>
            <a:r>
              <a:rPr lang="en-US" dirty="0">
                <a:ea typeface="Segoe UI" pitchFamily="34" charset="-122"/>
                <a:cs typeface="Segoe UI" pitchFamily="34" charset="-120"/>
              </a:rPr>
              <a:t>) y la </a:t>
            </a:r>
            <a:r>
              <a:rPr lang="en-US" dirty="0" err="1">
                <a:ea typeface="Segoe UI" pitchFamily="34" charset="-122"/>
                <a:cs typeface="Segoe UI" pitchFamily="34" charset="-120"/>
              </a:rPr>
              <a:t>reincidencia</a:t>
            </a:r>
            <a:r>
              <a:rPr lang="en-US" dirty="0">
                <a:ea typeface="Segoe UI" pitchFamily="34" charset="-122"/>
                <a:cs typeface="Segoe UI" pitchFamily="34" charset="-120"/>
              </a:rPr>
              <a:t> </a:t>
            </a:r>
            <a:r>
              <a:rPr lang="en-US" dirty="0" err="1">
                <a:ea typeface="Segoe UI" pitchFamily="34" charset="-122"/>
                <a:cs typeface="Segoe UI" pitchFamily="34" charset="-120"/>
              </a:rPr>
              <a:t>violenta</a:t>
            </a:r>
            <a:r>
              <a:rPr lang="en-US" dirty="0">
                <a:ea typeface="Segoe UI" pitchFamily="34" charset="-122"/>
                <a:cs typeface="Segoe UI" pitchFamily="34" charset="-120"/>
              </a:rPr>
              <a:t> real (</a:t>
            </a:r>
            <a:r>
              <a:rPr lang="en-US" b="1" i="1" dirty="0" err="1">
                <a:ea typeface="Segoe UI" pitchFamily="34" charset="-122"/>
                <a:cs typeface="Segoe UI" pitchFamily="34" charset="-120"/>
              </a:rPr>
              <a:t>is_violent_recid</a:t>
            </a:r>
            <a:r>
              <a:rPr lang="en-US" dirty="0">
                <a:ea typeface="Segoe UI" pitchFamily="34" charset="-122"/>
                <a:cs typeface="Segoe UI" pitchFamily="34" charset="-120"/>
              </a:rPr>
              <a:t>).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9" name="Text 2"/>
          <p:cNvSpPr/>
          <p:nvPr/>
        </p:nvSpPr>
        <p:spPr>
          <a:xfrm>
            <a:off x="762000" y="1428750"/>
            <a:ext cx="1993392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0" name="Text 3"/>
          <p:cNvSpPr/>
          <p:nvPr/>
        </p:nvSpPr>
        <p:spPr>
          <a:xfrm>
            <a:off x="714375" y="2124075"/>
            <a:ext cx="208984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ea typeface="Segoe UI" pitchFamily="34" charset="-122"/>
                <a:cs typeface="Segoe UI" pitchFamily="34" charset="-120"/>
              </a:rPr>
              <a:t>Etnia</a:t>
            </a:r>
            <a:endParaRPr lang="en-US" sz="1200" dirty="0"/>
          </a:p>
        </p:txBody>
      </p:sp>
      <p:sp>
        <p:nvSpPr>
          <p:cNvPr id="31" name="Text 4"/>
          <p:cNvSpPr/>
          <p:nvPr/>
        </p:nvSpPr>
        <p:spPr>
          <a:xfrm>
            <a:off x="3089970" y="2124075"/>
            <a:ext cx="327159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r>
              <a:rPr lang="en-US" sz="1200" b="1" dirty="0" err="1">
                <a:solidFill>
                  <a:srgbClr val="FFFFFF"/>
                </a:solidFill>
                <a:ea typeface="Segoe UI" pitchFamily="34" charset="-122"/>
                <a:cs typeface="Segoe UI" pitchFamily="34" charset="-120"/>
              </a:rPr>
              <a:t>Reincidencia</a:t>
            </a:r>
            <a:r>
              <a:rPr lang="en-US" sz="1200" b="1" dirty="0">
                <a:solidFill>
                  <a:srgbClr val="FFFFFF"/>
                </a:solidFill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ea typeface="Segoe UI" pitchFamily="34" charset="-122"/>
                <a:cs typeface="Segoe UI" pitchFamily="34" charset="-120"/>
              </a:rPr>
              <a:t>violenta</a:t>
            </a:r>
            <a:r>
              <a:rPr lang="en-US" sz="1200" b="1" dirty="0">
                <a:solidFill>
                  <a:srgbClr val="FFFFFF"/>
                </a:solidFill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ea typeface="Segoe UI" pitchFamily="34" charset="-122"/>
                <a:cs typeface="Segoe UI" pitchFamily="34" charset="-120"/>
              </a:rPr>
              <a:t>predicha</a:t>
            </a:r>
            <a:endParaRPr lang="en-US" sz="1200" dirty="0"/>
          </a:p>
        </p:txBody>
      </p:sp>
      <p:sp>
        <p:nvSpPr>
          <p:cNvPr id="32" name="Text 5"/>
          <p:cNvSpPr/>
          <p:nvPr/>
        </p:nvSpPr>
        <p:spPr>
          <a:xfrm>
            <a:off x="5797600" y="2124075"/>
            <a:ext cx="2913739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FFFFFF"/>
                </a:solidFill>
                <a:ea typeface="Segoe UI" pitchFamily="34" charset="-122"/>
                <a:cs typeface="Segoe UI" pitchFamily="34" charset="-120"/>
              </a:rPr>
              <a:t>Reincidencia</a:t>
            </a:r>
            <a:r>
              <a:rPr lang="en-US" sz="1200" b="1" dirty="0">
                <a:solidFill>
                  <a:srgbClr val="FFFFFF"/>
                </a:solidFill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ea typeface="Segoe UI" pitchFamily="34" charset="-122"/>
                <a:cs typeface="Segoe UI" pitchFamily="34" charset="-120"/>
              </a:rPr>
              <a:t>violenta</a:t>
            </a:r>
            <a:r>
              <a:rPr lang="en-US" sz="1200" b="1" dirty="0">
                <a:solidFill>
                  <a:srgbClr val="FFFFFF"/>
                </a:solidFill>
                <a:ea typeface="Segoe UI" pitchFamily="34" charset="-122"/>
                <a:cs typeface="Segoe UI" pitchFamily="34" charset="-120"/>
              </a:rPr>
              <a:t> real</a:t>
            </a:r>
            <a:endParaRPr lang="en-US" sz="1200" dirty="0"/>
          </a:p>
        </p:txBody>
      </p:sp>
      <p:sp>
        <p:nvSpPr>
          <p:cNvPr id="33" name="Text 6"/>
          <p:cNvSpPr/>
          <p:nvPr/>
        </p:nvSpPr>
        <p:spPr>
          <a:xfrm>
            <a:off x="8285411" y="2124075"/>
            <a:ext cx="3192214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ea typeface="Segoe UI" pitchFamily="34" charset="-122"/>
                <a:cs typeface="Segoe UI" pitchFamily="34" charset="-120"/>
              </a:rPr>
              <a:t>Brecha (</a:t>
            </a:r>
            <a:r>
              <a:rPr lang="en-US" sz="1200" b="1" dirty="0" err="1">
                <a:solidFill>
                  <a:srgbClr val="FFFFFF"/>
                </a:solidFill>
                <a:ea typeface="Segoe UI" pitchFamily="34" charset="-122"/>
                <a:cs typeface="Segoe UI" pitchFamily="34" charset="-120"/>
              </a:rPr>
              <a:t>desviación</a:t>
            </a:r>
            <a:r>
              <a:rPr lang="en-US" sz="1200" b="1" dirty="0">
                <a:solidFill>
                  <a:srgbClr val="FFFFFF"/>
                </a:solidFill>
                <a:ea typeface="Segoe UI" pitchFamily="34" charset="-122"/>
                <a:cs typeface="Segoe UI" pitchFamily="34" charset="-120"/>
              </a:rPr>
              <a:t>)</a:t>
            </a:r>
            <a:endParaRPr lang="en-US" sz="1200" dirty="0"/>
          </a:p>
        </p:txBody>
      </p:sp>
      <p:sp>
        <p:nvSpPr>
          <p:cNvPr id="34" name="Text 7"/>
          <p:cNvSpPr/>
          <p:nvPr/>
        </p:nvSpPr>
        <p:spPr>
          <a:xfrm>
            <a:off x="714375" y="2724150"/>
            <a:ext cx="2926080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ea typeface="Segoe UI" pitchFamily="34" charset="-122"/>
                <a:cs typeface="Segoe UI" pitchFamily="34" charset="-120"/>
              </a:rPr>
              <a:t>African-American</a:t>
            </a:r>
            <a:endParaRPr lang="en-US" sz="1200" dirty="0"/>
          </a:p>
        </p:txBody>
      </p:sp>
      <p:sp>
        <p:nvSpPr>
          <p:cNvPr id="35" name="Text 8"/>
          <p:cNvSpPr/>
          <p:nvPr/>
        </p:nvSpPr>
        <p:spPr>
          <a:xfrm>
            <a:off x="3089970" y="2724150"/>
            <a:ext cx="1280160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74C3C"/>
                </a:solidFill>
                <a:ea typeface="Segoe UI" pitchFamily="34" charset="-122"/>
                <a:cs typeface="Segoe UI" pitchFamily="34" charset="-120"/>
              </a:rPr>
              <a:t>42,8%</a:t>
            </a:r>
            <a:endParaRPr lang="en-US" sz="1200" dirty="0"/>
          </a:p>
        </p:txBody>
      </p:sp>
      <p:sp>
        <p:nvSpPr>
          <p:cNvPr id="36" name="Text 9"/>
          <p:cNvSpPr/>
          <p:nvPr/>
        </p:nvSpPr>
        <p:spPr>
          <a:xfrm>
            <a:off x="5797600" y="2581275"/>
            <a:ext cx="220206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ea typeface="Segoe UI" pitchFamily="34" charset="-122"/>
                <a:cs typeface="Segoe UI" pitchFamily="34" charset="-120"/>
              </a:rPr>
              <a:t>11,6%</a:t>
            </a:r>
            <a:endParaRPr lang="en-US" sz="1200" dirty="0"/>
          </a:p>
        </p:txBody>
      </p:sp>
      <p:sp>
        <p:nvSpPr>
          <p:cNvPr id="37" name="Text 10"/>
          <p:cNvSpPr/>
          <p:nvPr/>
        </p:nvSpPr>
        <p:spPr>
          <a:xfrm>
            <a:off x="9756577" y="2724150"/>
            <a:ext cx="1463040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ea typeface="Segoe UI" pitchFamily="34" charset="-122"/>
                <a:cs typeface="Segoe UI" pitchFamily="34" charset="-120"/>
              </a:rPr>
              <a:t>+31,2%</a:t>
            </a:r>
            <a:endParaRPr lang="en-US" sz="1200" dirty="0"/>
          </a:p>
        </p:txBody>
      </p:sp>
      <p:sp>
        <p:nvSpPr>
          <p:cNvPr id="38" name="Text 11"/>
          <p:cNvSpPr/>
          <p:nvPr/>
        </p:nvSpPr>
        <p:spPr>
          <a:xfrm>
            <a:off x="714375" y="3038475"/>
            <a:ext cx="208984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ea typeface="Segoe UI" pitchFamily="34" charset="-122"/>
                <a:cs typeface="Segoe UI" pitchFamily="34" charset="-120"/>
              </a:rPr>
              <a:t>Caucasian</a:t>
            </a:r>
            <a:endParaRPr lang="en-US" sz="1200" dirty="0"/>
          </a:p>
        </p:txBody>
      </p:sp>
      <p:sp>
        <p:nvSpPr>
          <p:cNvPr id="39" name="Text 12"/>
          <p:cNvSpPr/>
          <p:nvPr/>
        </p:nvSpPr>
        <p:spPr>
          <a:xfrm>
            <a:off x="3089970" y="3038475"/>
            <a:ext cx="242188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ea typeface="Segoe UI" pitchFamily="34" charset="-122"/>
                <a:cs typeface="Segoe UI" pitchFamily="34" charset="-120"/>
              </a:rPr>
              <a:t>28.39%</a:t>
            </a:r>
            <a:endParaRPr lang="en-US" sz="1200" dirty="0"/>
          </a:p>
        </p:txBody>
      </p:sp>
      <p:sp>
        <p:nvSpPr>
          <p:cNvPr id="40" name="Text 13"/>
          <p:cNvSpPr/>
          <p:nvPr/>
        </p:nvSpPr>
        <p:spPr>
          <a:xfrm>
            <a:off x="5797600" y="3038475"/>
            <a:ext cx="220206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cs typeface="Segoe UI" pitchFamily="34" charset="-120"/>
              </a:rPr>
              <a:t>7.33%</a:t>
            </a:r>
            <a:endParaRPr lang="en-US" sz="1200" dirty="0"/>
          </a:p>
        </p:txBody>
      </p:sp>
      <p:sp>
        <p:nvSpPr>
          <p:cNvPr id="41" name="Text 14"/>
          <p:cNvSpPr/>
          <p:nvPr/>
        </p:nvSpPr>
        <p:spPr>
          <a:xfrm>
            <a:off x="9237911" y="3038475"/>
            <a:ext cx="3192214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ea typeface="Segoe UI" pitchFamily="34" charset="-122"/>
                <a:cs typeface="Segoe UI" pitchFamily="34" charset="-120"/>
              </a:rPr>
              <a:t> +21.16%</a:t>
            </a:r>
            <a:endParaRPr lang="en-US" sz="1200" dirty="0"/>
          </a:p>
        </p:txBody>
      </p:sp>
      <p:sp>
        <p:nvSpPr>
          <p:cNvPr id="42" name="Text 15"/>
          <p:cNvSpPr/>
          <p:nvPr/>
        </p:nvSpPr>
        <p:spPr>
          <a:xfrm>
            <a:off x="714375" y="3495675"/>
            <a:ext cx="208984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ea typeface="Segoe UI" pitchFamily="34" charset="-122"/>
                <a:cs typeface="Segoe UI" pitchFamily="34" charset="-120"/>
              </a:rPr>
              <a:t>Hispanic</a:t>
            </a:r>
            <a:endParaRPr lang="en-US" sz="1200" dirty="0"/>
          </a:p>
        </p:txBody>
      </p:sp>
      <p:sp>
        <p:nvSpPr>
          <p:cNvPr id="43" name="Text 16"/>
          <p:cNvSpPr/>
          <p:nvPr/>
        </p:nvSpPr>
        <p:spPr>
          <a:xfrm>
            <a:off x="3089970" y="3495675"/>
            <a:ext cx="242188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ea typeface="Segoe UI" pitchFamily="34" charset="-122"/>
                <a:cs typeface="Segoe UI" pitchFamily="34" charset="-120"/>
              </a:rPr>
              <a:t>29.12%</a:t>
            </a:r>
            <a:endParaRPr lang="en-US" sz="1200" dirty="0"/>
          </a:p>
        </p:txBody>
      </p:sp>
      <p:sp>
        <p:nvSpPr>
          <p:cNvPr id="44" name="Text 17"/>
          <p:cNvSpPr/>
          <p:nvPr/>
        </p:nvSpPr>
        <p:spPr>
          <a:xfrm>
            <a:off x="5797600" y="3495675"/>
            <a:ext cx="220206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ea typeface="Segoe UI" pitchFamily="34" charset="-122"/>
                <a:cs typeface="Segoe UI" pitchFamily="34" charset="-120"/>
              </a:rPr>
              <a:t>7.23%</a:t>
            </a:r>
          </a:p>
        </p:txBody>
      </p:sp>
      <p:sp>
        <p:nvSpPr>
          <p:cNvPr id="45" name="Text 18"/>
          <p:cNvSpPr/>
          <p:nvPr/>
        </p:nvSpPr>
        <p:spPr>
          <a:xfrm>
            <a:off x="9237911" y="3495675"/>
            <a:ext cx="3192214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ea typeface="Segoe UI" pitchFamily="34" charset="-122"/>
                <a:cs typeface="Segoe UI" pitchFamily="34" charset="-120"/>
              </a:rPr>
              <a:t>+21.78%</a:t>
            </a:r>
            <a:endParaRPr lang="en-US" sz="1200" dirty="0"/>
          </a:p>
        </p:txBody>
      </p:sp>
      <p:sp>
        <p:nvSpPr>
          <p:cNvPr id="46" name="Text 19"/>
          <p:cNvSpPr/>
          <p:nvPr/>
        </p:nvSpPr>
        <p:spPr>
          <a:xfrm>
            <a:off x="1009649" y="4399189"/>
            <a:ext cx="9972675" cy="1666875"/>
          </a:xfrm>
          <a:prstGeom prst="roundRect">
            <a:avLst/>
          </a:prstGeom>
          <a:solidFill>
            <a:srgbClr val="24437A"/>
          </a:solidFill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5050"/>
                </a:solidFill>
                <a:ea typeface="Segoe UI" pitchFamily="34" charset="-122"/>
                <a:cs typeface="Segoe UI" pitchFamily="34" charset="-120"/>
              </a:rPr>
              <a:t>Conclusión: El "</a:t>
            </a:r>
            <a:r>
              <a:rPr lang="en-US" sz="1600" b="1" dirty="0" err="1">
                <a:solidFill>
                  <a:srgbClr val="FF5050"/>
                </a:solidFill>
                <a:ea typeface="Segoe UI" pitchFamily="34" charset="-122"/>
                <a:cs typeface="Segoe UI" pitchFamily="34" charset="-120"/>
              </a:rPr>
              <a:t>Efecto</a:t>
            </a:r>
            <a:r>
              <a:rPr lang="en-US" sz="1600" b="1" dirty="0">
                <a:solidFill>
                  <a:srgbClr val="FF5050"/>
                </a:solidFill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600" b="1" dirty="0" err="1">
                <a:solidFill>
                  <a:srgbClr val="FF5050"/>
                </a:solidFill>
                <a:ea typeface="Segoe UI" pitchFamily="34" charset="-122"/>
                <a:cs typeface="Segoe UI" pitchFamily="34" charset="-120"/>
              </a:rPr>
              <a:t>Alarmista</a:t>
            </a:r>
            <a:r>
              <a:rPr lang="en-US" sz="1600" b="1" dirty="0">
                <a:solidFill>
                  <a:srgbClr val="FF5050"/>
                </a:solidFill>
                <a:ea typeface="Segoe UI" pitchFamily="34" charset="-122"/>
                <a:cs typeface="Segoe UI" pitchFamily="34" charset="-120"/>
              </a:rPr>
              <a:t>“</a:t>
            </a:r>
          </a:p>
          <a:p>
            <a:pPr algn="ctr"/>
            <a:r>
              <a:rPr lang="en-US" dirty="0">
                <a:solidFill>
                  <a:schemeClr val="bg1"/>
                </a:solidFill>
                <a:ea typeface="Segoe UI" pitchFamily="34" charset="-122"/>
                <a:cs typeface="Segoe UI" pitchFamily="34" charset="-120"/>
              </a:rPr>
              <a:t>El </a:t>
            </a:r>
            <a:r>
              <a:rPr lang="en-US" dirty="0" err="1">
                <a:solidFill>
                  <a:schemeClr val="bg1"/>
                </a:solidFill>
                <a:ea typeface="Segoe UI" pitchFamily="34" charset="-122"/>
                <a:cs typeface="Segoe UI" pitchFamily="34" charset="-120"/>
              </a:rPr>
              <a:t>modelo</a:t>
            </a:r>
            <a:r>
              <a:rPr lang="en-US" dirty="0">
                <a:solidFill>
                  <a:schemeClr val="bg1"/>
                </a:solidFill>
                <a:ea typeface="Segoe UI" pitchFamily="34" charset="-122"/>
                <a:cs typeface="Segoe UI" pitchFamily="34" charset="-120"/>
              </a:rPr>
              <a:t> es </a:t>
            </a:r>
            <a:r>
              <a:rPr lang="en-US" dirty="0" err="1">
                <a:solidFill>
                  <a:schemeClr val="bg1"/>
                </a:solidFill>
                <a:ea typeface="Segoe UI" pitchFamily="34" charset="-122"/>
                <a:cs typeface="Segoe UI" pitchFamily="34" charset="-120"/>
              </a:rPr>
              <a:t>alarmista</a:t>
            </a:r>
            <a:r>
              <a:rPr lang="en-US" dirty="0">
                <a:solidFill>
                  <a:schemeClr val="bg1"/>
                </a:solidFill>
                <a:ea typeface="Segoe UI" pitchFamily="34" charset="-122"/>
                <a:cs typeface="Segoe UI" pitchFamily="34" charset="-120"/>
              </a:rPr>
              <a:t> en </a:t>
            </a:r>
            <a:r>
              <a:rPr lang="en-US" dirty="0" err="1">
                <a:solidFill>
                  <a:schemeClr val="bg1"/>
                </a:solidFill>
                <a:ea typeface="Segoe UI" pitchFamily="34" charset="-122"/>
                <a:cs typeface="Segoe UI" pitchFamily="34" charset="-120"/>
              </a:rPr>
              <a:t>todas</a:t>
            </a:r>
            <a:r>
              <a:rPr lang="en-US" dirty="0">
                <a:solidFill>
                  <a:schemeClr val="bg1"/>
                </a:solidFill>
                <a:ea typeface="Segoe UI" pitchFamily="34" charset="-122"/>
                <a:cs typeface="Segoe UI" pitchFamily="34" charset="-120"/>
              </a:rPr>
              <a:t> las </a:t>
            </a:r>
            <a:r>
              <a:rPr lang="en-US" dirty="0" err="1">
                <a:solidFill>
                  <a:schemeClr val="bg1"/>
                </a:solidFill>
                <a:ea typeface="Segoe UI" pitchFamily="34" charset="-122"/>
                <a:cs typeface="Segoe UI" pitchFamily="34" charset="-120"/>
              </a:rPr>
              <a:t>razas</a:t>
            </a:r>
            <a:r>
              <a:rPr lang="en-US" dirty="0">
                <a:solidFill>
                  <a:schemeClr val="bg1"/>
                </a:solidFill>
                <a:ea typeface="Segoe UI" pitchFamily="34" charset="-122"/>
                <a:cs typeface="Segoe UI" pitchFamily="34" charset="-120"/>
              </a:rPr>
              <a:t>, </a:t>
            </a:r>
            <a:r>
              <a:rPr lang="en-US" dirty="0" err="1">
                <a:solidFill>
                  <a:schemeClr val="bg1"/>
                </a:solidFill>
                <a:ea typeface="Segoe UI" pitchFamily="34" charset="-122"/>
                <a:cs typeface="Segoe UI" pitchFamily="34" charset="-120"/>
              </a:rPr>
              <a:t>pero</a:t>
            </a:r>
            <a:r>
              <a:rPr lang="en-US" dirty="0">
                <a:solidFill>
                  <a:schemeClr val="bg1"/>
                </a:solidFill>
                <a:ea typeface="Segoe UI" pitchFamily="34" charset="-122"/>
                <a:cs typeface="Segoe UI" pitchFamily="34" charset="-120"/>
              </a:rPr>
              <a:t> la </a:t>
            </a:r>
            <a:r>
              <a:rPr lang="en-US" dirty="0" err="1">
                <a:solidFill>
                  <a:schemeClr val="bg1"/>
                </a:solidFill>
                <a:ea typeface="Segoe UI" pitchFamily="34" charset="-122"/>
                <a:cs typeface="Segoe UI" pitchFamily="34" charset="-120"/>
              </a:rPr>
              <a:t>brecha</a:t>
            </a:r>
            <a:r>
              <a:rPr lang="en-US" dirty="0">
                <a:solidFill>
                  <a:schemeClr val="bg1"/>
                </a:solidFill>
                <a:ea typeface="Segoe UI" pitchFamily="34" charset="-122"/>
                <a:cs typeface="Segoe UI" pitchFamily="34" charset="-120"/>
              </a:rPr>
              <a:t> es </a:t>
            </a:r>
            <a:r>
              <a:rPr lang="en-US" dirty="0" err="1">
                <a:solidFill>
                  <a:schemeClr val="bg1"/>
                </a:solidFill>
                <a:ea typeface="Segoe UI" pitchFamily="34" charset="-122"/>
                <a:cs typeface="Segoe UI" pitchFamily="34" charset="-120"/>
              </a:rPr>
              <a:t>significativamente</a:t>
            </a:r>
            <a:r>
              <a:rPr lang="en-US" dirty="0">
                <a:solidFill>
                  <a:schemeClr val="bg1"/>
                </a:solidFill>
                <a:ea typeface="Segoe UI" pitchFamily="34" charset="-122"/>
                <a:cs typeface="Segoe UI" pitchFamily="34" charset="-120"/>
              </a:rPr>
              <a:t> mayor en la población </a:t>
            </a:r>
            <a:r>
              <a:rPr lang="en-US" dirty="0" err="1">
                <a:solidFill>
                  <a:schemeClr val="bg1"/>
                </a:solidFill>
                <a:ea typeface="Segoe UI" pitchFamily="34" charset="-122"/>
                <a:cs typeface="Segoe UI" pitchFamily="34" charset="-120"/>
              </a:rPr>
              <a:t>afroamericana</a:t>
            </a:r>
            <a:r>
              <a:rPr lang="en-US" dirty="0">
                <a:solidFill>
                  <a:schemeClr val="bg1"/>
                </a:solidFill>
                <a:ea typeface="Segoe UI" pitchFamily="34" charset="-122"/>
                <a:cs typeface="Segoe UI" pitchFamily="34" charset="-120"/>
              </a:rPr>
              <a:t>. Este </a:t>
            </a:r>
            <a:r>
              <a:rPr lang="en-US" dirty="0" err="1">
                <a:solidFill>
                  <a:schemeClr val="bg1"/>
                </a:solidFill>
                <a:ea typeface="Segoe UI" pitchFamily="34" charset="-122"/>
                <a:cs typeface="Segoe UI" pitchFamily="34" charset="-120"/>
              </a:rPr>
              <a:t>trato</a:t>
            </a:r>
            <a:r>
              <a:rPr lang="en-US" dirty="0">
                <a:solidFill>
                  <a:schemeClr val="bg1"/>
                </a:solidFill>
                <a:ea typeface="Segoe UI" pitchFamily="34" charset="-122"/>
                <a:cs typeface="Segoe UI" pitchFamily="34" charset="-120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Segoe UI" pitchFamily="34" charset="-122"/>
                <a:cs typeface="Segoe UI" pitchFamily="34" charset="-120"/>
              </a:rPr>
              <a:t>desigual</a:t>
            </a:r>
            <a:r>
              <a:rPr lang="en-US" dirty="0">
                <a:solidFill>
                  <a:schemeClr val="bg1"/>
                </a:solidFill>
                <a:ea typeface="Segoe UI" pitchFamily="34" charset="-122"/>
                <a:cs typeface="Segoe UI" pitchFamily="34" charset="-120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Segoe UI" pitchFamily="34" charset="-122"/>
                <a:cs typeface="Segoe UI" pitchFamily="34" charset="-120"/>
              </a:rPr>
              <a:t>reafirma</a:t>
            </a:r>
            <a:r>
              <a:rPr lang="en-US" dirty="0">
                <a:solidFill>
                  <a:schemeClr val="bg1"/>
                </a:solidFill>
                <a:ea typeface="Segoe UI" pitchFamily="34" charset="-122"/>
                <a:cs typeface="Segoe UI" pitchFamily="34" charset="-120"/>
              </a:rPr>
              <a:t> la </a:t>
            </a:r>
            <a:r>
              <a:rPr lang="en-US" dirty="0" err="1">
                <a:solidFill>
                  <a:schemeClr val="bg1"/>
                </a:solidFill>
                <a:ea typeface="Segoe UI" pitchFamily="34" charset="-122"/>
                <a:cs typeface="Segoe UI" pitchFamily="34" charset="-120"/>
              </a:rPr>
              <a:t>existencia</a:t>
            </a:r>
            <a:r>
              <a:rPr lang="en-US" dirty="0">
                <a:solidFill>
                  <a:schemeClr val="bg1"/>
                </a:solidFill>
                <a:ea typeface="Segoe UI" pitchFamily="34" charset="-122"/>
                <a:cs typeface="Segoe UI" pitchFamily="34" charset="-120"/>
              </a:rPr>
              <a:t> de un </a:t>
            </a:r>
            <a:r>
              <a:rPr lang="en-US" dirty="0" err="1">
                <a:solidFill>
                  <a:schemeClr val="bg1"/>
                </a:solidFill>
                <a:ea typeface="Segoe UI" pitchFamily="34" charset="-122"/>
                <a:cs typeface="Segoe UI" pitchFamily="34" charset="-120"/>
              </a:rPr>
              <a:t>sesgo</a:t>
            </a:r>
            <a:r>
              <a:rPr lang="en-US" dirty="0">
                <a:solidFill>
                  <a:schemeClr val="bg1"/>
                </a:solidFill>
                <a:ea typeface="Segoe UI" pitchFamily="34" charset="-122"/>
                <a:cs typeface="Segoe UI" pitchFamily="34" charset="-120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Segoe UI" pitchFamily="34" charset="-122"/>
                <a:cs typeface="Segoe UI" pitchFamily="34" charset="-120"/>
              </a:rPr>
              <a:t>algorítmico</a:t>
            </a:r>
            <a:r>
              <a:rPr lang="en-US" dirty="0">
                <a:solidFill>
                  <a:schemeClr val="bg1"/>
                </a:solidFill>
                <a:ea typeface="Segoe UI" pitchFamily="34" charset="-122"/>
                <a:cs typeface="Segoe UI" pitchFamily="34" charset="-120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Segoe UI" pitchFamily="34" charset="-122"/>
                <a:cs typeface="Segoe UI" pitchFamily="34" charset="-120"/>
              </a:rPr>
              <a:t>que</a:t>
            </a:r>
            <a:r>
              <a:rPr lang="en-US" dirty="0">
                <a:solidFill>
                  <a:schemeClr val="bg1"/>
                </a:solidFill>
                <a:ea typeface="Segoe UI" pitchFamily="34" charset="-122"/>
                <a:cs typeface="Segoe UI" pitchFamily="34" charset="-120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Segoe UI" pitchFamily="34" charset="-122"/>
                <a:cs typeface="Segoe UI" pitchFamily="34" charset="-120"/>
              </a:rPr>
              <a:t>penaliza</a:t>
            </a:r>
            <a:r>
              <a:rPr lang="en-US" dirty="0">
                <a:solidFill>
                  <a:schemeClr val="bg1"/>
                </a:solidFill>
                <a:ea typeface="Segoe UI" pitchFamily="34" charset="-122"/>
                <a:cs typeface="Segoe UI" pitchFamily="34" charset="-120"/>
              </a:rPr>
              <a:t> con mayor </a:t>
            </a:r>
            <a:r>
              <a:rPr lang="en-US" dirty="0" err="1">
                <a:solidFill>
                  <a:schemeClr val="bg1"/>
                </a:solidFill>
                <a:ea typeface="Segoe UI" pitchFamily="34" charset="-122"/>
                <a:cs typeface="Segoe UI" pitchFamily="34" charset="-120"/>
              </a:rPr>
              <a:t>severidad</a:t>
            </a:r>
            <a:r>
              <a:rPr lang="en-US" dirty="0">
                <a:solidFill>
                  <a:schemeClr val="bg1"/>
                </a:solidFill>
                <a:ea typeface="Segoe UI" pitchFamily="34" charset="-122"/>
                <a:cs typeface="Segoe UI" pitchFamily="34" charset="-120"/>
              </a:rPr>
              <a:t> a </a:t>
            </a:r>
            <a:r>
              <a:rPr lang="en-US" dirty="0" err="1">
                <a:solidFill>
                  <a:schemeClr val="bg1"/>
                </a:solidFill>
                <a:ea typeface="Segoe UI" pitchFamily="34" charset="-122"/>
                <a:cs typeface="Segoe UI" pitchFamily="34" charset="-120"/>
              </a:rPr>
              <a:t>este</a:t>
            </a:r>
            <a:r>
              <a:rPr lang="en-US" dirty="0">
                <a:solidFill>
                  <a:schemeClr val="bg1"/>
                </a:solidFill>
                <a:ea typeface="Segoe UI" pitchFamily="34" charset="-122"/>
                <a:cs typeface="Segoe UI" pitchFamily="34" charset="-120"/>
              </a:rPr>
              <a:t> colectivo, </a:t>
            </a:r>
            <a:r>
              <a:rPr lang="en-US" dirty="0" err="1">
                <a:solidFill>
                  <a:schemeClr val="bg1"/>
                </a:solidFill>
                <a:ea typeface="Segoe UI" pitchFamily="34" charset="-122"/>
                <a:cs typeface="Segoe UI" pitchFamily="34" charset="-120"/>
              </a:rPr>
              <a:t>independientemente</a:t>
            </a:r>
            <a:r>
              <a:rPr lang="en-US" dirty="0">
                <a:solidFill>
                  <a:schemeClr val="bg1"/>
                </a:solidFill>
                <a:ea typeface="Segoe UI" pitchFamily="34" charset="-122"/>
                <a:cs typeface="Segoe UI" pitchFamily="34" charset="-120"/>
              </a:rPr>
              <a:t> de la </a:t>
            </a:r>
            <a:r>
              <a:rPr lang="en-US" dirty="0" err="1">
                <a:solidFill>
                  <a:schemeClr val="bg1"/>
                </a:solidFill>
                <a:ea typeface="Segoe UI" pitchFamily="34" charset="-122"/>
                <a:cs typeface="Segoe UI" pitchFamily="34" charset="-120"/>
              </a:rPr>
              <a:t>realidad</a:t>
            </a:r>
            <a:r>
              <a:rPr lang="en-US" dirty="0">
                <a:solidFill>
                  <a:schemeClr val="bg1"/>
                </a:solidFill>
                <a:ea typeface="Segoe UI" pitchFamily="34" charset="-122"/>
                <a:cs typeface="Segoe UI" pitchFamily="34" charset="-120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Segoe UI" pitchFamily="34" charset="-122"/>
                <a:cs typeface="Segoe UI" pitchFamily="34" charset="-120"/>
              </a:rPr>
              <a:t>estadística</a:t>
            </a:r>
            <a:r>
              <a:rPr lang="en-US" dirty="0">
                <a:solidFill>
                  <a:schemeClr val="bg1"/>
                </a:solidFill>
                <a:ea typeface="Segoe UI" pitchFamily="34" charset="-122"/>
                <a:cs typeface="Segoe UI" pitchFamily="34" charset="-120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Segoe UI" pitchFamily="34" charset="-122"/>
                <a:cs typeface="Segoe UI" pitchFamily="34" charset="-120"/>
              </a:rPr>
              <a:t>observada</a:t>
            </a:r>
            <a:r>
              <a:rPr lang="en-US" dirty="0">
                <a:solidFill>
                  <a:schemeClr val="bg1"/>
                </a:solidFill>
                <a:ea typeface="Segoe UI" pitchFamily="34" charset="-122"/>
                <a:cs typeface="Segoe UI" pitchFamily="34" charset="-120"/>
              </a:rPr>
              <a:t>.</a:t>
            </a:r>
            <a:endParaRPr lang="en-US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7" name="Text 20"/>
          <p:cNvSpPr/>
          <p:nvPr/>
        </p:nvSpPr>
        <p:spPr>
          <a:xfrm>
            <a:off x="707168" y="5002709"/>
            <a:ext cx="10763250" cy="4265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80"/>
              </a:lnSpc>
              <a:buNone/>
            </a:pPr>
            <a:endParaRPr lang="en-US" sz="1200" dirty="0"/>
          </a:p>
        </p:txBody>
      </p:sp>
      <p:sp>
        <p:nvSpPr>
          <p:cNvPr id="48" name="Footer Placeholder 3">
            <a:extLst>
              <a:ext uri="{FF2B5EF4-FFF2-40B4-BE49-F238E27FC236}">
                <a16:creationId xmlns:a16="http://schemas.microsoft.com/office/drawing/2014/main" id="{0F269844-FA5C-481D-2599-068238CCE04D}"/>
              </a:ext>
            </a:extLst>
          </p:cNvPr>
          <p:cNvSpPr txBox="1">
            <a:spLocks/>
          </p:cNvSpPr>
          <p:nvPr/>
        </p:nvSpPr>
        <p:spPr>
          <a:xfrm>
            <a:off x="3547872" y="6381750"/>
            <a:ext cx="5096256" cy="365125"/>
          </a:xfrm>
          <a:prstGeom prst="rect">
            <a:avLst/>
          </a:prstGeom>
        </p:spPr>
        <p:txBody>
          <a:bodyPr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200" dirty="0">
                <a:solidFill>
                  <a:srgbClr val="B9B9B9"/>
                </a:solidFill>
              </a:rPr>
              <a:t>NUCLIO DIGITAL SCHOOL - MÁSTER DATA ANALYTICS - TFM - GRUPO 3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0F7146F-6E0B-3B1E-3D99-E527F3A7C8E8}"/>
              </a:ext>
            </a:extLst>
          </p:cNvPr>
          <p:cNvSpPr/>
          <p:nvPr/>
        </p:nvSpPr>
        <p:spPr>
          <a:xfrm>
            <a:off x="0" y="-1"/>
            <a:ext cx="12192000" cy="766167"/>
          </a:xfrm>
          <a:prstGeom prst="rect">
            <a:avLst/>
          </a:prstGeom>
          <a:solidFill>
            <a:srgbClr val="2443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  <a:ea typeface="Segoe UI" pitchFamily="34" charset="-122"/>
                <a:cs typeface="Segoe UI" pitchFamily="34" charset="-120"/>
              </a:rPr>
              <a:t>CORRELACIONES Y RIESGO DE VIOLENCIA</a:t>
            </a: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50" name="Picture 8">
            <a:extLst>
              <a:ext uri="{FF2B5EF4-FFF2-40B4-BE49-F238E27FC236}">
                <a16:creationId xmlns:a16="http://schemas.microsoft.com/office/drawing/2014/main" id="{95610DD4-341A-8DA7-D4C7-F6BDF67472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alphaModFix amt="6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8128" y="78457"/>
            <a:ext cx="591924" cy="590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10" descr="Escuela de Formación Digital | Nuclio Digital School">
            <a:extLst>
              <a:ext uri="{FF2B5EF4-FFF2-40B4-BE49-F238E27FC236}">
                <a16:creationId xmlns:a16="http://schemas.microsoft.com/office/drawing/2014/main" id="{CFCC5D34-3527-E299-2ADE-81B305DDC4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alphaModFix amt="6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261533" y="77226"/>
            <a:ext cx="591924" cy="591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0C0E3E-12CA-129A-4EC6-85BD79A7B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47872" y="6310312"/>
            <a:ext cx="5096256" cy="365125"/>
          </a:xfrm>
        </p:spPr>
        <p:txBody>
          <a:bodyPr/>
          <a:lstStyle/>
          <a:p>
            <a:r>
              <a:rPr lang="es-ES" dirty="0">
                <a:solidFill>
                  <a:srgbClr val="B9B9B9"/>
                </a:solidFill>
              </a:rPr>
              <a:t>NUCLIO DIGITAL SCHOOL - MÁSTER DATA ANALYTICS - TFM - GRUPO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8E010D-421D-97B0-115C-8C1E4DC0341D}"/>
              </a:ext>
            </a:extLst>
          </p:cNvPr>
          <p:cNvSpPr/>
          <p:nvPr/>
        </p:nvSpPr>
        <p:spPr>
          <a:xfrm>
            <a:off x="0" y="-1"/>
            <a:ext cx="12192000" cy="766167"/>
          </a:xfrm>
          <a:prstGeom prst="rect">
            <a:avLst/>
          </a:prstGeom>
          <a:solidFill>
            <a:srgbClr val="2443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2000" b="1" dirty="0"/>
              <a:t>EVALUACIÓN DE LOS PUNTAJES DE COMPAS: </a:t>
            </a:r>
            <a:r>
              <a:rPr lang="en-US" sz="2000" b="1" dirty="0">
                <a:solidFill>
                  <a:srgbClr val="FFFFFF"/>
                </a:solidFill>
                <a:ea typeface="Georgia" pitchFamily="34" charset="-122"/>
                <a:cs typeface="Georgia" pitchFamily="34" charset="-120"/>
              </a:rPr>
              <a:t>MARCO DE EVALUACIÓN</a:t>
            </a:r>
            <a:endParaRPr lang="en-US" sz="2000" dirty="0"/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3886E602-8151-5450-7771-3B3900FFAA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6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8128" y="78457"/>
            <a:ext cx="591924" cy="590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0" descr="Escuela de Formación Digital | Nuclio Digital School">
            <a:extLst>
              <a:ext uri="{FF2B5EF4-FFF2-40B4-BE49-F238E27FC236}">
                <a16:creationId xmlns:a16="http://schemas.microsoft.com/office/drawing/2014/main" id="{12F3974B-EEED-7A1A-30A7-22F523878E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6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261533" y="77226"/>
            <a:ext cx="591924" cy="591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05699459-EF98-EC10-E84B-9A6C6961BE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9560141"/>
              </p:ext>
            </p:extLst>
          </p:nvPr>
        </p:nvGraphicFramePr>
        <p:xfrm>
          <a:off x="499110" y="974407"/>
          <a:ext cx="11226165" cy="5350192"/>
        </p:xfrm>
        <a:graphic>
          <a:graphicData uri="http://schemas.openxmlformats.org/drawingml/2006/table">
            <a:tbl>
              <a:tblPr/>
              <a:tblGrid>
                <a:gridCol w="28065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96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877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</a:rPr>
                        <a:t>Métrica</a:t>
                      </a:r>
                      <a:endParaRPr lang="en-US" sz="24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3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</a:rPr>
                        <a:t>Pregunta clave</a:t>
                      </a:r>
                      <a:endParaRPr lang="en-US" sz="24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3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8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4437A"/>
                          </a:solidFill>
                        </a:rPr>
                        <a:t>AUC</a:t>
                      </a:r>
                      <a:endParaRPr lang="en-US" sz="1800" dirty="0">
                        <a:solidFill>
                          <a:srgbClr val="24437A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E293B"/>
                          </a:solidFill>
                        </a:rPr>
                        <a:t>¿Qué tan bien distingue entre reincidentes y no reincidentes?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8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4437A"/>
                          </a:solidFill>
                        </a:rPr>
                        <a:t>Precision</a:t>
                      </a:r>
                      <a:endParaRPr lang="en-US" sz="1800" dirty="0">
                        <a:solidFill>
                          <a:srgbClr val="24437A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" sz="1800" kern="1200" dirty="0">
                          <a:solidFill>
                            <a:srgbClr val="1E293B"/>
                          </a:solidFill>
                          <a:latin typeface="+mn-lt"/>
                          <a:ea typeface="+mn-ea"/>
                          <a:cs typeface="+mn-cs"/>
                        </a:rPr>
                        <a:t>De todos los casos que el modelo predijo como positivos, ¿qué fracción realmente lo era?</a:t>
                      </a:r>
                      <a:endParaRPr lang="en-US" sz="1800" kern="1200" dirty="0">
                        <a:solidFill>
                          <a:srgbClr val="1E293B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8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4437A"/>
                          </a:solidFill>
                        </a:rPr>
                        <a:t>Recall</a:t>
                      </a:r>
                      <a:endParaRPr lang="en-US" sz="1800" dirty="0">
                        <a:solidFill>
                          <a:srgbClr val="24437A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" sz="1800" kern="1200" dirty="0">
                          <a:solidFill>
                            <a:srgbClr val="1E293B"/>
                          </a:solidFill>
                          <a:latin typeface="+mn-lt"/>
                          <a:ea typeface="+mn-ea"/>
                          <a:cs typeface="+mn-cs"/>
                        </a:rPr>
                        <a:t>De todos los casos que realmente son positivos, ¿qué fracción detectó el modelo?</a:t>
                      </a:r>
                      <a:endParaRPr lang="en-US" sz="1800" kern="1200" dirty="0">
                        <a:solidFill>
                          <a:srgbClr val="1E293B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8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4437A"/>
                          </a:solidFill>
                        </a:rPr>
                        <a:t>FPR</a:t>
                      </a:r>
                      <a:endParaRPr lang="en-US" sz="1800" dirty="0">
                        <a:solidFill>
                          <a:srgbClr val="24437A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E293B"/>
                          </a:solidFill>
                        </a:rPr>
                        <a:t>¿Qué fracción de personas </a:t>
                      </a:r>
                      <a:r>
                        <a:rPr lang="en-US" sz="1800" dirty="0" err="1">
                          <a:solidFill>
                            <a:srgbClr val="1E293B"/>
                          </a:solidFill>
                        </a:rPr>
                        <a:t>marca</a:t>
                      </a:r>
                      <a:r>
                        <a:rPr lang="en-US" sz="1800" dirty="0">
                          <a:solidFill>
                            <a:srgbClr val="1E293B"/>
                          </a:solidFill>
                        </a:rPr>
                        <a:t> erróneamente </a:t>
                      </a:r>
                      <a:r>
                        <a:rPr lang="en-US" sz="1800" dirty="0" err="1">
                          <a:solidFill>
                            <a:srgbClr val="1E293B"/>
                          </a:solidFill>
                        </a:rPr>
                        <a:t>como</a:t>
                      </a:r>
                      <a:r>
                        <a:rPr lang="en-US" sz="1800" dirty="0">
                          <a:solidFill>
                            <a:srgbClr val="1E293B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1E293B"/>
                          </a:solidFill>
                        </a:rPr>
                        <a:t>positivos</a:t>
                      </a:r>
                      <a:r>
                        <a:rPr lang="en-US" sz="1800" dirty="0">
                          <a:solidFill>
                            <a:srgbClr val="1E293B"/>
                          </a:solidFill>
                        </a:rPr>
                        <a:t>?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8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4437A"/>
                          </a:solidFill>
                        </a:rPr>
                        <a:t>Disparidad FPR</a:t>
                      </a:r>
                      <a:endParaRPr lang="en-US" sz="1800" dirty="0">
                        <a:solidFill>
                          <a:srgbClr val="24437A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E293B"/>
                          </a:solidFill>
                        </a:rPr>
                        <a:t>¿Es ese error igual para </a:t>
                      </a:r>
                      <a:r>
                        <a:rPr lang="en-US" sz="1800" dirty="0" err="1">
                          <a:solidFill>
                            <a:srgbClr val="1E293B"/>
                          </a:solidFill>
                        </a:rPr>
                        <a:t>todas</a:t>
                      </a:r>
                      <a:r>
                        <a:rPr lang="en-US" sz="1800" dirty="0">
                          <a:solidFill>
                            <a:srgbClr val="1E293B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1E293B"/>
                          </a:solidFill>
                        </a:rPr>
                        <a:t>los</a:t>
                      </a:r>
                      <a:r>
                        <a:rPr lang="en-US" sz="1800" dirty="0">
                          <a:solidFill>
                            <a:srgbClr val="1E293B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1E293B"/>
                          </a:solidFill>
                        </a:rPr>
                        <a:t>grupos</a:t>
                      </a:r>
                      <a:r>
                        <a:rPr lang="en-US" sz="1800" dirty="0">
                          <a:solidFill>
                            <a:srgbClr val="1E293B"/>
                          </a:solidFill>
                        </a:rPr>
                        <a:t>?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8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4437A"/>
                          </a:solidFill>
                        </a:rPr>
                        <a:t>Calibration</a:t>
                      </a:r>
                      <a:endParaRPr lang="en-US" sz="1800" dirty="0">
                        <a:solidFill>
                          <a:srgbClr val="24437A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E293B"/>
                          </a:solidFill>
                        </a:rPr>
                        <a:t>¿Los valores del score reflejan la probabilidad real?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68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4437A"/>
                          </a:solidFill>
                        </a:rPr>
                        <a:t>Equalized Odds gap</a:t>
                      </a:r>
                      <a:endParaRPr lang="en-US" sz="1800" dirty="0">
                        <a:solidFill>
                          <a:srgbClr val="24437A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E293B"/>
                          </a:solidFill>
                        </a:rPr>
                        <a:t>¿Distribuye los errores equitativamente entre grupos?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395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A3E06-66F4-B40A-7208-276F44835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C0ED86-475F-DB59-DE19-2B686E72A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47872" y="6310312"/>
            <a:ext cx="5096256" cy="365125"/>
          </a:xfrm>
        </p:spPr>
        <p:txBody>
          <a:bodyPr/>
          <a:lstStyle/>
          <a:p>
            <a:r>
              <a:rPr lang="es-ES" dirty="0">
                <a:solidFill>
                  <a:srgbClr val="B9B9B9"/>
                </a:solidFill>
              </a:rPr>
              <a:t>NUCLIO DIGITAL SCHOOL - MÁSTER DATA ANALYTICS - TFM - GRUPO 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7A2787-ADF1-60E3-7015-36C90D6E8792}"/>
              </a:ext>
            </a:extLst>
          </p:cNvPr>
          <p:cNvSpPr/>
          <p:nvPr/>
        </p:nvSpPr>
        <p:spPr>
          <a:xfrm>
            <a:off x="0" y="-1"/>
            <a:ext cx="12192000" cy="766167"/>
          </a:xfrm>
          <a:prstGeom prst="rect">
            <a:avLst/>
          </a:prstGeom>
          <a:solidFill>
            <a:srgbClr val="2443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5550"/>
              </a:lnSpc>
            </a:pPr>
            <a:r>
              <a:rPr lang="en-US" sz="2800" b="1" dirty="0">
                <a:solidFill>
                  <a:schemeClr val="bg1"/>
                </a:solidFill>
                <a:ea typeface="Merriweather Bold" pitchFamily="34" charset="-122"/>
                <a:cs typeface="Merriweather Bold" pitchFamily="34" charset="-120"/>
              </a:rPr>
              <a:t>TASAS BASE DE REINCIDENCIA</a:t>
            </a: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DFB1CC81-2241-555F-7E65-F2B1EC3223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6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8128" y="78457"/>
            <a:ext cx="591924" cy="590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0" descr="Escuela de Formación Digital | Nuclio Digital School">
            <a:extLst>
              <a:ext uri="{FF2B5EF4-FFF2-40B4-BE49-F238E27FC236}">
                <a16:creationId xmlns:a16="http://schemas.microsoft.com/office/drawing/2014/main" id="{67CD6F9B-DB1E-233C-FFEA-6ECE4BA6DC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6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261533" y="77226"/>
            <a:ext cx="591924" cy="591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3">
            <a:extLst>
              <a:ext uri="{FF2B5EF4-FFF2-40B4-BE49-F238E27FC236}">
                <a16:creationId xmlns:a16="http://schemas.microsoft.com/office/drawing/2014/main" id="{9D6C5947-01FF-40C0-B275-9EE2D77AEF8D}"/>
              </a:ext>
            </a:extLst>
          </p:cNvPr>
          <p:cNvSpPr/>
          <p:nvPr/>
        </p:nvSpPr>
        <p:spPr>
          <a:xfrm>
            <a:off x="360437" y="1067988"/>
            <a:ext cx="8383513" cy="335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solidFill>
                  <a:srgbClr val="24437A"/>
                </a:solidFill>
                <a:ea typeface="Merriweather Bold" pitchFamily="34" charset="-122"/>
                <a:cs typeface="Merriweather Bold" pitchFamily="34" charset="-120"/>
              </a:rPr>
              <a:t>Tasas base de </a:t>
            </a:r>
            <a:r>
              <a:rPr lang="en-US" sz="2000" b="1" dirty="0" err="1">
                <a:solidFill>
                  <a:srgbClr val="24437A"/>
                </a:solidFill>
                <a:ea typeface="Merriweather Bold" pitchFamily="34" charset="-122"/>
                <a:cs typeface="Merriweather Bold" pitchFamily="34" charset="-120"/>
              </a:rPr>
              <a:t>reincidencia</a:t>
            </a:r>
            <a:r>
              <a:rPr lang="en-US" sz="2000" b="1" dirty="0">
                <a:solidFill>
                  <a:srgbClr val="24437A"/>
                </a:solidFill>
                <a:ea typeface="Merriweather Bold" pitchFamily="34" charset="-122"/>
                <a:cs typeface="Merriweather Bold" pitchFamily="34" charset="-120"/>
              </a:rPr>
              <a:t> a dos </a:t>
            </a:r>
            <a:r>
              <a:rPr lang="en-US" sz="2000" b="1" dirty="0" err="1">
                <a:solidFill>
                  <a:srgbClr val="24437A"/>
                </a:solidFill>
                <a:ea typeface="Merriweather Bold" pitchFamily="34" charset="-122"/>
                <a:cs typeface="Merriweather Bold" pitchFamily="34" charset="-120"/>
              </a:rPr>
              <a:t>años</a:t>
            </a:r>
            <a:r>
              <a:rPr lang="en-US" sz="2000" b="1" dirty="0">
                <a:solidFill>
                  <a:srgbClr val="24437A"/>
                </a:solidFill>
                <a:ea typeface="Merriweather Bold" pitchFamily="34" charset="-122"/>
                <a:cs typeface="Merriweather Bold" pitchFamily="34" charset="-120"/>
              </a:rPr>
              <a:t>: Una </a:t>
            </a:r>
            <a:r>
              <a:rPr lang="en-US" sz="2000" b="1" dirty="0" err="1">
                <a:solidFill>
                  <a:srgbClr val="24437A"/>
                </a:solidFill>
                <a:ea typeface="Merriweather Bold" pitchFamily="34" charset="-122"/>
                <a:cs typeface="Merriweather Bold" pitchFamily="34" charset="-120"/>
              </a:rPr>
              <a:t>limitación</a:t>
            </a:r>
            <a:r>
              <a:rPr lang="en-US" sz="2000" b="1" dirty="0">
                <a:solidFill>
                  <a:srgbClr val="24437A"/>
                </a:solidFill>
                <a:ea typeface="Merriweather Bold" pitchFamily="34" charset="-122"/>
                <a:cs typeface="Merriweather Bold" pitchFamily="34" charset="-120"/>
              </a:rPr>
              <a:t> a </a:t>
            </a:r>
            <a:r>
              <a:rPr lang="en-US" sz="2000" b="1" dirty="0" err="1">
                <a:solidFill>
                  <a:srgbClr val="24437A"/>
                </a:solidFill>
                <a:ea typeface="Merriweather Bold" pitchFamily="34" charset="-122"/>
                <a:cs typeface="Merriweather Bold" pitchFamily="34" charset="-120"/>
              </a:rPr>
              <a:t>tener</a:t>
            </a:r>
            <a:r>
              <a:rPr lang="en-US" sz="2000" b="1" dirty="0">
                <a:solidFill>
                  <a:srgbClr val="24437A"/>
                </a:solidFill>
                <a:ea typeface="Merriweather Bold" pitchFamily="34" charset="-122"/>
                <a:cs typeface="Merriweather Bold" pitchFamily="34" charset="-120"/>
              </a:rPr>
              <a:t> en </a:t>
            </a:r>
            <a:r>
              <a:rPr lang="en-US" sz="2000" b="1" dirty="0" err="1">
                <a:solidFill>
                  <a:srgbClr val="24437A"/>
                </a:solidFill>
                <a:ea typeface="Merriweather Bold" pitchFamily="34" charset="-122"/>
                <a:cs typeface="Merriweather Bold" pitchFamily="34" charset="-120"/>
              </a:rPr>
              <a:t>cuenta</a:t>
            </a:r>
            <a:endParaRPr lang="en-US" sz="2000" dirty="0">
              <a:solidFill>
                <a:srgbClr val="24437A"/>
              </a:solidFill>
            </a:endParaRPr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0B5CEF5C-11AF-63B6-1595-C0F935C8BA78}"/>
              </a:ext>
            </a:extLst>
          </p:cNvPr>
          <p:cNvSpPr/>
          <p:nvPr/>
        </p:nvSpPr>
        <p:spPr>
          <a:xfrm>
            <a:off x="478568" y="1568227"/>
            <a:ext cx="2977773" cy="1058637"/>
          </a:xfrm>
          <a:prstGeom prst="roundRect">
            <a:avLst/>
          </a:prstGeom>
          <a:solidFill>
            <a:srgbClr val="24437A"/>
          </a:solidFill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bg1"/>
                </a:solidFill>
                <a:ea typeface="Merriweather Bold" pitchFamily="34" charset="-122"/>
                <a:cs typeface="Merriweather Bold" pitchFamily="34" charset="-120"/>
              </a:rPr>
              <a:t>42.7%</a:t>
            </a:r>
          </a:p>
          <a:p>
            <a:pPr algn="ctr"/>
            <a:r>
              <a:rPr lang="en-US" sz="1600" b="1" dirty="0">
                <a:solidFill>
                  <a:schemeClr val="bg1"/>
                </a:solidFill>
                <a:ea typeface="Merriweather Bold" pitchFamily="34" charset="-122"/>
                <a:cs typeface="Merriweather Bold" pitchFamily="34" charset="-120"/>
              </a:rPr>
              <a:t>African-American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879D72A4-2AA2-0C74-783E-CC8ECADFAC31}"/>
              </a:ext>
            </a:extLst>
          </p:cNvPr>
          <p:cNvSpPr/>
          <p:nvPr/>
        </p:nvSpPr>
        <p:spPr>
          <a:xfrm flipH="1">
            <a:off x="478567" y="2816235"/>
            <a:ext cx="2977774" cy="1058637"/>
          </a:xfrm>
          <a:prstGeom prst="roundRect">
            <a:avLst/>
          </a:prstGeom>
          <a:solidFill>
            <a:srgbClr val="24437A"/>
          </a:solidFill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bg1"/>
                </a:solidFill>
                <a:ea typeface="Merriweather Bold" pitchFamily="34" charset="-122"/>
                <a:cs typeface="Merriweather Bold" pitchFamily="34" charset="-120"/>
              </a:rPr>
              <a:t>30.2%</a:t>
            </a:r>
          </a:p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ea typeface="Merriweather Bold" pitchFamily="34" charset="-122"/>
                <a:cs typeface="Merriweather Bold" pitchFamily="34" charset="-120"/>
              </a:rPr>
              <a:t>Caucasian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2CE92F73-163E-D5D3-59F7-86872B3BBAE3}"/>
              </a:ext>
            </a:extLst>
          </p:cNvPr>
          <p:cNvSpPr/>
          <p:nvPr/>
        </p:nvSpPr>
        <p:spPr>
          <a:xfrm>
            <a:off x="7720566" y="2648298"/>
            <a:ext cx="2687562" cy="335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endParaRPr lang="en-US" sz="2000" dirty="0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0ED9AD9E-C885-FB8A-631A-930A69621CDF}"/>
              </a:ext>
            </a:extLst>
          </p:cNvPr>
          <p:cNvSpPr/>
          <p:nvPr/>
        </p:nvSpPr>
        <p:spPr>
          <a:xfrm>
            <a:off x="860310" y="4116926"/>
            <a:ext cx="2687562" cy="335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solidFill>
                  <a:srgbClr val="403C4E"/>
                </a:solidFill>
                <a:ea typeface="Merriweather Bold" pitchFamily="34" charset="-122"/>
                <a:cs typeface="Merriweather Bold" pitchFamily="34" charset="-120"/>
              </a:rPr>
              <a:t>¿Por qué importa?</a:t>
            </a:r>
            <a:endParaRPr lang="en-US" sz="2000" dirty="0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2784D65E-C458-0F89-3BFF-3512ED3173B2}"/>
              </a:ext>
            </a:extLst>
          </p:cNvPr>
          <p:cNvSpPr/>
          <p:nvPr/>
        </p:nvSpPr>
        <p:spPr>
          <a:xfrm>
            <a:off x="544751" y="4557896"/>
            <a:ext cx="4617799" cy="688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b="1" dirty="0">
                <a:solidFill>
                  <a:srgbClr val="403C4E"/>
                </a:solidFill>
                <a:ea typeface="Open Sans" pitchFamily="34" charset="-122"/>
                <a:cs typeface="Open Sans" pitchFamily="34" charset="-120"/>
              </a:rPr>
              <a:t>Con tasas base distintas y un único umbral de decisión, es matemáticamente imposible tener simultáneamente FPR igual, FNR igual y precision igual entre grupos (Chouldechova, 2017).</a:t>
            </a:r>
            <a:endParaRPr lang="en-US" sz="1600" b="1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D36711F5-1FD7-C473-D612-9DC2240919F0}"/>
              </a:ext>
            </a:extLst>
          </p:cNvPr>
          <p:cNvSpPr/>
          <p:nvPr/>
        </p:nvSpPr>
        <p:spPr>
          <a:xfrm>
            <a:off x="1473126" y="7069664"/>
            <a:ext cx="12363485" cy="344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dirty="0">
                <a:solidFill>
                  <a:srgbClr val="403C4E"/>
                </a:solidFill>
                <a:ea typeface="Open Sans" pitchFamily="34" charset="-122"/>
                <a:cs typeface="Open Sans" pitchFamily="34" charset="-120"/>
              </a:rPr>
              <a:t>Cumplir uno de estos criterios implica necesariamente sacrificar los otros.</a:t>
            </a:r>
            <a:endParaRPr lang="en-US" sz="1600" dirty="0"/>
          </a:p>
        </p:txBody>
      </p:sp>
      <p:pic>
        <p:nvPicPr>
          <p:cNvPr id="19" name="Imagen 1">
            <a:extLst>
              <a:ext uri="{FF2B5EF4-FFF2-40B4-BE49-F238E27FC236}">
                <a16:creationId xmlns:a16="http://schemas.microsoft.com/office/drawing/2014/main" id="{6F22E1C8-789D-7B8B-AA67-CE5656D604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1090" y="1733565"/>
            <a:ext cx="6596109" cy="4129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231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5C8AB-B0E6-A509-C2D7-BECD00F25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63629C-7C4D-C6DC-779A-331B7D1D9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47872" y="6310312"/>
            <a:ext cx="5096256" cy="365125"/>
          </a:xfrm>
        </p:spPr>
        <p:txBody>
          <a:bodyPr/>
          <a:lstStyle/>
          <a:p>
            <a:r>
              <a:rPr lang="es-ES" dirty="0">
                <a:solidFill>
                  <a:srgbClr val="B9B9B9"/>
                </a:solidFill>
              </a:rPr>
              <a:t>NUCLIO DIGITAL SCHOOL - MÁSTER DATA ANALYTICS - TFM - GRUPO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C13C23-9732-3175-552C-6221764C5F62}"/>
              </a:ext>
            </a:extLst>
          </p:cNvPr>
          <p:cNvSpPr/>
          <p:nvPr/>
        </p:nvSpPr>
        <p:spPr>
          <a:xfrm>
            <a:off x="0" y="-1"/>
            <a:ext cx="12192000" cy="766167"/>
          </a:xfrm>
          <a:prstGeom prst="rect">
            <a:avLst/>
          </a:prstGeom>
          <a:solidFill>
            <a:srgbClr val="2443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FFFFFF"/>
                </a:solidFill>
                <a:ea typeface="Georgia" pitchFamily="34" charset="-122"/>
                <a:cs typeface="Georgia" pitchFamily="34" charset="-120"/>
              </a:rPr>
              <a:t>EVALUACIÓN DE COMPAS — AUC</a:t>
            </a:r>
            <a:endParaRPr lang="en-US" sz="2800" dirty="0"/>
          </a:p>
        </p:txBody>
      </p:sp>
      <p:pic>
        <p:nvPicPr>
          <p:cNvPr id="6" name="Picture 8">
            <a:extLst>
              <a:ext uri="{FF2B5EF4-FFF2-40B4-BE49-F238E27FC236}">
                <a16:creationId xmlns:a16="http://schemas.microsoft.com/office/drawing/2014/main" id="{1158350B-0890-8125-8486-4ABB14FF1C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6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8128" y="78457"/>
            <a:ext cx="591924" cy="590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0" descr="Escuela de Formación Digital | Nuclio Digital School">
            <a:extLst>
              <a:ext uri="{FF2B5EF4-FFF2-40B4-BE49-F238E27FC236}">
                <a16:creationId xmlns:a16="http://schemas.microsoft.com/office/drawing/2014/main" id="{20FABB74-81CD-E9EB-1B41-844DA49F44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6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261533" y="77226"/>
            <a:ext cx="591924" cy="591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Shape 4">
            <a:extLst>
              <a:ext uri="{FF2B5EF4-FFF2-40B4-BE49-F238E27FC236}">
                <a16:creationId xmlns:a16="http://schemas.microsoft.com/office/drawing/2014/main" id="{4F0D2D2F-FDC7-C322-B5D4-D94A9A476EED}"/>
              </a:ext>
            </a:extLst>
          </p:cNvPr>
          <p:cNvSpPr/>
          <p:nvPr/>
        </p:nvSpPr>
        <p:spPr>
          <a:xfrm>
            <a:off x="1815464" y="4890747"/>
            <a:ext cx="2701291" cy="123855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6" name="Text 6">
            <a:extLst>
              <a:ext uri="{FF2B5EF4-FFF2-40B4-BE49-F238E27FC236}">
                <a16:creationId xmlns:a16="http://schemas.microsoft.com/office/drawing/2014/main" id="{EE6FDD2E-12B1-5BE6-93E1-FE1F5313D0A3}"/>
              </a:ext>
            </a:extLst>
          </p:cNvPr>
          <p:cNvSpPr/>
          <p:nvPr/>
        </p:nvSpPr>
        <p:spPr>
          <a:xfrm>
            <a:off x="1943481" y="4963899"/>
            <a:ext cx="2308531" cy="2486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ea typeface="Calibri" pitchFamily="34" charset="-122"/>
                <a:cs typeface="Calibri" pitchFamily="34" charset="-120"/>
              </a:rPr>
              <a:t>AUC General</a:t>
            </a:r>
            <a:endParaRPr lang="en-US" sz="1600" dirty="0"/>
          </a:p>
        </p:txBody>
      </p:sp>
      <p:sp>
        <p:nvSpPr>
          <p:cNvPr id="37" name="Text 7">
            <a:extLst>
              <a:ext uri="{FF2B5EF4-FFF2-40B4-BE49-F238E27FC236}">
                <a16:creationId xmlns:a16="http://schemas.microsoft.com/office/drawing/2014/main" id="{76C8EE85-6A88-F1C2-D0AF-10F2B6B58A1E}"/>
              </a:ext>
            </a:extLst>
          </p:cNvPr>
          <p:cNvSpPr/>
          <p:nvPr/>
        </p:nvSpPr>
        <p:spPr>
          <a:xfrm>
            <a:off x="1943481" y="5244716"/>
            <a:ext cx="2308529" cy="426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A2456"/>
                </a:solidFill>
                <a:ea typeface="Georgia" pitchFamily="34" charset="-122"/>
                <a:cs typeface="Georgia" pitchFamily="34" charset="-120"/>
              </a:rPr>
              <a:t>0.702</a:t>
            </a:r>
            <a:endParaRPr lang="en-US" sz="4400" dirty="0"/>
          </a:p>
        </p:txBody>
      </p:sp>
      <p:sp>
        <p:nvSpPr>
          <p:cNvPr id="38" name="Text 8">
            <a:extLst>
              <a:ext uri="{FF2B5EF4-FFF2-40B4-BE49-F238E27FC236}">
                <a16:creationId xmlns:a16="http://schemas.microsoft.com/office/drawing/2014/main" id="{F86842B5-C77C-3937-37D7-5BCDFC5A5385}"/>
              </a:ext>
            </a:extLst>
          </p:cNvPr>
          <p:cNvSpPr/>
          <p:nvPr/>
        </p:nvSpPr>
        <p:spPr>
          <a:xfrm>
            <a:off x="1943481" y="5731332"/>
            <a:ext cx="2308528" cy="1953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ea typeface="Calibri" pitchFamily="34" charset="-122"/>
                <a:cs typeface="Calibri" pitchFamily="34" charset="-120"/>
              </a:rPr>
              <a:t>Clasificación moderada</a:t>
            </a:r>
            <a:endParaRPr lang="en-US" sz="1400" dirty="0"/>
          </a:p>
        </p:txBody>
      </p:sp>
      <p:sp>
        <p:nvSpPr>
          <p:cNvPr id="54" name="Text 9">
            <a:extLst>
              <a:ext uri="{FF2B5EF4-FFF2-40B4-BE49-F238E27FC236}">
                <a16:creationId xmlns:a16="http://schemas.microsoft.com/office/drawing/2014/main" id="{770B01B8-7312-CE9B-6EF5-AF3EF3DE5E78}"/>
              </a:ext>
            </a:extLst>
          </p:cNvPr>
          <p:cNvSpPr/>
          <p:nvPr/>
        </p:nvSpPr>
        <p:spPr>
          <a:xfrm>
            <a:off x="6170296" y="4245116"/>
            <a:ext cx="5303520" cy="3362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456"/>
                </a:solidFill>
                <a:ea typeface="Georgia" pitchFamily="34" charset="-122"/>
                <a:cs typeface="Georgia" pitchFamily="34" charset="-120"/>
              </a:rPr>
              <a:t>AUC </a:t>
            </a:r>
            <a:r>
              <a:rPr lang="en-US" b="1" dirty="0" err="1">
                <a:solidFill>
                  <a:srgbClr val="1A2456"/>
                </a:solidFill>
                <a:ea typeface="Georgia" pitchFamily="34" charset="-122"/>
                <a:cs typeface="Georgia" pitchFamily="34" charset="-120"/>
              </a:rPr>
              <a:t>por</a:t>
            </a:r>
            <a:r>
              <a:rPr lang="en-US" b="1" dirty="0">
                <a:solidFill>
                  <a:srgbClr val="1A2456"/>
                </a:solidFill>
                <a:ea typeface="Georgia" pitchFamily="34" charset="-122"/>
                <a:cs typeface="Georgia" pitchFamily="34" charset="-120"/>
              </a:rPr>
              <a:t> raza</a:t>
            </a:r>
            <a:endParaRPr lang="en-US" dirty="0"/>
          </a:p>
        </p:txBody>
      </p:sp>
      <p:sp>
        <p:nvSpPr>
          <p:cNvPr id="55" name="Shape 10">
            <a:extLst>
              <a:ext uri="{FF2B5EF4-FFF2-40B4-BE49-F238E27FC236}">
                <a16:creationId xmlns:a16="http://schemas.microsoft.com/office/drawing/2014/main" id="{4916EFD4-DF51-531D-B55B-75D2F384DE27}"/>
              </a:ext>
            </a:extLst>
          </p:cNvPr>
          <p:cNvSpPr/>
          <p:nvPr/>
        </p:nvSpPr>
        <p:spPr>
          <a:xfrm>
            <a:off x="6170296" y="4609772"/>
            <a:ext cx="5303520" cy="36512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56" name="Text 11">
            <a:extLst>
              <a:ext uri="{FF2B5EF4-FFF2-40B4-BE49-F238E27FC236}">
                <a16:creationId xmlns:a16="http://schemas.microsoft.com/office/drawing/2014/main" id="{5A8A12DA-89F4-CB59-2254-9B85CFD3B145}"/>
              </a:ext>
            </a:extLst>
          </p:cNvPr>
          <p:cNvSpPr/>
          <p:nvPr/>
        </p:nvSpPr>
        <p:spPr>
          <a:xfrm>
            <a:off x="6261736" y="4609772"/>
            <a:ext cx="3200400" cy="3651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African-American</a:t>
            </a:r>
            <a:endParaRPr lang="en-US" sz="1600" dirty="0"/>
          </a:p>
        </p:txBody>
      </p:sp>
      <p:sp>
        <p:nvSpPr>
          <p:cNvPr id="57" name="Text 12">
            <a:extLst>
              <a:ext uri="{FF2B5EF4-FFF2-40B4-BE49-F238E27FC236}">
                <a16:creationId xmlns:a16="http://schemas.microsoft.com/office/drawing/2014/main" id="{AB5D687C-B149-CE66-07EE-F8C528C78C8F}"/>
              </a:ext>
            </a:extLst>
          </p:cNvPr>
          <p:cNvSpPr/>
          <p:nvPr/>
        </p:nvSpPr>
        <p:spPr>
          <a:xfrm>
            <a:off x="9919336" y="4609772"/>
            <a:ext cx="1371600" cy="3651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456"/>
                </a:solidFill>
                <a:ea typeface="Georgia" pitchFamily="34" charset="-122"/>
                <a:cs typeface="Georgia" pitchFamily="34" charset="-120"/>
              </a:rPr>
              <a:t>0.69</a:t>
            </a:r>
            <a:endParaRPr lang="en-US" sz="1600" dirty="0"/>
          </a:p>
        </p:txBody>
      </p:sp>
      <p:sp>
        <p:nvSpPr>
          <p:cNvPr id="58" name="Shape 13">
            <a:extLst>
              <a:ext uri="{FF2B5EF4-FFF2-40B4-BE49-F238E27FC236}">
                <a16:creationId xmlns:a16="http://schemas.microsoft.com/office/drawing/2014/main" id="{FB6161C6-0ABF-7AAA-7D13-5486CDD3DF16}"/>
              </a:ext>
            </a:extLst>
          </p:cNvPr>
          <p:cNvSpPr/>
          <p:nvPr/>
        </p:nvSpPr>
        <p:spPr>
          <a:xfrm>
            <a:off x="6170296" y="5012108"/>
            <a:ext cx="5303520" cy="36512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59" name="Text 14">
            <a:extLst>
              <a:ext uri="{FF2B5EF4-FFF2-40B4-BE49-F238E27FC236}">
                <a16:creationId xmlns:a16="http://schemas.microsoft.com/office/drawing/2014/main" id="{D3CBD127-E17D-7E86-09E6-F20CD0EC5AC3}"/>
              </a:ext>
            </a:extLst>
          </p:cNvPr>
          <p:cNvSpPr/>
          <p:nvPr/>
        </p:nvSpPr>
        <p:spPr>
          <a:xfrm>
            <a:off x="6261736" y="5012108"/>
            <a:ext cx="3200400" cy="3651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Caucasian</a:t>
            </a:r>
            <a:endParaRPr lang="en-US" sz="1600" dirty="0"/>
          </a:p>
        </p:txBody>
      </p:sp>
      <p:sp>
        <p:nvSpPr>
          <p:cNvPr id="60" name="Text 15">
            <a:extLst>
              <a:ext uri="{FF2B5EF4-FFF2-40B4-BE49-F238E27FC236}">
                <a16:creationId xmlns:a16="http://schemas.microsoft.com/office/drawing/2014/main" id="{92244786-4791-C9FC-9FF2-CDC294A1F64D}"/>
              </a:ext>
            </a:extLst>
          </p:cNvPr>
          <p:cNvSpPr/>
          <p:nvPr/>
        </p:nvSpPr>
        <p:spPr>
          <a:xfrm>
            <a:off x="9919336" y="5012108"/>
            <a:ext cx="1371600" cy="3651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456"/>
                </a:solidFill>
                <a:ea typeface="Georgia" pitchFamily="34" charset="-122"/>
                <a:cs typeface="Georgia" pitchFamily="34" charset="-120"/>
              </a:rPr>
              <a:t>0.68</a:t>
            </a:r>
            <a:endParaRPr lang="en-US" sz="1600" dirty="0"/>
          </a:p>
        </p:txBody>
      </p:sp>
      <p:sp>
        <p:nvSpPr>
          <p:cNvPr id="61" name="Shape 16">
            <a:extLst>
              <a:ext uri="{FF2B5EF4-FFF2-40B4-BE49-F238E27FC236}">
                <a16:creationId xmlns:a16="http://schemas.microsoft.com/office/drawing/2014/main" id="{B95B2F0D-78DB-1C8B-F06F-FB3D17707201}"/>
              </a:ext>
            </a:extLst>
          </p:cNvPr>
          <p:cNvSpPr/>
          <p:nvPr/>
        </p:nvSpPr>
        <p:spPr>
          <a:xfrm>
            <a:off x="6170296" y="5414444"/>
            <a:ext cx="5303520" cy="36512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62" name="Text 17">
            <a:extLst>
              <a:ext uri="{FF2B5EF4-FFF2-40B4-BE49-F238E27FC236}">
                <a16:creationId xmlns:a16="http://schemas.microsoft.com/office/drawing/2014/main" id="{6C14FF70-2D67-9662-436A-ADAF6A1A0F36}"/>
              </a:ext>
            </a:extLst>
          </p:cNvPr>
          <p:cNvSpPr/>
          <p:nvPr/>
        </p:nvSpPr>
        <p:spPr>
          <a:xfrm>
            <a:off x="6261736" y="5414444"/>
            <a:ext cx="3200400" cy="3651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Hispanic</a:t>
            </a:r>
            <a:endParaRPr lang="en-US" sz="1600" dirty="0"/>
          </a:p>
        </p:txBody>
      </p:sp>
      <p:sp>
        <p:nvSpPr>
          <p:cNvPr id="63" name="Text 18">
            <a:extLst>
              <a:ext uri="{FF2B5EF4-FFF2-40B4-BE49-F238E27FC236}">
                <a16:creationId xmlns:a16="http://schemas.microsoft.com/office/drawing/2014/main" id="{328084F3-56CB-B90A-D669-96908CC8DFD8}"/>
              </a:ext>
            </a:extLst>
          </p:cNvPr>
          <p:cNvSpPr/>
          <p:nvPr/>
        </p:nvSpPr>
        <p:spPr>
          <a:xfrm>
            <a:off x="9919336" y="5414444"/>
            <a:ext cx="1371600" cy="3651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456"/>
                </a:solidFill>
                <a:ea typeface="Georgia" pitchFamily="34" charset="-122"/>
                <a:cs typeface="Georgia" pitchFamily="34" charset="-120"/>
              </a:rPr>
              <a:t>0.65</a:t>
            </a:r>
            <a:endParaRPr lang="en-US" sz="1600" dirty="0"/>
          </a:p>
        </p:txBody>
      </p:sp>
      <p:sp>
        <p:nvSpPr>
          <p:cNvPr id="64" name="Shape 19">
            <a:extLst>
              <a:ext uri="{FF2B5EF4-FFF2-40B4-BE49-F238E27FC236}">
                <a16:creationId xmlns:a16="http://schemas.microsoft.com/office/drawing/2014/main" id="{2E3BFD19-6616-1C24-80A3-3EF45253CC4A}"/>
              </a:ext>
            </a:extLst>
          </p:cNvPr>
          <p:cNvSpPr/>
          <p:nvPr/>
        </p:nvSpPr>
        <p:spPr>
          <a:xfrm>
            <a:off x="6170296" y="5816780"/>
            <a:ext cx="5303520" cy="365125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65" name="Text 20">
            <a:extLst>
              <a:ext uri="{FF2B5EF4-FFF2-40B4-BE49-F238E27FC236}">
                <a16:creationId xmlns:a16="http://schemas.microsoft.com/office/drawing/2014/main" id="{333DD0B0-E63C-A5BA-EE52-3A2D0CCAFCC0}"/>
              </a:ext>
            </a:extLst>
          </p:cNvPr>
          <p:cNvSpPr/>
          <p:nvPr/>
        </p:nvSpPr>
        <p:spPr>
          <a:xfrm>
            <a:off x="6261736" y="5816780"/>
            <a:ext cx="3200400" cy="3651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Other</a:t>
            </a:r>
            <a:endParaRPr lang="en-US" sz="1600" dirty="0"/>
          </a:p>
        </p:txBody>
      </p:sp>
      <p:sp>
        <p:nvSpPr>
          <p:cNvPr id="66" name="Text 21">
            <a:extLst>
              <a:ext uri="{FF2B5EF4-FFF2-40B4-BE49-F238E27FC236}">
                <a16:creationId xmlns:a16="http://schemas.microsoft.com/office/drawing/2014/main" id="{70BFDAF0-05B0-34A9-4586-A9EBBF3AC37B}"/>
              </a:ext>
            </a:extLst>
          </p:cNvPr>
          <p:cNvSpPr/>
          <p:nvPr/>
        </p:nvSpPr>
        <p:spPr>
          <a:xfrm>
            <a:off x="9919336" y="5816780"/>
            <a:ext cx="1371600" cy="3651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456"/>
                </a:solidFill>
                <a:ea typeface="Georgia" pitchFamily="34" charset="-122"/>
                <a:cs typeface="Georgia" pitchFamily="34" charset="-120"/>
              </a:rPr>
              <a:t>~0.70</a:t>
            </a:r>
            <a:endParaRPr lang="en-US" sz="1600" dirty="0"/>
          </a:p>
        </p:txBody>
      </p:sp>
      <p:sp>
        <p:nvSpPr>
          <p:cNvPr id="67" name="Text 26">
            <a:extLst>
              <a:ext uri="{FF2B5EF4-FFF2-40B4-BE49-F238E27FC236}">
                <a16:creationId xmlns:a16="http://schemas.microsoft.com/office/drawing/2014/main" id="{85688A07-D25C-0D58-463F-0A2E95836638}"/>
              </a:ext>
            </a:extLst>
          </p:cNvPr>
          <p:cNvSpPr/>
          <p:nvPr/>
        </p:nvSpPr>
        <p:spPr>
          <a:xfrm>
            <a:off x="6090435" y="4033861"/>
            <a:ext cx="5303520" cy="1420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ea typeface="Calibri" pitchFamily="34" charset="-122"/>
                <a:cs typeface="Calibri" pitchFamily="34" charset="-120"/>
              </a:rPr>
              <a:t>Asian y Native American tienen AUC alto, </a:t>
            </a:r>
            <a:r>
              <a:rPr lang="en-US" sz="1000" i="1" dirty="0" err="1">
                <a:ea typeface="Calibri" pitchFamily="34" charset="-122"/>
                <a:cs typeface="Calibri" pitchFamily="34" charset="-120"/>
              </a:rPr>
              <a:t>pero</a:t>
            </a:r>
            <a:r>
              <a:rPr lang="en-US" sz="1000" i="1" dirty="0">
                <a:ea typeface="Calibri" pitchFamily="34" charset="-122"/>
                <a:cs typeface="Calibri" pitchFamily="34" charset="-120"/>
              </a:rPr>
              <a:t> son </a:t>
            </a:r>
            <a:r>
              <a:rPr lang="en-US" sz="1000" i="1" dirty="0" err="1">
                <a:ea typeface="Calibri" pitchFamily="34" charset="-122"/>
                <a:cs typeface="Calibri" pitchFamily="34" charset="-120"/>
              </a:rPr>
              <a:t>muestras</a:t>
            </a:r>
            <a:r>
              <a:rPr lang="en-US" sz="1000" i="1" dirty="0">
                <a:ea typeface="Calibri" pitchFamily="34" charset="-122"/>
                <a:cs typeface="Calibri" pitchFamily="34" charset="-120"/>
              </a:rPr>
              <a:t> muy pequeñas (n=28 y n=14).</a:t>
            </a:r>
          </a:p>
          <a:p>
            <a:pPr marL="0" indent="0" algn="ctr">
              <a:buNone/>
            </a:pPr>
            <a:r>
              <a:rPr lang="en-US" sz="1000" i="1" dirty="0">
                <a:ea typeface="Calibri" pitchFamily="34" charset="-122"/>
                <a:cs typeface="Calibri" pitchFamily="34" charset="-120"/>
              </a:rPr>
              <a:t>Son </a:t>
            </a:r>
            <a:r>
              <a:rPr lang="en-US" sz="1000" i="1" dirty="0" err="1">
                <a:ea typeface="Calibri" pitchFamily="34" charset="-122"/>
                <a:cs typeface="Calibri" pitchFamily="34" charset="-120"/>
              </a:rPr>
              <a:t>estadísticamente</a:t>
            </a:r>
            <a:r>
              <a:rPr lang="en-US" sz="1000" i="1" dirty="0">
                <a:ea typeface="Calibri" pitchFamily="34" charset="-122"/>
                <a:cs typeface="Calibri" pitchFamily="34" charset="-120"/>
              </a:rPr>
              <a:t> inestables.</a:t>
            </a:r>
            <a:endParaRPr lang="en-US" sz="1000" dirty="0"/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3262FB82-498F-B5ED-1B16-644860F1C1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184" y="946015"/>
            <a:ext cx="4685376" cy="389078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19F69686-F1E6-D042-A0C2-C7054DC0E4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3973" y="913717"/>
            <a:ext cx="3529727" cy="2931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328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36320"/>
          </a:xfrm>
          <a:prstGeom prst="rect">
            <a:avLst/>
          </a:prstGeom>
          <a:solidFill>
            <a:srgbClr val="24437A"/>
          </a:solidFill>
          <a:ln w="12700">
            <a:solidFill>
              <a:srgbClr val="1A2456"/>
            </a:solidFill>
            <a:prstDash val="solid"/>
          </a:ln>
        </p:spPr>
        <p:txBody>
          <a:bodyPr/>
          <a:lstStyle/>
          <a:p>
            <a:endParaRPr lang="es-ES" sz="2400">
              <a:latin typeface="Aptos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0"/>
            <a:ext cx="1121664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Nuestro modelo: decisiones de diseño</a:t>
            </a:r>
            <a:endParaRPr lang="en-US" sz="2933" dirty="0">
              <a:latin typeface="Aptos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363200" y="64008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333" dirty="0">
                <a:solidFill>
                  <a:srgbClr val="64748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1333" dirty="0">
              <a:latin typeface="Aptos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87680" y="1280160"/>
            <a:ext cx="11216640" cy="1560576"/>
          </a:xfrm>
          <a:prstGeom prst="round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 sz="2400">
              <a:latin typeface="Aptos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1353312"/>
            <a:ext cx="1072896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24437A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Variables seleccionadas</a:t>
            </a:r>
            <a:endParaRPr lang="en-US" sz="1733" dirty="0">
              <a:solidFill>
                <a:srgbClr val="24437A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1743456"/>
            <a:ext cx="1072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E293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age_cat · juv_fel_count · juv_misd_count · juv_other_count · priors_count · c_charge_degree</a:t>
            </a:r>
            <a:endParaRPr lang="en-US" sz="1467" dirty="0">
              <a:latin typeface="Aptos" panose="020B00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" y="2133600"/>
            <a:ext cx="10728960" cy="609600"/>
          </a:xfrm>
          <a:prstGeom prst="roundRect">
            <a:avLst/>
          </a:prstGeom>
          <a:solidFill>
            <a:srgbClr val="24437A"/>
          </a:solidFill>
          <a:ln/>
        </p:spPr>
        <p:txBody>
          <a:bodyPr wrap="square" rtlCol="0" anchor="ctr"/>
          <a:lstStyle/>
          <a:p>
            <a:r>
              <a:rPr lang="en-US" sz="1600" b="1" i="1" dirty="0" err="1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Eliminamos</a:t>
            </a:r>
            <a:r>
              <a:rPr lang="en-US" sz="1600" b="1" i="1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raza y sexo: no porque no sean predictivas, sino para construir un modelo transparente y </a:t>
            </a:r>
            <a:r>
              <a:rPr lang="en-US" sz="1600" b="1" i="1" dirty="0" err="1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defendible</a:t>
            </a:r>
            <a:r>
              <a:rPr lang="en-US" sz="1600" b="1" i="1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r>
              <a:rPr lang="en-US" sz="1333" b="1" i="1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También </a:t>
            </a:r>
            <a:r>
              <a:rPr lang="en-US" sz="1333" b="1" i="1" dirty="0" err="1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eliminamos</a:t>
            </a:r>
            <a:r>
              <a:rPr lang="en-US" sz="1333" b="1" i="1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variables </a:t>
            </a:r>
            <a:r>
              <a:rPr lang="en-US" sz="1333" b="1" i="1" dirty="0" err="1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333" b="1" i="1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33" b="1" i="1" dirty="0" err="1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contienen</a:t>
            </a:r>
            <a:r>
              <a:rPr lang="en-US" sz="1333" b="1" i="1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33" b="1" i="1" dirty="0" err="1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datos</a:t>
            </a:r>
            <a:r>
              <a:rPr lang="en-US" sz="1333" b="1" i="1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33" b="1" i="1" dirty="0" err="1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sobre</a:t>
            </a:r>
            <a:r>
              <a:rPr lang="en-US" sz="1333" b="1" i="1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33" b="1" i="1" dirty="0" err="1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reincidencia</a:t>
            </a:r>
            <a:r>
              <a:rPr lang="en-US" sz="1333" b="1" i="1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posterior, para </a:t>
            </a:r>
            <a:r>
              <a:rPr lang="en-US" sz="1333" b="1" i="1" dirty="0" err="1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evitar</a:t>
            </a:r>
            <a:r>
              <a:rPr lang="en-US" sz="1333" b="1" i="1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data leakage (p. </a:t>
            </a:r>
            <a:r>
              <a:rPr lang="en-US" sz="1333" b="1" i="1" dirty="0" err="1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ej</a:t>
            </a:r>
            <a:r>
              <a:rPr lang="en-US" sz="1333" b="1" i="1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s-ES" sz="1333" b="1" i="1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“</a:t>
            </a:r>
            <a:r>
              <a:rPr lang="es-ES" sz="1333" b="1" i="1" dirty="0" err="1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r_case_number</a:t>
            </a:r>
            <a:r>
              <a:rPr lang="es-ES" sz="1333" b="1" i="1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”</a:t>
            </a:r>
            <a:endParaRPr lang="en-US" sz="1333" b="1" i="1" dirty="0">
              <a:solidFill>
                <a:schemeClr val="bg1"/>
              </a:solidFill>
              <a:latin typeface="Aptos" panose="020B0004020202020204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7680" y="2987040"/>
            <a:ext cx="11216640" cy="1560576"/>
          </a:xfrm>
          <a:prstGeom prst="round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 sz="2400"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31520" y="3060192"/>
            <a:ext cx="1072896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24437A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Algoritmo: Regresión Logística</a:t>
            </a:r>
            <a:endParaRPr lang="en-US" sz="1733" dirty="0">
              <a:solidFill>
                <a:srgbClr val="24437A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31520" y="3450336"/>
            <a:ext cx="1072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E293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Modelo lineal e interpretable. Cada coeficiente es explicable.</a:t>
            </a:r>
            <a:endParaRPr lang="en-US" sz="1467" dirty="0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31520" y="3840480"/>
            <a:ext cx="10728960" cy="609600"/>
          </a:xfrm>
          <a:prstGeom prst="roundRect">
            <a:avLst/>
          </a:prstGeom>
          <a:solidFill>
            <a:srgbClr val="24437A"/>
          </a:solidFill>
          <a:ln/>
        </p:spPr>
        <p:txBody>
          <a:bodyPr wrap="square" rtlCol="0" anchor="ctr"/>
          <a:lstStyle/>
          <a:p>
            <a:r>
              <a:rPr lang="en-US" sz="1867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Elegida</a:t>
            </a:r>
            <a:r>
              <a:rPr lang="en-US" sz="1867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67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867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67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1867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67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interpretabilidad</a:t>
            </a:r>
            <a:r>
              <a:rPr lang="en-US" sz="1867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. En </a:t>
            </a:r>
            <a:r>
              <a:rPr lang="en-US" sz="1867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contexto</a:t>
            </a:r>
            <a:r>
              <a:rPr lang="en-US" sz="1867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judicial, </a:t>
            </a:r>
            <a:r>
              <a:rPr lang="en-US" sz="1867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cada</a:t>
            </a:r>
            <a:r>
              <a:rPr lang="en-US" sz="1867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67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coeficiente</a:t>
            </a:r>
            <a:r>
              <a:rPr lang="en-US" sz="1867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67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debe</a:t>
            </a:r>
            <a:r>
              <a:rPr lang="en-US" sz="1867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ser explicable.</a:t>
            </a:r>
            <a:endParaRPr lang="en-US" sz="1867" b="1" dirty="0">
              <a:latin typeface="Aptos" panose="020B00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87680" y="4693920"/>
            <a:ext cx="11216640" cy="1560576"/>
          </a:xfrm>
          <a:prstGeom prst="round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 sz="2400" dirty="0">
              <a:latin typeface="Aptos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31520" y="4767072"/>
            <a:ext cx="1072896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24437A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Modelo original vs balanceado</a:t>
            </a:r>
            <a:endParaRPr lang="en-US" sz="1733" dirty="0">
              <a:solidFill>
                <a:srgbClr val="24437A"/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31520" y="5157216"/>
            <a:ext cx="1072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E293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Elegimos el modelo sin balance de clases (precision 0.64 vs 0.52).</a:t>
            </a:r>
            <a:endParaRPr lang="en-US" sz="1467" dirty="0">
              <a:latin typeface="Aptos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31520" y="5547360"/>
            <a:ext cx="10728960" cy="609600"/>
          </a:xfrm>
          <a:prstGeom prst="roundRect">
            <a:avLst/>
          </a:prstGeom>
          <a:solidFill>
            <a:srgbClr val="24437A"/>
          </a:solidFill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El </a:t>
            </a:r>
            <a:r>
              <a:rPr lang="en-US" sz="1333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modelo</a:t>
            </a:r>
            <a:r>
              <a:rPr lang="en-US" sz="1333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33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balanceado</a:t>
            </a:r>
            <a:r>
              <a:rPr lang="en-US" sz="1333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33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duplica</a:t>
            </a:r>
            <a:r>
              <a:rPr lang="en-US" sz="1333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el recall, </a:t>
            </a:r>
            <a:r>
              <a:rPr lang="en-US" sz="1333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pero</a:t>
            </a:r>
            <a:r>
              <a:rPr lang="en-US" sz="1333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33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marca</a:t>
            </a:r>
            <a:r>
              <a:rPr lang="en-US" sz="1333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33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incorrectamente</a:t>
            </a:r>
            <a:r>
              <a:rPr lang="en-US" sz="1333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~ 1 de </a:t>
            </a:r>
            <a:r>
              <a:rPr lang="en-US" sz="1333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cada</a:t>
            </a:r>
            <a:r>
              <a:rPr lang="en-US" sz="1333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2 personas </a:t>
            </a:r>
            <a:r>
              <a:rPr lang="en-US" sz="1333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lang="en-US" sz="1333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33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positivo</a:t>
            </a:r>
            <a:r>
              <a:rPr lang="en-US" sz="1333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r>
              <a:rPr lang="en-US" sz="1467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En derecho penal, un </a:t>
            </a:r>
            <a:r>
              <a:rPr lang="en-US" sz="1467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falso</a:t>
            </a:r>
            <a:r>
              <a:rPr lang="en-US" sz="1467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67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positivo</a:t>
            </a:r>
            <a:r>
              <a:rPr lang="en-US" sz="1467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es </a:t>
            </a:r>
            <a:r>
              <a:rPr lang="en-US" sz="1467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467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67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injusticia</a:t>
            </a:r>
            <a:r>
              <a:rPr lang="en-US" sz="1467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67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concreta</a:t>
            </a:r>
            <a:r>
              <a:rPr lang="en-US" sz="1467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67" b="1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A1795-B65A-06C2-298C-0B6091B6E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42BCC7-8F2D-8327-9EF9-72967FCCA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47872" y="6310312"/>
            <a:ext cx="5096256" cy="365125"/>
          </a:xfrm>
        </p:spPr>
        <p:txBody>
          <a:bodyPr/>
          <a:lstStyle/>
          <a:p>
            <a:r>
              <a:rPr lang="es-ES" dirty="0">
                <a:solidFill>
                  <a:srgbClr val="B9B9B9"/>
                </a:solidFill>
              </a:rPr>
              <a:t>NUCLIO DIGITAL SCHOOL - MÁSTER DATA ANALYTICS - TFM - GRUPO 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38DC919-0272-ABC5-1EFE-A7D92EDA6A63}"/>
              </a:ext>
            </a:extLst>
          </p:cNvPr>
          <p:cNvSpPr/>
          <p:nvPr/>
        </p:nvSpPr>
        <p:spPr>
          <a:xfrm>
            <a:off x="0" y="-1"/>
            <a:ext cx="12192000" cy="766167"/>
          </a:xfrm>
          <a:prstGeom prst="rect">
            <a:avLst/>
          </a:prstGeom>
          <a:solidFill>
            <a:srgbClr val="2443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EVALUACIÓN COMPAS: MATRIZ DE CONFUSIÓN (GLOBAL)</a:t>
            </a:r>
            <a:endParaRPr lang="en-US" sz="2800" dirty="0">
              <a:latin typeface="Aptos" panose="020B0004020202020204" pitchFamily="34" charset="0"/>
            </a:endParaRPr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53F5016C-21CE-99BE-C66D-3B340F18D7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6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8128" y="78457"/>
            <a:ext cx="591924" cy="590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0" descr="Escuela de Formación Digital | Nuclio Digital School">
            <a:extLst>
              <a:ext uri="{FF2B5EF4-FFF2-40B4-BE49-F238E27FC236}">
                <a16:creationId xmlns:a16="http://schemas.microsoft.com/office/drawing/2014/main" id="{DDE6ADAD-EB7D-DE2F-500E-0AC0C5F58D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6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261533" y="77226"/>
            <a:ext cx="591924" cy="591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23">
            <a:extLst>
              <a:ext uri="{FF2B5EF4-FFF2-40B4-BE49-F238E27FC236}">
                <a16:creationId xmlns:a16="http://schemas.microsoft.com/office/drawing/2014/main" id="{D9B4ED95-C6F7-7CF6-7D6D-0327F7516799}"/>
              </a:ext>
            </a:extLst>
          </p:cNvPr>
          <p:cNvSpPr/>
          <p:nvPr/>
        </p:nvSpPr>
        <p:spPr>
          <a:xfrm>
            <a:off x="5996249" y="100011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456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Lectura clave</a:t>
            </a: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7" name="Shape 24">
            <a:extLst>
              <a:ext uri="{FF2B5EF4-FFF2-40B4-BE49-F238E27FC236}">
                <a16:creationId xmlns:a16="http://schemas.microsoft.com/office/drawing/2014/main" id="{32A08BBE-1BEC-8BF5-AD3B-E498493CE1A6}"/>
              </a:ext>
            </a:extLst>
          </p:cNvPr>
          <p:cNvSpPr/>
          <p:nvPr/>
        </p:nvSpPr>
        <p:spPr>
          <a:xfrm>
            <a:off x="6187437" y="1441291"/>
            <a:ext cx="5324304" cy="934468"/>
          </a:xfrm>
          <a:prstGeom prst="round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r>
              <a:rPr lang="en-US" sz="2800" b="1" dirty="0">
                <a:solidFill>
                  <a:srgbClr val="1A2456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32.4% de no </a:t>
            </a:r>
            <a:r>
              <a:rPr lang="en-US" sz="2800" b="1" dirty="0" err="1">
                <a:solidFill>
                  <a:srgbClr val="1A2456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reincidentes</a:t>
            </a:r>
            <a:endParaRPr lang="en-US" sz="2800" b="1" dirty="0">
              <a:solidFill>
                <a:srgbClr val="1A2456"/>
              </a:solidFill>
              <a:latin typeface="Aptos" panose="020B0004020202020204" pitchFamily="34" charset="0"/>
              <a:ea typeface="Georgia" pitchFamily="34" charset="-122"/>
              <a:cs typeface="Georgia" pitchFamily="34" charset="-120"/>
            </a:endParaRPr>
          </a:p>
          <a:p>
            <a:r>
              <a:rPr lang="en-US" dirty="0" err="1">
                <a:solidFill>
                  <a:srgbClr val="1E293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etiquetados</a:t>
            </a:r>
            <a:r>
              <a:rPr lang="en-US" dirty="0">
                <a:solidFill>
                  <a:srgbClr val="1E293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E293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erróneamente</a:t>
            </a:r>
            <a:r>
              <a:rPr lang="en-US" dirty="0">
                <a:solidFill>
                  <a:srgbClr val="1E293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E293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lang="en-US" dirty="0">
                <a:solidFill>
                  <a:srgbClr val="1E293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'alto </a:t>
            </a:r>
            <a:r>
              <a:rPr lang="en-US" dirty="0" err="1">
                <a:solidFill>
                  <a:srgbClr val="1E293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riesgo</a:t>
            </a:r>
            <a:r>
              <a:rPr lang="en-US" dirty="0">
                <a:solidFill>
                  <a:srgbClr val="1E293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' (FP)</a:t>
            </a:r>
            <a:endParaRPr lang="en-US" dirty="0">
              <a:latin typeface="Aptos" panose="020B0004020202020204" pitchFamily="34" charset="0"/>
            </a:endParaRPr>
          </a:p>
          <a:p>
            <a:endParaRPr lang="es-ES" dirty="0">
              <a:latin typeface="Aptos" panose="020B0004020202020204" pitchFamily="34" charset="0"/>
            </a:endParaRPr>
          </a:p>
        </p:txBody>
      </p:sp>
      <p:sp>
        <p:nvSpPr>
          <p:cNvPr id="9" name="Text 27">
            <a:extLst>
              <a:ext uri="{FF2B5EF4-FFF2-40B4-BE49-F238E27FC236}">
                <a16:creationId xmlns:a16="http://schemas.microsoft.com/office/drawing/2014/main" id="{9DD54EAC-FFFC-225D-F577-F870A0988C93}"/>
              </a:ext>
            </a:extLst>
          </p:cNvPr>
          <p:cNvSpPr/>
          <p:nvPr/>
        </p:nvSpPr>
        <p:spPr>
          <a:xfrm>
            <a:off x="4882896" y="14584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10" name="Shape 28">
            <a:extLst>
              <a:ext uri="{FF2B5EF4-FFF2-40B4-BE49-F238E27FC236}">
                <a16:creationId xmlns:a16="http://schemas.microsoft.com/office/drawing/2014/main" id="{870A7B3F-ABDF-E335-8B38-9EB82B2F4ED3}"/>
              </a:ext>
            </a:extLst>
          </p:cNvPr>
          <p:cNvSpPr/>
          <p:nvPr/>
        </p:nvSpPr>
        <p:spPr>
          <a:xfrm>
            <a:off x="6187438" y="2538995"/>
            <a:ext cx="5324303" cy="908797"/>
          </a:xfrm>
          <a:prstGeom prst="round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r>
              <a:rPr lang="en-US" sz="2800" b="1" dirty="0">
                <a:solidFill>
                  <a:srgbClr val="1A2456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37.4% de </a:t>
            </a:r>
            <a:r>
              <a:rPr lang="en-US" sz="2800" b="1" dirty="0" err="1">
                <a:solidFill>
                  <a:srgbClr val="1A2456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reincidentes</a:t>
            </a:r>
            <a:r>
              <a:rPr lang="en-US" sz="2800" b="1" dirty="0">
                <a:solidFill>
                  <a:srgbClr val="1A2456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 reales</a:t>
            </a:r>
          </a:p>
          <a:p>
            <a:r>
              <a:rPr lang="en-US" dirty="0">
                <a:solidFill>
                  <a:srgbClr val="1E293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no </a:t>
            </a:r>
            <a:r>
              <a:rPr lang="en-US" dirty="0" err="1">
                <a:solidFill>
                  <a:srgbClr val="1E293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identificados</a:t>
            </a:r>
            <a:r>
              <a:rPr lang="en-US" dirty="0">
                <a:solidFill>
                  <a:srgbClr val="1E293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E293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dirty="0">
                <a:solidFill>
                  <a:srgbClr val="1E293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el </a:t>
            </a:r>
            <a:r>
              <a:rPr lang="en-US" dirty="0" err="1">
                <a:solidFill>
                  <a:srgbClr val="1E293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dirty="0">
                <a:solidFill>
                  <a:srgbClr val="1E293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(FN)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2" name="Text 31">
            <a:extLst>
              <a:ext uri="{FF2B5EF4-FFF2-40B4-BE49-F238E27FC236}">
                <a16:creationId xmlns:a16="http://schemas.microsoft.com/office/drawing/2014/main" id="{B12A4D87-A69B-2ACD-55A5-EC553AD7A014}"/>
              </a:ext>
            </a:extLst>
          </p:cNvPr>
          <p:cNvSpPr/>
          <p:nvPr/>
        </p:nvSpPr>
        <p:spPr>
          <a:xfrm>
            <a:off x="4882896" y="24505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13" name="Shape 32">
            <a:extLst>
              <a:ext uri="{FF2B5EF4-FFF2-40B4-BE49-F238E27FC236}">
                <a16:creationId xmlns:a16="http://schemas.microsoft.com/office/drawing/2014/main" id="{6E5D86CE-AFF7-B875-820A-63D3174F69B0}"/>
              </a:ext>
            </a:extLst>
          </p:cNvPr>
          <p:cNvSpPr/>
          <p:nvPr/>
        </p:nvSpPr>
        <p:spPr>
          <a:xfrm>
            <a:off x="6187439" y="3522625"/>
            <a:ext cx="5324302" cy="1264057"/>
          </a:xfrm>
          <a:prstGeom prst="round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r>
              <a:rPr lang="en-US" sz="2800" b="1" dirty="0" err="1">
                <a:solidFill>
                  <a:srgbClr val="1A2456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Perfil</a:t>
            </a:r>
            <a:r>
              <a:rPr lang="en-US" sz="2800" b="1" dirty="0">
                <a:solidFill>
                  <a:srgbClr val="1A2456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800" b="1" dirty="0" err="1">
                <a:solidFill>
                  <a:srgbClr val="1A2456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agresivo</a:t>
            </a:r>
            <a:endParaRPr lang="en-US" sz="2800" b="1" dirty="0">
              <a:solidFill>
                <a:srgbClr val="1A2456"/>
              </a:solidFill>
              <a:latin typeface="Aptos" panose="020B0004020202020204" pitchFamily="34" charset="0"/>
              <a:ea typeface="Georgia" pitchFamily="34" charset="-122"/>
              <a:cs typeface="Georgia" pitchFamily="34" charset="-120"/>
            </a:endParaRPr>
          </a:p>
          <a:p>
            <a:r>
              <a:rPr lang="en-US" dirty="0">
                <a:solidFill>
                  <a:srgbClr val="1E293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Más </a:t>
            </a:r>
            <a:r>
              <a:rPr lang="en-US" dirty="0" err="1">
                <a:solidFill>
                  <a:srgbClr val="1E293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errores</a:t>
            </a:r>
            <a:r>
              <a:rPr lang="en-US" dirty="0">
                <a:solidFill>
                  <a:srgbClr val="1E293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E293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dirty="0">
                <a:solidFill>
                  <a:srgbClr val="1E293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E293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exceso</a:t>
            </a:r>
            <a:r>
              <a:rPr lang="en-US" dirty="0">
                <a:solidFill>
                  <a:srgbClr val="1E293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E293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dirty="0">
                <a:solidFill>
                  <a:srgbClr val="1E293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E293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dirty="0">
                <a:solidFill>
                  <a:srgbClr val="1E293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E293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defecto</a:t>
            </a:r>
            <a:r>
              <a:rPr lang="en-US" dirty="0">
                <a:solidFill>
                  <a:srgbClr val="1E293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dirty="0" err="1">
                <a:solidFill>
                  <a:srgbClr val="1E293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prefiere</a:t>
            </a:r>
            <a:r>
              <a:rPr lang="en-US" dirty="0">
                <a:solidFill>
                  <a:srgbClr val="1E293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E293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sobreclasificar</a:t>
            </a:r>
            <a:r>
              <a:rPr lang="en-US" dirty="0">
                <a:solidFill>
                  <a:srgbClr val="1E293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el </a:t>
            </a:r>
            <a:r>
              <a:rPr lang="en-US" dirty="0" err="1">
                <a:solidFill>
                  <a:srgbClr val="1E293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riesgo</a:t>
            </a:r>
            <a:r>
              <a:rPr lang="en-US" dirty="0">
                <a:solidFill>
                  <a:srgbClr val="1E293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antes </a:t>
            </a:r>
            <a:r>
              <a:rPr lang="en-US" dirty="0" err="1">
                <a:solidFill>
                  <a:srgbClr val="1E293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dirty="0">
                <a:solidFill>
                  <a:srgbClr val="1E293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E293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dejarlo</a:t>
            </a:r>
            <a:r>
              <a:rPr lang="en-US" dirty="0">
                <a:solidFill>
                  <a:srgbClr val="1E293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pasar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5" name="Text 35">
            <a:extLst>
              <a:ext uri="{FF2B5EF4-FFF2-40B4-BE49-F238E27FC236}">
                <a16:creationId xmlns:a16="http://schemas.microsoft.com/office/drawing/2014/main" id="{12E117CC-525B-8607-896E-96E6EF7D7413}"/>
              </a:ext>
            </a:extLst>
          </p:cNvPr>
          <p:cNvSpPr/>
          <p:nvPr/>
        </p:nvSpPr>
        <p:spPr>
          <a:xfrm>
            <a:off x="4882896" y="325526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16" name="Shape 36">
            <a:extLst>
              <a:ext uri="{FF2B5EF4-FFF2-40B4-BE49-F238E27FC236}">
                <a16:creationId xmlns:a16="http://schemas.microsoft.com/office/drawing/2014/main" id="{D7E31271-FA64-E773-CC49-7BE953AADF67}"/>
              </a:ext>
            </a:extLst>
          </p:cNvPr>
          <p:cNvSpPr/>
          <p:nvPr/>
        </p:nvSpPr>
        <p:spPr>
          <a:xfrm>
            <a:off x="495301" y="5376470"/>
            <a:ext cx="11201398" cy="731520"/>
          </a:xfrm>
          <a:prstGeom prst="roundRect">
            <a:avLst/>
          </a:prstGeom>
          <a:solidFill>
            <a:srgbClr val="24437A"/>
          </a:solidFill>
          <a:ln w="12700">
            <a:noFill/>
            <a:prstDash val="solid"/>
          </a:ln>
        </p:spPr>
        <p:txBody>
          <a:bodyPr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El </a:t>
            </a:r>
            <a:r>
              <a:rPr lang="en-US" sz="2000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comete</a:t>
            </a:r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más</a:t>
            </a:r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errores</a:t>
            </a:r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al </a:t>
            </a:r>
            <a:r>
              <a:rPr lang="en-US" sz="2000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acusar</a:t>
            </a:r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(FP: 20.7%) </a:t>
            </a:r>
            <a:r>
              <a:rPr lang="en-US" sz="2000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al absolver (FN: 13.5%). ¿Se </a:t>
            </a:r>
            <a:r>
              <a:rPr lang="en-US" sz="2000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distribuye</a:t>
            </a:r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este</a:t>
            </a:r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error </a:t>
            </a:r>
            <a:r>
              <a:rPr lang="en-US" sz="2000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igual</a:t>
            </a:r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entre </a:t>
            </a:r>
            <a:r>
              <a:rPr lang="en-US" sz="2000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razas</a:t>
            </a:r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b="1" dirty="0">
              <a:latin typeface="Aptos" panose="020B0004020202020204" pitchFamily="34" charset="0"/>
            </a:endParaRPr>
          </a:p>
          <a:p>
            <a:pPr algn="ctr"/>
            <a:endParaRPr lang="es-ES" sz="2000" dirty="0">
              <a:latin typeface="Aptos" panose="020B000402020202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AB5289F-9430-6762-7578-9666187DBD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258" y="932687"/>
            <a:ext cx="5110942" cy="4083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1739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BAC8B-77D2-0CC5-2BDB-5FD6E50D0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0A35F7-1008-037F-4391-F7B368B06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47872" y="6310312"/>
            <a:ext cx="5096256" cy="365125"/>
          </a:xfrm>
        </p:spPr>
        <p:txBody>
          <a:bodyPr/>
          <a:lstStyle/>
          <a:p>
            <a:r>
              <a:rPr lang="es-ES" dirty="0">
                <a:solidFill>
                  <a:srgbClr val="B9B9B9"/>
                </a:solidFill>
              </a:rPr>
              <a:t>NUCLIO DIGITAL SCHOOL - MÁSTER DATA ANALYTICS - TFM - GRUPO 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13F44CC-7A4E-FD3F-1D08-44689BA041D7}"/>
              </a:ext>
            </a:extLst>
          </p:cNvPr>
          <p:cNvSpPr/>
          <p:nvPr/>
        </p:nvSpPr>
        <p:spPr>
          <a:xfrm>
            <a:off x="0" y="-1"/>
            <a:ext cx="12192000" cy="766167"/>
          </a:xfrm>
          <a:prstGeom prst="rect">
            <a:avLst/>
          </a:prstGeom>
          <a:solidFill>
            <a:srgbClr val="2443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EVALUACIÓN COMPAS: ERRORES POR GRUPO RACIAL</a:t>
            </a:r>
            <a:endParaRPr lang="en-US" sz="2800" dirty="0">
              <a:latin typeface="Aptos" panose="020B0004020202020204" pitchFamily="34" charset="0"/>
            </a:endParaRPr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71D8A1DA-BC2A-ADAB-6844-FEAD636AEC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6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8128" y="78457"/>
            <a:ext cx="591924" cy="590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0" descr="Escuela de Formación Digital | Nuclio Digital School">
            <a:extLst>
              <a:ext uri="{FF2B5EF4-FFF2-40B4-BE49-F238E27FC236}">
                <a16:creationId xmlns:a16="http://schemas.microsoft.com/office/drawing/2014/main" id="{98566B19-59DD-617E-4B2B-4298B12738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6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261533" y="77226"/>
            <a:ext cx="591924" cy="591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2D687BF-A585-9542-7C52-62B2864F70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878" y="1247224"/>
            <a:ext cx="5577425" cy="3456433"/>
          </a:xfrm>
          <a:prstGeom prst="rect">
            <a:avLst/>
          </a:prstGeom>
        </p:spPr>
      </p:pic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8CE0FFA8-CDED-CB5A-1ECC-97922BEBD9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2047717"/>
              </p:ext>
            </p:extLst>
          </p:nvPr>
        </p:nvGraphicFramePr>
        <p:xfrm>
          <a:off x="6239699" y="1364630"/>
          <a:ext cx="5247452" cy="3221620"/>
        </p:xfrm>
        <a:graphic>
          <a:graphicData uri="http://schemas.openxmlformats.org/drawingml/2006/table">
            <a:tbl>
              <a:tblPr/>
              <a:tblGrid>
                <a:gridCol w="12278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06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8908">
                  <a:extLst>
                    <a:ext uri="{9D8B030D-6E8A-4147-A177-3AD203B41FA5}">
                      <a16:colId xmlns:a16="http://schemas.microsoft.com/office/drawing/2014/main" val="1973766633"/>
                    </a:ext>
                  </a:extLst>
                </a:gridCol>
              </a:tblGrid>
              <a:tr h="6443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24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Métrica</a:t>
                      </a:r>
                    </a:p>
                  </a:txBody>
                  <a:tcPr marL="11437" marR="11437" marT="11437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37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24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Caucasian</a:t>
                      </a:r>
                      <a:endParaRPr lang="es-ES" sz="24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37" marR="11437" marT="11437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37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24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African</a:t>
                      </a:r>
                      <a:r>
                        <a:rPr lang="es-ES" sz="24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-American</a:t>
                      </a:r>
                    </a:p>
                  </a:txBody>
                  <a:tcPr marL="11437" marR="11437" marT="11437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3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43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2400" b="1" i="0" u="none" strike="noStrike" dirty="0">
                          <a:solidFill>
                            <a:srgbClr val="24437A"/>
                          </a:solidFill>
                          <a:effectLst/>
                          <a:latin typeface="Aptos Narrow" panose="020B0004020202020204" pitchFamily="34" charset="0"/>
                        </a:rPr>
                        <a:t>FN (%)</a:t>
                      </a:r>
                    </a:p>
                  </a:txBody>
                  <a:tcPr marL="11437" marR="11437" marT="11437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14.8</a:t>
                      </a:r>
                    </a:p>
                  </a:txBody>
                  <a:tcPr marL="11437" marR="11437" marT="11437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11.9</a:t>
                      </a:r>
                    </a:p>
                  </a:txBody>
                  <a:tcPr marL="11437" marR="11437" marT="11437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43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2400" b="1" i="0" u="none" strike="noStrike" dirty="0">
                          <a:solidFill>
                            <a:srgbClr val="24437A"/>
                          </a:solidFill>
                          <a:effectLst/>
                          <a:latin typeface="Aptos Narrow" panose="020B0004020202020204" pitchFamily="34" charset="0"/>
                        </a:rPr>
                        <a:t>FP (%)</a:t>
                      </a:r>
                    </a:p>
                  </a:txBody>
                  <a:tcPr marL="11437" marR="11437" marT="11437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16.4</a:t>
                      </a:r>
                    </a:p>
                  </a:txBody>
                  <a:tcPr marL="11437" marR="11437" marT="11437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25.7</a:t>
                      </a:r>
                    </a:p>
                  </a:txBody>
                  <a:tcPr marL="11437" marR="11437" marT="11437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43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2400" b="1" i="0" u="none" strike="noStrike" dirty="0">
                          <a:solidFill>
                            <a:srgbClr val="24437A"/>
                          </a:solidFill>
                          <a:effectLst/>
                          <a:latin typeface="Aptos Narrow" panose="020B0004020202020204" pitchFamily="34" charset="0"/>
                        </a:rPr>
                        <a:t>TN (%)</a:t>
                      </a:r>
                    </a:p>
                  </a:txBody>
                  <a:tcPr marL="11437" marR="11437" marT="11437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53.4</a:t>
                      </a:r>
                    </a:p>
                  </a:txBody>
                  <a:tcPr marL="11437" marR="11437" marT="11437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31.6</a:t>
                      </a:r>
                    </a:p>
                  </a:txBody>
                  <a:tcPr marL="11437" marR="11437" marT="11437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43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2400" b="1" i="0" u="none" strike="noStrike" dirty="0">
                          <a:solidFill>
                            <a:srgbClr val="24437A"/>
                          </a:solidFill>
                          <a:effectLst/>
                          <a:latin typeface="Aptos Narrow" panose="020B0004020202020204" pitchFamily="34" charset="0"/>
                        </a:rPr>
                        <a:t>TP (%)</a:t>
                      </a:r>
                    </a:p>
                  </a:txBody>
                  <a:tcPr marL="11437" marR="11437" marT="11437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15.4</a:t>
                      </a:r>
                    </a:p>
                  </a:txBody>
                  <a:tcPr marL="11437" marR="11437" marT="11437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30.7</a:t>
                      </a:r>
                    </a:p>
                  </a:txBody>
                  <a:tcPr marL="11437" marR="11437" marT="11437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46">
            <a:extLst>
              <a:ext uri="{FF2B5EF4-FFF2-40B4-BE49-F238E27FC236}">
                <a16:creationId xmlns:a16="http://schemas.microsoft.com/office/drawing/2014/main" id="{727BEC35-7592-B252-953C-F83B75950D00}"/>
              </a:ext>
            </a:extLst>
          </p:cNvPr>
          <p:cNvSpPr/>
          <p:nvPr/>
        </p:nvSpPr>
        <p:spPr>
          <a:xfrm>
            <a:off x="1824828" y="5031476"/>
            <a:ext cx="8649154" cy="1143899"/>
          </a:xfrm>
          <a:prstGeom prst="roundRect">
            <a:avLst/>
          </a:prstGeom>
          <a:solidFill>
            <a:srgbClr val="24437A"/>
          </a:solidFill>
          <a:ln w="12700">
            <a:noFill/>
            <a:prstDash val="solid"/>
          </a:ln>
        </p:spPr>
        <p:txBody>
          <a:bodyPr/>
          <a:lstStyle/>
          <a:p>
            <a:pPr algn="ctr"/>
            <a:r>
              <a:rPr lang="en-US" sz="2000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Aunque</a:t>
            </a:r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el AUC es comparable entre </a:t>
            </a:r>
            <a:r>
              <a:rPr lang="en-US" sz="2000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grupos</a:t>
            </a:r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(0.69 vs 0.68), </a:t>
            </a:r>
            <a:r>
              <a:rPr lang="en-US" sz="2000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pero</a:t>
            </a:r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el FP es 9.3 puntos </a:t>
            </a:r>
            <a:r>
              <a:rPr lang="en-US" sz="2000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porcentuales</a:t>
            </a:r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más</a:t>
            </a:r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alto en African-American: cargas de error </a:t>
            </a:r>
            <a:r>
              <a:rPr lang="en-US" sz="2000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desiguales</a:t>
            </a:r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con </a:t>
            </a:r>
            <a:r>
              <a:rPr lang="en-US" sz="2000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capacidad</a:t>
            </a:r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predictiva</a:t>
            </a:r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similar.</a:t>
            </a:r>
            <a:endParaRPr lang="en-US" sz="2000" b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22610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253E4-F00B-A865-779A-582483A43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82473C-A787-8532-3C2D-3E837AA5E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47872" y="6310312"/>
            <a:ext cx="5096256" cy="365125"/>
          </a:xfrm>
        </p:spPr>
        <p:txBody>
          <a:bodyPr/>
          <a:lstStyle/>
          <a:p>
            <a:r>
              <a:rPr lang="es-ES" dirty="0">
                <a:solidFill>
                  <a:srgbClr val="B9B9B9"/>
                </a:solidFill>
              </a:rPr>
              <a:t>NUCLIO DIGITAL SCHOOL - MÁSTER DATA ANALYTICS - TFM - GRUPO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934B2A-5415-D800-CCBF-E4B6DD9B5535}"/>
              </a:ext>
            </a:extLst>
          </p:cNvPr>
          <p:cNvSpPr/>
          <p:nvPr/>
        </p:nvSpPr>
        <p:spPr>
          <a:xfrm>
            <a:off x="0" y="-1"/>
            <a:ext cx="12192000" cy="766167"/>
          </a:xfrm>
          <a:prstGeom prst="rect">
            <a:avLst/>
          </a:prstGeom>
          <a:solidFill>
            <a:srgbClr val="2443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EVALUACIÓN COMPAS: PRECISION / RECALL</a:t>
            </a:r>
            <a:endParaRPr lang="en-US" sz="2800" dirty="0">
              <a:latin typeface="Aptos" panose="020B0004020202020204" pitchFamily="34" charset="0"/>
            </a:endParaRPr>
          </a:p>
        </p:txBody>
      </p:sp>
      <p:pic>
        <p:nvPicPr>
          <p:cNvPr id="6" name="Picture 8">
            <a:extLst>
              <a:ext uri="{FF2B5EF4-FFF2-40B4-BE49-F238E27FC236}">
                <a16:creationId xmlns:a16="http://schemas.microsoft.com/office/drawing/2014/main" id="{01D7BB63-64C5-CF00-8E28-490AA84EB4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6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8128" y="78457"/>
            <a:ext cx="591924" cy="590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0" descr="Escuela de Formación Digital | Nuclio Digital School">
            <a:extLst>
              <a:ext uri="{FF2B5EF4-FFF2-40B4-BE49-F238E27FC236}">
                <a16:creationId xmlns:a16="http://schemas.microsoft.com/office/drawing/2014/main" id="{C5AFC3D7-B7DD-BD54-CFB6-2FEFE7E80F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6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261533" y="77226"/>
            <a:ext cx="591924" cy="591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4DEB4E62-C296-2CDD-47E7-B5CC6F211C07}"/>
              </a:ext>
            </a:extLst>
          </p:cNvPr>
          <p:cNvSpPr/>
          <p:nvPr/>
        </p:nvSpPr>
        <p:spPr>
          <a:xfrm>
            <a:off x="274320" y="8028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4437A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PRECISION Y RECALL POR GRUPO RACIAL (UMBRAL ≥ 5)</a:t>
            </a:r>
            <a:endParaRPr lang="en-US" dirty="0">
              <a:solidFill>
                <a:srgbClr val="24437A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6A1D88E-666E-06B6-E963-C0623EBC68FD}"/>
              </a:ext>
            </a:extLst>
          </p:cNvPr>
          <p:cNvSpPr/>
          <p:nvPr/>
        </p:nvSpPr>
        <p:spPr>
          <a:xfrm>
            <a:off x="274320" y="1389171"/>
            <a:ext cx="3699148" cy="1908769"/>
          </a:xfrm>
          <a:prstGeom prst="roundRect">
            <a:avLst/>
          </a:prstGeom>
          <a:noFill/>
          <a:ln w="28575">
            <a:solidFill>
              <a:srgbClr val="24437A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437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COMPAS es </a:t>
            </a:r>
            <a:r>
              <a:rPr lang="en-US" sz="1600" b="1" dirty="0" err="1">
                <a:solidFill>
                  <a:srgbClr val="24437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más</a:t>
            </a:r>
            <a:r>
              <a:rPr lang="en-US" sz="1600" b="1" dirty="0">
                <a:solidFill>
                  <a:srgbClr val="24437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24437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agresivo</a:t>
            </a:r>
            <a:r>
              <a:rPr lang="en-US" sz="1600" b="1" dirty="0">
                <a:solidFill>
                  <a:srgbClr val="24437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con African-American:</a:t>
            </a:r>
          </a:p>
          <a:p>
            <a:pPr algn="ctr"/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Marca 'de </a:t>
            </a:r>
            <a:r>
              <a:rPr lang="en-US"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riesgo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' al 56% vs 32% de Caucasian. Esa </a:t>
            </a:r>
            <a:r>
              <a:rPr lang="en-US"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agresividad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eleva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el recall, </a:t>
            </a:r>
            <a:r>
              <a:rPr lang="en-US"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pero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apenas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mejora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la precision (+0.06).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64A6EDDF-3216-D00A-1639-D3330ED3D334}"/>
              </a:ext>
            </a:extLst>
          </p:cNvPr>
          <p:cNvSpPr/>
          <p:nvPr/>
        </p:nvSpPr>
        <p:spPr>
          <a:xfrm>
            <a:off x="303131" y="3472564"/>
            <a:ext cx="3670337" cy="1921463"/>
          </a:xfrm>
          <a:prstGeom prst="roundRect">
            <a:avLst/>
          </a:prstGeom>
          <a:noFill/>
          <a:ln w="28575">
            <a:solidFill>
              <a:srgbClr val="24437A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437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Muchos más falsos positivos, no </a:t>
            </a:r>
            <a:r>
              <a:rPr lang="en-US" sz="1600" b="1" dirty="0" err="1">
                <a:solidFill>
                  <a:srgbClr val="24437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más</a:t>
            </a:r>
            <a:r>
              <a:rPr lang="en-US" sz="1600" b="1" dirty="0">
                <a:solidFill>
                  <a:srgbClr val="24437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24437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aciertos</a:t>
            </a:r>
            <a:endParaRPr lang="en-US" sz="1600" b="1" dirty="0">
              <a:solidFill>
                <a:srgbClr val="24437A"/>
              </a:solidFill>
              <a:latin typeface="Aptos" panose="020B0004020202020204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600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25.7% FP en African-American vs </a:t>
            </a:r>
            <a:r>
              <a:rPr lang="es-ES" sz="1600" dirty="0">
                <a:solidFill>
                  <a:srgbClr val="000000"/>
                </a:solidFill>
                <a:latin typeface="Aptos Narrow" panose="020B0004020202020204" pitchFamily="34" charset="0"/>
              </a:rPr>
              <a:t>16.4%</a:t>
            </a:r>
            <a:r>
              <a:rPr lang="en-US" sz="1600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en Caucasian. El </a:t>
            </a:r>
            <a:r>
              <a:rPr lang="en-US" sz="1600" dirty="0" err="1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sz="1600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clasifica</a:t>
            </a:r>
            <a:r>
              <a:rPr lang="en-US" sz="1600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600" dirty="0" err="1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muchos</a:t>
            </a:r>
            <a:r>
              <a:rPr lang="en-US" sz="1600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más</a:t>
            </a:r>
            <a:r>
              <a:rPr lang="en-US" sz="1600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lang="en-US" sz="1600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'de </a:t>
            </a:r>
            <a:r>
              <a:rPr lang="en-US" sz="1600" dirty="0" err="1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riesgo</a:t>
            </a:r>
            <a:r>
              <a:rPr lang="en-US" sz="1600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' sin </a:t>
            </a:r>
            <a:r>
              <a:rPr lang="en-US" sz="1600" dirty="0" err="1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ganar</a:t>
            </a:r>
            <a:r>
              <a:rPr lang="en-US" sz="1600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apenas</a:t>
            </a:r>
            <a:r>
              <a:rPr lang="en-US" sz="1600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fiabilidad</a:t>
            </a:r>
            <a:r>
              <a:rPr lang="en-US" sz="1600" dirty="0"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1" name="Shape 17">
            <a:extLst>
              <a:ext uri="{FF2B5EF4-FFF2-40B4-BE49-F238E27FC236}">
                <a16:creationId xmlns:a16="http://schemas.microsoft.com/office/drawing/2014/main" id="{F0F9C401-779A-F83C-527F-2EF15497AC7F}"/>
              </a:ext>
            </a:extLst>
          </p:cNvPr>
          <p:cNvSpPr/>
          <p:nvPr/>
        </p:nvSpPr>
        <p:spPr>
          <a:xfrm>
            <a:off x="838200" y="5610022"/>
            <a:ext cx="10961370" cy="743502"/>
          </a:xfrm>
          <a:prstGeom prst="roundRect">
            <a:avLst/>
          </a:prstGeom>
          <a:solidFill>
            <a:srgbClr val="24437A"/>
          </a:solidFill>
          <a:ln w="12700">
            <a:noFill/>
            <a:prstDash val="solid"/>
          </a:ln>
        </p:spPr>
        <p:txBody>
          <a:bodyPr/>
          <a:lstStyle/>
          <a:p>
            <a:pPr algn="ctr"/>
            <a:r>
              <a:rPr lang="en-US" sz="200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AUC similar no </a:t>
            </a:r>
            <a:r>
              <a:rPr lang="en-US" sz="2000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garantiza</a:t>
            </a:r>
            <a:r>
              <a:rPr lang="en-US" sz="200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precision/recall </a:t>
            </a:r>
            <a:r>
              <a:rPr lang="en-US" sz="2000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equivalente</a:t>
            </a:r>
            <a:r>
              <a:rPr lang="en-US" sz="200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bajo umbral </a:t>
            </a:r>
            <a:r>
              <a:rPr lang="en-US" sz="2000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uniforme</a:t>
            </a:r>
            <a:r>
              <a:rPr lang="en-US" sz="200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. El </a:t>
            </a:r>
            <a:r>
              <a:rPr lang="en-US" sz="2000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mismo</a:t>
            </a:r>
            <a:r>
              <a:rPr lang="en-US" sz="200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score </a:t>
            </a:r>
            <a:r>
              <a:rPr lang="en-US" sz="2000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numérico</a:t>
            </a:r>
            <a:r>
              <a:rPr lang="en-US" sz="200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oculta</a:t>
            </a:r>
            <a:r>
              <a:rPr lang="en-US" sz="200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probabilidades</a:t>
            </a:r>
            <a:r>
              <a:rPr lang="en-US" sz="200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reales </a:t>
            </a:r>
            <a:r>
              <a:rPr lang="en-US" sz="2000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distintas</a:t>
            </a:r>
            <a:r>
              <a:rPr lang="en-US" sz="200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entre </a:t>
            </a:r>
            <a:r>
              <a:rPr lang="en-US" sz="2000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grupos</a:t>
            </a:r>
            <a:r>
              <a:rPr lang="en-US" sz="200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>
              <a:latin typeface="Aptos" panose="020B00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5534D43-4C8E-2B73-DFED-E14D9AD404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3113" y="1386688"/>
            <a:ext cx="7460344" cy="408462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068081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AD4D7-955D-F892-8E96-AEC7C7815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311085-B7B8-7D2B-0E9C-A2DAE887B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47872" y="6310312"/>
            <a:ext cx="5096256" cy="365125"/>
          </a:xfrm>
        </p:spPr>
        <p:txBody>
          <a:bodyPr/>
          <a:lstStyle/>
          <a:p>
            <a:r>
              <a:rPr lang="es-ES" dirty="0">
                <a:solidFill>
                  <a:srgbClr val="B9B9B9"/>
                </a:solidFill>
              </a:rPr>
              <a:t>NUCLIO DIGITAL SCHOOL - MÁSTER DATA ANALYTICS - TFM - GRUPO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CD1246-644E-5208-CCFE-B7A71B81AEF7}"/>
              </a:ext>
            </a:extLst>
          </p:cNvPr>
          <p:cNvSpPr/>
          <p:nvPr/>
        </p:nvSpPr>
        <p:spPr>
          <a:xfrm>
            <a:off x="0" y="-1"/>
            <a:ext cx="12192000" cy="766167"/>
          </a:xfrm>
          <a:prstGeom prst="rect">
            <a:avLst/>
          </a:prstGeom>
          <a:solidFill>
            <a:srgbClr val="2443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EVALUACIÓN COMPAS: CALIBRACIÓN</a:t>
            </a:r>
            <a:endParaRPr lang="en-US" sz="2800" dirty="0">
              <a:latin typeface="Aptos" panose="020B0004020202020204" pitchFamily="34" charset="0"/>
            </a:endParaRPr>
          </a:p>
        </p:txBody>
      </p:sp>
      <p:pic>
        <p:nvPicPr>
          <p:cNvPr id="6" name="Picture 8">
            <a:extLst>
              <a:ext uri="{FF2B5EF4-FFF2-40B4-BE49-F238E27FC236}">
                <a16:creationId xmlns:a16="http://schemas.microsoft.com/office/drawing/2014/main" id="{7B161061-D5B8-564B-BA0D-7FD232C653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6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8128" y="78457"/>
            <a:ext cx="591924" cy="590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0" descr="Escuela de Formación Digital | Nuclio Digital School">
            <a:extLst>
              <a:ext uri="{FF2B5EF4-FFF2-40B4-BE49-F238E27FC236}">
                <a16:creationId xmlns:a16="http://schemas.microsoft.com/office/drawing/2014/main" id="{D7D2A2AD-C69E-3DD8-1D81-74048101C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6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261533" y="77226"/>
            <a:ext cx="591924" cy="591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B0E2EB4-F1AD-6DC9-8A42-D7326B6AA9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969" y="1307459"/>
            <a:ext cx="4263606" cy="3374078"/>
          </a:xfrm>
          <a:prstGeom prst="rect">
            <a:avLst/>
          </a:prstGeom>
        </p:spPr>
      </p:pic>
      <p:sp>
        <p:nvSpPr>
          <p:cNvPr id="3" name="Text 3">
            <a:extLst>
              <a:ext uri="{FF2B5EF4-FFF2-40B4-BE49-F238E27FC236}">
                <a16:creationId xmlns:a16="http://schemas.microsoft.com/office/drawing/2014/main" id="{7DB7EA44-9689-4049-5D10-D2D73DCB80CE}"/>
              </a:ext>
            </a:extLst>
          </p:cNvPr>
          <p:cNvSpPr/>
          <p:nvPr/>
        </p:nvSpPr>
        <p:spPr>
          <a:xfrm>
            <a:off x="1392999" y="923085"/>
            <a:ext cx="1576058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b="1" dirty="0">
                <a:solidFill>
                  <a:srgbClr val="403C4E"/>
                </a:solidFill>
                <a:latin typeface="Aptos" panose="020B0004020202020204" pitchFamily="34" charset="0"/>
                <a:ea typeface="Merriweather Bold" pitchFamily="34" charset="-122"/>
                <a:cs typeface="Merriweather Bold" pitchFamily="34" charset="-120"/>
              </a:rPr>
              <a:t>CALIBRACIÓN GENERAL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D55AB6F2-3702-B5B4-E570-D1265D1A68EC}"/>
              </a:ext>
            </a:extLst>
          </p:cNvPr>
          <p:cNvSpPr/>
          <p:nvPr/>
        </p:nvSpPr>
        <p:spPr>
          <a:xfrm>
            <a:off x="392252" y="4681537"/>
            <a:ext cx="4513123" cy="1628775"/>
          </a:xfrm>
          <a:prstGeom prst="roundRect">
            <a:avLst/>
          </a:prstGeom>
          <a:solidFill>
            <a:srgbClr val="24437A"/>
          </a:solidFill>
          <a:ln/>
        </p:spPr>
        <p:txBody>
          <a:bodyPr wrap="square" lIns="0" tIns="0" rIns="0" bIns="0" rtlCol="0" anchor="t"/>
          <a:lstStyle/>
          <a:p>
            <a:pPr marL="91440">
              <a:lnSpc>
                <a:spcPts val="2200"/>
              </a:lnSpc>
            </a:pPr>
            <a:r>
              <a:rPr lang="en-US" sz="1200" b="1" dirty="0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Valores más altos del decile_score corresponden sistemáticamente a mayores tasas observadas de reincidencia. El score </a:t>
            </a:r>
            <a:r>
              <a:rPr lang="en-US" sz="1200" b="1" dirty="0" err="1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ordena</a:t>
            </a:r>
            <a:r>
              <a:rPr lang="en-US" sz="1200" b="1" dirty="0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 bien, </a:t>
            </a:r>
            <a:r>
              <a:rPr lang="en-US" sz="1200" b="1" dirty="0" err="1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pero</a:t>
            </a:r>
            <a:r>
              <a:rPr lang="en-US" sz="1200" b="1" dirty="0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 un </a:t>
            </a:r>
            <a:r>
              <a:rPr lang="en-US" sz="1200" b="1" dirty="0" err="1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modelo</a:t>
            </a:r>
            <a:r>
              <a:rPr lang="en-US" sz="1200" b="1" dirty="0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200" b="1" dirty="0" err="1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puede</a:t>
            </a:r>
            <a:r>
              <a:rPr lang="en-US" sz="1200" b="1" dirty="0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200" b="1" dirty="0" err="1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ordenar</a:t>
            </a:r>
            <a:r>
              <a:rPr lang="en-US" sz="1200" b="1" dirty="0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 bien a </a:t>
            </a:r>
            <a:r>
              <a:rPr lang="en-US" sz="1200" b="1" dirty="0" err="1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los</a:t>
            </a:r>
            <a:r>
              <a:rPr lang="en-US" sz="1200" b="1" dirty="0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200" b="1" dirty="0" err="1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individuos</a:t>
            </a:r>
            <a:r>
              <a:rPr lang="en-US" sz="1200" b="1" dirty="0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 sin </a:t>
            </a:r>
            <a:r>
              <a:rPr lang="en-US" sz="1200" b="1" dirty="0" err="1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que</a:t>
            </a:r>
            <a:r>
              <a:rPr lang="en-US" sz="1200" b="1" dirty="0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200" b="1" dirty="0" err="1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los</a:t>
            </a:r>
            <a:r>
              <a:rPr lang="en-US" sz="1200" b="1" dirty="0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200" b="1" dirty="0" err="1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valores</a:t>
            </a:r>
            <a:r>
              <a:rPr lang="en-US" sz="1200" b="1" dirty="0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200" b="1" dirty="0" err="1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absolutos</a:t>
            </a:r>
            <a:r>
              <a:rPr lang="en-US" sz="1200" b="1" dirty="0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200" b="1" dirty="0" err="1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sean</a:t>
            </a:r>
            <a:r>
              <a:rPr lang="en-US" sz="1200" b="1" dirty="0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200" b="1" dirty="0" err="1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estrictamente</a:t>
            </a:r>
            <a:r>
              <a:rPr lang="en-US" sz="1200" b="1" dirty="0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200" b="1" dirty="0" err="1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fieles</a:t>
            </a:r>
            <a:r>
              <a:rPr lang="en-US" sz="1200" b="1" dirty="0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 a la </a:t>
            </a:r>
            <a:r>
              <a:rPr lang="en-US" sz="1200" b="1" dirty="0" err="1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realidad</a:t>
            </a:r>
            <a:r>
              <a:rPr lang="en-US" sz="1200" b="1" dirty="0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2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341FE543-4AD6-3460-3381-5727B1B399B5}"/>
              </a:ext>
            </a:extLst>
          </p:cNvPr>
          <p:cNvSpPr/>
          <p:nvPr/>
        </p:nvSpPr>
        <p:spPr>
          <a:xfrm>
            <a:off x="7666561" y="862533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b="1" dirty="0">
                <a:solidFill>
                  <a:srgbClr val="403C4E"/>
                </a:solidFill>
                <a:latin typeface="Aptos" panose="020B0004020202020204" pitchFamily="34" charset="0"/>
                <a:ea typeface="Merriweather Bold" pitchFamily="34" charset="-122"/>
                <a:cs typeface="Merriweather Bold" pitchFamily="34" charset="-120"/>
              </a:rPr>
              <a:t>CALIBRACIÓN POR RAZA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1A6D2108-C018-F6A9-B315-21D9B28005D7}"/>
              </a:ext>
            </a:extLst>
          </p:cNvPr>
          <p:cNvSpPr/>
          <p:nvPr/>
        </p:nvSpPr>
        <p:spPr>
          <a:xfrm>
            <a:off x="6461239" y="4655075"/>
            <a:ext cx="5096256" cy="1628775"/>
          </a:xfrm>
          <a:prstGeom prst="roundRect">
            <a:avLst/>
          </a:prstGeom>
          <a:solidFill>
            <a:srgbClr val="24437A"/>
          </a:solidFill>
          <a:ln/>
        </p:spPr>
        <p:txBody>
          <a:bodyPr wrap="square" lIns="0" tIns="0" rIns="0" bIns="0" rtlCol="0" anchor="t"/>
          <a:lstStyle/>
          <a:p>
            <a:pPr marL="91440">
              <a:lnSpc>
                <a:spcPts val="2200"/>
              </a:lnSpc>
            </a:pPr>
            <a:r>
              <a:rPr lang="en-US" sz="1200" b="1" dirty="0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African-American y Caucasian </a:t>
            </a:r>
            <a:r>
              <a:rPr lang="en-US" sz="1200" b="1" dirty="0" err="1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presentan</a:t>
            </a:r>
            <a:r>
              <a:rPr lang="en-US" sz="1200" b="1" dirty="0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200" b="1" dirty="0" err="1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tasas</a:t>
            </a:r>
            <a:r>
              <a:rPr lang="en-US" sz="1200" b="1" dirty="0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200" b="1" dirty="0" err="1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similares</a:t>
            </a:r>
            <a:r>
              <a:rPr lang="en-US" sz="1200" b="1" dirty="0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 en la </a:t>
            </a:r>
            <a:r>
              <a:rPr lang="en-US" sz="1200" b="1" dirty="0" err="1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mayoría</a:t>
            </a:r>
            <a:r>
              <a:rPr lang="en-US" sz="1200" b="1" dirty="0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 de deciles, lo </a:t>
            </a:r>
            <a:r>
              <a:rPr lang="en-US" sz="1200" b="1" dirty="0" err="1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que</a:t>
            </a:r>
            <a:r>
              <a:rPr lang="en-US" sz="1200" b="1" dirty="0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200" b="1" dirty="0" err="1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sugiere</a:t>
            </a:r>
            <a:r>
              <a:rPr lang="en-US" sz="1200" b="1" dirty="0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200" b="1" dirty="0" err="1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calibración</a:t>
            </a:r>
            <a:r>
              <a:rPr lang="en-US" sz="1200" b="1" dirty="0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 comparable </a:t>
            </a:r>
            <a:r>
              <a:rPr lang="en-US" sz="1200" b="1" dirty="0" err="1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dentro</a:t>
            </a:r>
            <a:r>
              <a:rPr lang="en-US" sz="1200" b="1" dirty="0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 de </a:t>
            </a:r>
            <a:r>
              <a:rPr lang="en-US" sz="1200" b="1" dirty="0" err="1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cada</a:t>
            </a:r>
            <a:r>
              <a:rPr lang="en-US" sz="1200" b="1" dirty="0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200" b="1" dirty="0" err="1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grupo</a:t>
            </a:r>
            <a:r>
              <a:rPr lang="en-US" sz="1200" b="1" dirty="0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. Las </a:t>
            </a:r>
            <a:r>
              <a:rPr lang="en-US" sz="1200" b="1" dirty="0" err="1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diferencias</a:t>
            </a:r>
            <a:r>
              <a:rPr lang="en-US" sz="1200" b="1" dirty="0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200" b="1" dirty="0" err="1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más</a:t>
            </a:r>
            <a:r>
              <a:rPr lang="en-US" sz="1200" b="1" dirty="0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200" b="1" dirty="0" err="1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pronunciadas</a:t>
            </a:r>
            <a:r>
              <a:rPr lang="en-US" sz="1200" b="1" dirty="0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200" b="1" dirty="0" err="1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aparecen</a:t>
            </a:r>
            <a:r>
              <a:rPr lang="en-US" sz="1200" b="1" dirty="0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 en el </a:t>
            </a:r>
            <a:r>
              <a:rPr lang="en-US" sz="1200" b="1" dirty="0" err="1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decil</a:t>
            </a:r>
            <a:r>
              <a:rPr lang="en-US" sz="1200" b="1" dirty="0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 superior, </a:t>
            </a:r>
            <a:r>
              <a:rPr lang="en-US" sz="1200" b="1" dirty="0" err="1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donde</a:t>
            </a:r>
            <a:r>
              <a:rPr lang="en-US" sz="1200" b="1" dirty="0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 el </a:t>
            </a:r>
            <a:r>
              <a:rPr lang="en-US" sz="1200" b="1" dirty="0" err="1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tamaño</a:t>
            </a:r>
            <a:r>
              <a:rPr lang="en-US" sz="1200" b="1" dirty="0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200" b="1" dirty="0" err="1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muestral</a:t>
            </a:r>
            <a:r>
              <a:rPr lang="en-US" sz="1200" b="1" dirty="0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 de Caucasian es </a:t>
            </a:r>
            <a:r>
              <a:rPr lang="en-US" sz="1200" b="1" dirty="0" err="1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reducido</a:t>
            </a:r>
            <a:r>
              <a:rPr lang="en-US" sz="1200" b="1" dirty="0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: </a:t>
            </a:r>
            <a:r>
              <a:rPr lang="en-US" sz="1200" b="1" dirty="0" err="1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ruido</a:t>
            </a:r>
            <a:r>
              <a:rPr lang="en-US" sz="1200" b="1" dirty="0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200" b="1" dirty="0" err="1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estadístico</a:t>
            </a:r>
            <a:r>
              <a:rPr lang="en-US" sz="1200" b="1" dirty="0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, no mala </a:t>
            </a:r>
            <a:r>
              <a:rPr lang="en-US" sz="1200" b="1" dirty="0" err="1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calibración</a:t>
            </a:r>
            <a:r>
              <a:rPr lang="en-US" sz="1200" b="1" dirty="0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200" b="1" dirty="0" err="1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sistemática</a:t>
            </a:r>
            <a:r>
              <a:rPr lang="en-US" sz="1200" b="1" dirty="0">
                <a:solidFill>
                  <a:schemeClr val="bg1"/>
                </a:solidFill>
                <a:latin typeface="Aptos" panose="020B0004020202020204" pitchFamily="34" charset="0"/>
                <a:ea typeface="Open Sans" pitchFamily="34" charset="-122"/>
                <a:cs typeface="Open Sans" pitchFamily="34" charset="-120"/>
              </a:rPr>
              <a:t>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F18C3A6-3FF0-CB5B-0566-4D37A038CF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6001" y="1202945"/>
            <a:ext cx="4411064" cy="338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7248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87680" y="0"/>
            <a:ext cx="1121664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Nuestro modelo: decisiones de diseño</a:t>
            </a:r>
            <a:endParaRPr lang="en-US" sz="2933" dirty="0">
              <a:latin typeface="Aptos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1036320"/>
            <a:ext cx="11216640" cy="1560576"/>
          </a:xfrm>
          <a:prstGeom prst="round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 sz="2400">
              <a:latin typeface="Aptos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0" y="1109472"/>
            <a:ext cx="1072896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24437A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Variables seleccionadas</a:t>
            </a:r>
            <a:endParaRPr lang="en-US" sz="1733" dirty="0">
              <a:solidFill>
                <a:srgbClr val="24437A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9600" y="1499616"/>
            <a:ext cx="1072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E293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age_cat · juv_fel_count · juv_misd_count · juv_other_count · priors_count · c_charge_degree</a:t>
            </a:r>
            <a:endParaRPr lang="en-US" sz="1467" dirty="0">
              <a:latin typeface="Aptos" panose="020B00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09600" y="1889760"/>
            <a:ext cx="10728960" cy="609600"/>
          </a:xfrm>
          <a:prstGeom prst="roundRect">
            <a:avLst/>
          </a:prstGeom>
          <a:solidFill>
            <a:srgbClr val="24437A"/>
          </a:solidFill>
          <a:ln>
            <a:noFill/>
          </a:ln>
        </p:spPr>
        <p:txBody>
          <a:bodyPr wrap="square" rtlCol="0" anchor="ctr"/>
          <a:lstStyle/>
          <a:p>
            <a:r>
              <a:rPr lang="en-US" sz="1600" b="1" i="1" dirty="0" err="1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Eliminamos</a:t>
            </a:r>
            <a:r>
              <a:rPr lang="en-US" sz="1600" b="1" i="1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raza y sexo: no porque no sean predictivas, sino para construir un modelo transparente y </a:t>
            </a:r>
            <a:r>
              <a:rPr lang="en-US" sz="1600" b="1" i="1" dirty="0" err="1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defendible</a:t>
            </a:r>
            <a:r>
              <a:rPr lang="en-US" sz="1600" b="1" i="1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r>
              <a:rPr lang="en-US" sz="1333" b="1" i="1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También </a:t>
            </a:r>
            <a:r>
              <a:rPr lang="en-US" sz="1333" b="1" i="1" dirty="0" err="1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eliminamos</a:t>
            </a:r>
            <a:r>
              <a:rPr lang="en-US" sz="1333" b="1" i="1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variables </a:t>
            </a:r>
            <a:r>
              <a:rPr lang="en-US" sz="1333" b="1" i="1" dirty="0" err="1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333" b="1" i="1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33" b="1" i="1" dirty="0" err="1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contienen</a:t>
            </a:r>
            <a:r>
              <a:rPr lang="en-US" sz="1333" b="1" i="1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33" b="1" i="1" dirty="0" err="1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datos</a:t>
            </a:r>
            <a:r>
              <a:rPr lang="en-US" sz="1333" b="1" i="1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33" b="1" i="1" dirty="0" err="1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sobre</a:t>
            </a:r>
            <a:r>
              <a:rPr lang="en-US" sz="1333" b="1" i="1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33" b="1" i="1" dirty="0" err="1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reincidencia</a:t>
            </a:r>
            <a:r>
              <a:rPr lang="en-US" sz="1333" b="1" i="1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posterior, para </a:t>
            </a:r>
            <a:r>
              <a:rPr lang="en-US" sz="1333" b="1" i="1" dirty="0" err="1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evitar</a:t>
            </a:r>
            <a:r>
              <a:rPr lang="en-US" sz="1333" b="1" i="1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data leakage (p. </a:t>
            </a:r>
            <a:r>
              <a:rPr lang="en-US" sz="1333" b="1" i="1" dirty="0" err="1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ej</a:t>
            </a:r>
            <a:r>
              <a:rPr lang="en-US" sz="1333" b="1" i="1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s-ES" sz="1333" b="1" i="1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“</a:t>
            </a:r>
            <a:r>
              <a:rPr lang="es-ES" sz="1333" b="1" i="1" dirty="0" err="1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r_case_number</a:t>
            </a:r>
            <a:r>
              <a:rPr lang="es-ES" sz="1333" b="1" i="1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”)</a:t>
            </a:r>
            <a:endParaRPr lang="en-US" sz="1333" b="1" i="1" dirty="0">
              <a:solidFill>
                <a:schemeClr val="bg1"/>
              </a:solidFill>
              <a:latin typeface="Aptos" panose="020B0004020202020204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65760" y="2743200"/>
            <a:ext cx="11216640" cy="1560576"/>
          </a:xfrm>
          <a:prstGeom prst="round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 sz="2400" dirty="0"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09600" y="2816352"/>
            <a:ext cx="1072896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24437A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Algoritmo: </a:t>
            </a:r>
            <a:r>
              <a:rPr lang="en-US" sz="1733" b="1" dirty="0" err="1">
                <a:solidFill>
                  <a:srgbClr val="24437A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regresión</a:t>
            </a:r>
            <a:r>
              <a:rPr lang="en-US" sz="1733" b="1" dirty="0">
                <a:solidFill>
                  <a:srgbClr val="24437A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733" b="1" dirty="0" err="1">
                <a:solidFill>
                  <a:srgbClr val="24437A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logística</a:t>
            </a:r>
            <a:endParaRPr lang="en-US" sz="1733" dirty="0">
              <a:solidFill>
                <a:srgbClr val="24437A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09600" y="3206496"/>
            <a:ext cx="1072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E293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Modelo lineal e interpretable. Cada coeficiente es explicable.</a:t>
            </a:r>
            <a:endParaRPr lang="en-US" sz="1467" dirty="0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09600" y="3596640"/>
            <a:ext cx="10728960" cy="609600"/>
          </a:xfrm>
          <a:prstGeom prst="roundRect">
            <a:avLst/>
          </a:prstGeom>
          <a:solidFill>
            <a:srgbClr val="24437A"/>
          </a:solidFill>
          <a:ln>
            <a:noFill/>
          </a:ln>
        </p:spPr>
        <p:txBody>
          <a:bodyPr wrap="square" rtlCol="0" anchor="ctr"/>
          <a:lstStyle/>
          <a:p>
            <a:r>
              <a:rPr lang="en-US" sz="1867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Elegida</a:t>
            </a:r>
            <a:r>
              <a:rPr lang="en-US" sz="1867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67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867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67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1867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67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interpretabilidad</a:t>
            </a:r>
            <a:r>
              <a:rPr lang="en-US" sz="1867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. En </a:t>
            </a:r>
            <a:r>
              <a:rPr lang="en-US" sz="1867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contexto</a:t>
            </a:r>
            <a:r>
              <a:rPr lang="en-US" sz="1867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judicial, </a:t>
            </a:r>
            <a:r>
              <a:rPr lang="en-US" sz="1867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cada</a:t>
            </a:r>
            <a:r>
              <a:rPr lang="en-US" sz="1867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67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coeficiente</a:t>
            </a:r>
            <a:r>
              <a:rPr lang="en-US" sz="1867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67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debe</a:t>
            </a:r>
            <a:r>
              <a:rPr lang="en-US" sz="1867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ser explicable.</a:t>
            </a:r>
            <a:endParaRPr lang="en-US" sz="1867" b="1" dirty="0">
              <a:latin typeface="Aptos" panose="020B00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65760" y="4450080"/>
            <a:ext cx="11216640" cy="1645920"/>
          </a:xfrm>
          <a:prstGeom prst="round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 sz="2400" dirty="0">
              <a:latin typeface="Aptos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09600" y="4523232"/>
            <a:ext cx="1072896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24437A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Modelo original vs balanceado</a:t>
            </a:r>
            <a:endParaRPr lang="en-US" sz="1733" dirty="0">
              <a:solidFill>
                <a:srgbClr val="24437A"/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09600" y="4913376"/>
            <a:ext cx="1072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E293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Elegimos el modelo sin balance de clases (precision 0.64 vs 0.52) en el </a:t>
            </a:r>
            <a:r>
              <a:rPr lang="en-US" sz="1467" dirty="0" err="1">
                <a:solidFill>
                  <a:srgbClr val="1E293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grupo</a:t>
            </a:r>
            <a:r>
              <a:rPr lang="en-US" sz="1467" dirty="0">
                <a:solidFill>
                  <a:srgbClr val="1E293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67" dirty="0" err="1">
                <a:solidFill>
                  <a:srgbClr val="1E293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marcado</a:t>
            </a:r>
            <a:r>
              <a:rPr lang="en-US" sz="1467" dirty="0">
                <a:solidFill>
                  <a:srgbClr val="1E293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67" dirty="0" err="1">
                <a:solidFill>
                  <a:srgbClr val="1E293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lang="en-US" sz="1467" dirty="0">
                <a:solidFill>
                  <a:srgbClr val="1E293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467" dirty="0" err="1">
                <a:solidFill>
                  <a:srgbClr val="1E293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riesgo</a:t>
            </a:r>
            <a:r>
              <a:rPr lang="en-US" sz="1467" dirty="0">
                <a:solidFill>
                  <a:srgbClr val="1E293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467" dirty="0" err="1">
                <a:solidFill>
                  <a:srgbClr val="1E293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reincidencia</a:t>
            </a:r>
            <a:r>
              <a:rPr lang="en-US" sz="1467" dirty="0">
                <a:solidFill>
                  <a:srgbClr val="1E293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67" dirty="0">
              <a:latin typeface="Aptos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09600" y="5303520"/>
            <a:ext cx="10728960" cy="518160"/>
          </a:xfrm>
          <a:prstGeom prst="roundRect">
            <a:avLst/>
          </a:prstGeom>
          <a:solidFill>
            <a:srgbClr val="24437A"/>
          </a:solidFill>
          <a:ln>
            <a:noFill/>
          </a:ln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El </a:t>
            </a:r>
            <a:r>
              <a:rPr lang="en-US" sz="1600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modelo</a:t>
            </a: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balanceado</a:t>
            </a: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duplica</a:t>
            </a: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el recall, </a:t>
            </a:r>
            <a:r>
              <a:rPr lang="en-US" sz="1600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pero</a:t>
            </a: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marca</a:t>
            </a: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incorrectamente</a:t>
            </a: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~ 1 de </a:t>
            </a:r>
            <a:r>
              <a:rPr lang="en-US" sz="1600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cada</a:t>
            </a: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2 personas </a:t>
            </a:r>
            <a:r>
              <a:rPr lang="en-US" sz="1600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positivo</a:t>
            </a: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25B501-964E-6FA6-C76B-771F7B80AB30}"/>
              </a:ext>
            </a:extLst>
          </p:cNvPr>
          <p:cNvSpPr/>
          <p:nvPr/>
        </p:nvSpPr>
        <p:spPr>
          <a:xfrm>
            <a:off x="0" y="-1"/>
            <a:ext cx="12192000" cy="766167"/>
          </a:xfrm>
          <a:prstGeom prst="rect">
            <a:avLst/>
          </a:prstGeom>
          <a:solidFill>
            <a:srgbClr val="2443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NUESTRO MODELO: DECISIONES DE DISEÑO</a:t>
            </a:r>
            <a:endParaRPr lang="en-US" sz="2800" dirty="0">
              <a:latin typeface="Aptos" panose="020B0004020202020204" pitchFamily="34" charset="0"/>
            </a:endParaRP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A36040AB-46F8-E918-13A6-52DA2ABB43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6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8128" y="78457"/>
            <a:ext cx="591924" cy="590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0" descr="Escuela de Formación Digital | Nuclio Digital School">
            <a:extLst>
              <a:ext uri="{FF2B5EF4-FFF2-40B4-BE49-F238E27FC236}">
                <a16:creationId xmlns:a16="http://schemas.microsoft.com/office/drawing/2014/main" id="{72E16029-BDD4-4106-34AD-C9035F60DC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6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261533" y="77226"/>
            <a:ext cx="591924" cy="591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Footer Placeholder 3">
            <a:extLst>
              <a:ext uri="{FF2B5EF4-FFF2-40B4-BE49-F238E27FC236}">
                <a16:creationId xmlns:a16="http://schemas.microsoft.com/office/drawing/2014/main" id="{B6545EED-70D3-1B3E-0310-0C5696A967B1}"/>
              </a:ext>
            </a:extLst>
          </p:cNvPr>
          <p:cNvSpPr txBox="1">
            <a:spLocks/>
          </p:cNvSpPr>
          <p:nvPr/>
        </p:nvSpPr>
        <p:spPr>
          <a:xfrm>
            <a:off x="3547872" y="6400800"/>
            <a:ext cx="5096256" cy="274637"/>
          </a:xfrm>
          <a:prstGeom prst="rect">
            <a:avLst/>
          </a:prstGeom>
        </p:spPr>
        <p:txBody>
          <a:bodyPr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00" dirty="0">
                <a:solidFill>
                  <a:srgbClr val="B9B9B9"/>
                </a:solidFill>
              </a:rPr>
              <a:t>NUCLIO DIGITAL SCHOOL - MÁSTER DATA ANALYTICS - TFM - GRUPO 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21"/>
          <p:cNvSpPr/>
          <p:nvPr/>
        </p:nvSpPr>
        <p:spPr>
          <a:xfrm>
            <a:off x="658368" y="4937760"/>
            <a:ext cx="512064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ELEGIDO</a:t>
            </a:r>
            <a:endParaRPr lang="en-US" sz="1733" dirty="0">
              <a:latin typeface="Aptos" panose="020B0004020202020204" pitchFamily="34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09600" y="5327904"/>
            <a:ext cx="11216640" cy="743712"/>
          </a:xfrm>
          <a:prstGeom prst="roundRect">
            <a:avLst/>
          </a:prstGeom>
          <a:solidFill>
            <a:srgbClr val="24437A"/>
          </a:solidFill>
          <a:ln w="12700">
            <a:noFill/>
            <a:prstDash val="solid"/>
          </a:ln>
        </p:spPr>
        <p:txBody>
          <a:bodyPr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El </a:t>
            </a:r>
            <a:r>
              <a:rPr lang="en-US" sz="1600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modelo</a:t>
            </a: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balanceado</a:t>
            </a: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duplica</a:t>
            </a: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el recall, </a:t>
            </a:r>
            <a:r>
              <a:rPr lang="en-US" sz="1600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pero</a:t>
            </a: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marca</a:t>
            </a: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incorrectamente</a:t>
            </a: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~ 1 de </a:t>
            </a:r>
            <a:r>
              <a:rPr lang="en-US" sz="1600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cada</a:t>
            </a: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2 personas </a:t>
            </a:r>
            <a:r>
              <a:rPr lang="en-US" sz="1600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positivo</a:t>
            </a: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algn="ctr"/>
            <a:r>
              <a:rPr lang="en-US" sz="2133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En derecho penal, un </a:t>
            </a:r>
            <a:r>
              <a:rPr lang="en-US" sz="2133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falso</a:t>
            </a:r>
            <a:r>
              <a:rPr lang="en-US" sz="2133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33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positivo</a:t>
            </a:r>
            <a:r>
              <a:rPr lang="en-US" sz="2133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es </a:t>
            </a:r>
            <a:r>
              <a:rPr lang="en-US" sz="2133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2133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33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injusticia</a:t>
            </a:r>
            <a:r>
              <a:rPr lang="en-US" sz="2133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33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concreta</a:t>
            </a:r>
            <a:r>
              <a:rPr lang="en-US" sz="2133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133" b="1" dirty="0">
              <a:latin typeface="Aptos" panose="020B000402020202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31520" y="5084064"/>
            <a:ext cx="10728960" cy="926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467" dirty="0">
              <a:latin typeface="Aptos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22C4B1-F98D-6F73-4628-CC96ECA435A7}"/>
              </a:ext>
            </a:extLst>
          </p:cNvPr>
          <p:cNvSpPr/>
          <p:nvPr/>
        </p:nvSpPr>
        <p:spPr>
          <a:xfrm>
            <a:off x="0" y="-1"/>
            <a:ext cx="12192000" cy="766167"/>
          </a:xfrm>
          <a:prstGeom prst="rect">
            <a:avLst/>
          </a:prstGeom>
          <a:solidFill>
            <a:srgbClr val="2443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Aptos" panose="020B0004020202020204" pitchFamily="34" charset="0"/>
                <a:ea typeface="Georgia" pitchFamily="34" charset="-122"/>
                <a:cs typeface="Georgia" pitchFamily="34" charset="-120"/>
              </a:rPr>
              <a:t>CREACIÓN DEL MODELO: ORIGINAL VS BALANCEADO</a:t>
            </a:r>
            <a:endParaRPr lang="en-US" sz="2800" dirty="0">
              <a:latin typeface="Aptos" panose="020B0004020202020204" pitchFamily="34" charset="0"/>
            </a:endParaRP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EE477604-4791-B849-0E53-302DBCD9B8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6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8128" y="78457"/>
            <a:ext cx="591924" cy="590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0" descr="Escuela de Formación Digital | Nuclio Digital School">
            <a:extLst>
              <a:ext uri="{FF2B5EF4-FFF2-40B4-BE49-F238E27FC236}">
                <a16:creationId xmlns:a16="http://schemas.microsoft.com/office/drawing/2014/main" id="{9A77A14A-1E89-78F8-5FFB-279FE686FE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6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261533" y="77226"/>
            <a:ext cx="591924" cy="591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Footer Placeholder 3">
            <a:extLst>
              <a:ext uri="{FF2B5EF4-FFF2-40B4-BE49-F238E27FC236}">
                <a16:creationId xmlns:a16="http://schemas.microsoft.com/office/drawing/2014/main" id="{5F9DE1F9-E97E-B78A-E5A3-D2EC3F415F7E}"/>
              </a:ext>
            </a:extLst>
          </p:cNvPr>
          <p:cNvSpPr txBox="1">
            <a:spLocks/>
          </p:cNvSpPr>
          <p:nvPr/>
        </p:nvSpPr>
        <p:spPr>
          <a:xfrm>
            <a:off x="3547872" y="6400800"/>
            <a:ext cx="5096256" cy="274637"/>
          </a:xfrm>
          <a:prstGeom prst="rect">
            <a:avLst/>
          </a:prstGeom>
        </p:spPr>
        <p:txBody>
          <a:bodyPr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00" dirty="0">
                <a:solidFill>
                  <a:srgbClr val="B9B9B9"/>
                </a:solidFill>
              </a:rPr>
              <a:t>NUCLIO DIGITAL SCHOOL - MÁSTER DATA ANALYTICS - TFM - GRUPO 3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1272FE90-A17A-F3D1-9A72-83BC05C56F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849" y="894361"/>
            <a:ext cx="10582302" cy="430534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1209636" y="4347686"/>
            <a:ext cx="1674763" cy="1341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 sz="2400"/>
          </a:p>
        </p:txBody>
      </p:sp>
      <p:sp>
        <p:nvSpPr>
          <p:cNvPr id="9" name="Text 7"/>
          <p:cNvSpPr/>
          <p:nvPr/>
        </p:nvSpPr>
        <p:spPr>
          <a:xfrm>
            <a:off x="1380324" y="4445222"/>
            <a:ext cx="231648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64748B"/>
                </a:solidFill>
                <a:ea typeface="Calibri" pitchFamily="34" charset="-122"/>
                <a:cs typeface="Calibri" pitchFamily="34" charset="-120"/>
              </a:rPr>
              <a:t>Nuestro modelo</a:t>
            </a:r>
            <a:endParaRPr lang="en-US" sz="1333" dirty="0"/>
          </a:p>
        </p:txBody>
      </p:sp>
      <p:sp>
        <p:nvSpPr>
          <p:cNvPr id="10" name="Text 8"/>
          <p:cNvSpPr/>
          <p:nvPr/>
        </p:nvSpPr>
        <p:spPr>
          <a:xfrm>
            <a:off x="1380324" y="4737830"/>
            <a:ext cx="2316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24437A"/>
                </a:solidFill>
                <a:ea typeface="Georgia" pitchFamily="34" charset="-122"/>
                <a:cs typeface="Georgia" pitchFamily="34" charset="-120"/>
              </a:rPr>
              <a:t>0.708</a:t>
            </a:r>
            <a:endParaRPr lang="en-US" sz="3467" dirty="0">
              <a:solidFill>
                <a:srgbClr val="24437A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1380324" y="5298662"/>
            <a:ext cx="231648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4748B"/>
                </a:solidFill>
                <a:ea typeface="Calibri" pitchFamily="34" charset="-122"/>
                <a:cs typeface="Calibri" pitchFamily="34" charset="-120"/>
              </a:rPr>
              <a:t>AUC global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030110" y="4347686"/>
            <a:ext cx="1674763" cy="1341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 sz="2400"/>
          </a:p>
        </p:txBody>
      </p:sp>
      <p:sp>
        <p:nvSpPr>
          <p:cNvPr id="14" name="Text 12"/>
          <p:cNvSpPr/>
          <p:nvPr/>
        </p:nvSpPr>
        <p:spPr>
          <a:xfrm>
            <a:off x="3200798" y="4445222"/>
            <a:ext cx="231648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64748B"/>
                </a:solidFill>
                <a:ea typeface="Calibri" pitchFamily="34" charset="-122"/>
                <a:cs typeface="Calibri" pitchFamily="34" charset="-120"/>
              </a:rPr>
              <a:t>COMPAS</a:t>
            </a:r>
            <a:endParaRPr lang="en-US" sz="1333" dirty="0"/>
          </a:p>
        </p:txBody>
      </p:sp>
      <p:sp>
        <p:nvSpPr>
          <p:cNvPr id="15" name="Text 13"/>
          <p:cNvSpPr/>
          <p:nvPr/>
        </p:nvSpPr>
        <p:spPr>
          <a:xfrm>
            <a:off x="3200798" y="4737830"/>
            <a:ext cx="2316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64748B"/>
                </a:solidFill>
                <a:ea typeface="Georgia" pitchFamily="34" charset="-122"/>
                <a:cs typeface="Georgia" pitchFamily="34" charset="-120"/>
              </a:rPr>
              <a:t>0.685</a:t>
            </a:r>
            <a:endParaRPr lang="en-US" sz="3467" dirty="0"/>
          </a:p>
        </p:txBody>
      </p:sp>
      <p:sp>
        <p:nvSpPr>
          <p:cNvPr id="16" name="Text 14"/>
          <p:cNvSpPr/>
          <p:nvPr/>
        </p:nvSpPr>
        <p:spPr>
          <a:xfrm>
            <a:off x="3200798" y="5298662"/>
            <a:ext cx="231648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4748B"/>
                </a:solidFill>
                <a:ea typeface="Calibri" pitchFamily="34" charset="-122"/>
                <a:cs typeface="Calibri" pitchFamily="34" charset="-120"/>
              </a:rPr>
              <a:t>AUC global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01484" y="5786342"/>
            <a:ext cx="3503389" cy="426720"/>
          </a:xfrm>
          <a:prstGeom prst="roundRect">
            <a:avLst/>
          </a:prstGeom>
          <a:solidFill>
            <a:srgbClr val="24437A"/>
          </a:solidFill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+0.023 de </a:t>
            </a:r>
            <a:r>
              <a:rPr lang="en-US" sz="1200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mejora</a:t>
            </a: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con </a:t>
            </a:r>
            <a:r>
              <a:rPr lang="en-US" sz="1200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respecto</a:t>
            </a:r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a COMPAS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13AA3FD-F870-149A-E87F-025336803ADA}"/>
              </a:ext>
            </a:extLst>
          </p:cNvPr>
          <p:cNvSpPr/>
          <p:nvPr/>
        </p:nvSpPr>
        <p:spPr>
          <a:xfrm>
            <a:off x="0" y="-1"/>
            <a:ext cx="12192000" cy="766167"/>
          </a:xfrm>
          <a:prstGeom prst="rect">
            <a:avLst/>
          </a:prstGeom>
          <a:solidFill>
            <a:srgbClr val="2443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FFFFFF"/>
                </a:solidFill>
                <a:ea typeface="Georgia" pitchFamily="34" charset="-122"/>
                <a:cs typeface="Georgia" pitchFamily="34" charset="-120"/>
              </a:rPr>
              <a:t>COMPARACIÓN COMPAS/NUESTRO MODELO: AUC</a:t>
            </a:r>
            <a:endParaRPr lang="en-US" sz="2800" dirty="0"/>
          </a:p>
        </p:txBody>
      </p:sp>
      <p:pic>
        <p:nvPicPr>
          <p:cNvPr id="32" name="Picture 8">
            <a:extLst>
              <a:ext uri="{FF2B5EF4-FFF2-40B4-BE49-F238E27FC236}">
                <a16:creationId xmlns:a16="http://schemas.microsoft.com/office/drawing/2014/main" id="{F9F034F0-2181-04A0-E26E-9D95FB6703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6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8128" y="78457"/>
            <a:ext cx="591924" cy="590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10" descr="Escuela de Formación Digital | Nuclio Digital School">
            <a:extLst>
              <a:ext uri="{FF2B5EF4-FFF2-40B4-BE49-F238E27FC236}">
                <a16:creationId xmlns:a16="http://schemas.microsoft.com/office/drawing/2014/main" id="{6C3C9CE3-7C7D-1F4B-6481-B5AD5F2074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6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261533" y="77226"/>
            <a:ext cx="591924" cy="591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5A806F90-29FA-D0FD-C588-393E5DEB35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952" y="1030021"/>
            <a:ext cx="3983511" cy="305381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2632A287-5149-8550-7C4E-CB52A7FE589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6849"/>
          <a:stretch>
            <a:fillRect/>
          </a:stretch>
        </p:blipFill>
        <p:spPr>
          <a:xfrm>
            <a:off x="6756841" y="1102768"/>
            <a:ext cx="4800654" cy="2908316"/>
          </a:xfrm>
          <a:prstGeom prst="rect">
            <a:avLst/>
          </a:prstGeom>
        </p:spPr>
      </p:pic>
      <p:graphicFrame>
        <p:nvGraphicFramePr>
          <p:cNvPr id="42" name="Table 0">
            <a:extLst>
              <a:ext uri="{FF2B5EF4-FFF2-40B4-BE49-F238E27FC236}">
                <a16:creationId xmlns:a16="http://schemas.microsoft.com/office/drawing/2014/main" id="{37121D8F-1646-555F-5F2F-E2B7DF07B5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1649571"/>
              </p:ext>
            </p:extLst>
          </p:nvPr>
        </p:nvGraphicFramePr>
        <p:xfrm>
          <a:off x="6756841" y="4109417"/>
          <a:ext cx="2625283" cy="1888469"/>
        </p:xfrm>
        <a:graphic>
          <a:graphicData uri="http://schemas.openxmlformats.org/drawingml/2006/table">
            <a:tbl>
              <a:tblPr/>
              <a:tblGrid>
                <a:gridCol w="1075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02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2943"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s-E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Etnia</a:t>
                      </a:r>
                      <a:endParaRPr lang="es-ES" sz="12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994" marR="7994" marT="7994" marB="0" anchor="b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37A"/>
                    </a:solidFill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s-ES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Diferencia AUC</a:t>
                      </a:r>
                      <a:endParaRPr lang="es-ES" sz="12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994" marR="7994" marT="7994" marB="0" anchor="b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3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943"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s-ES" sz="1200" b="1" u="none" strike="noStrike" dirty="0" err="1">
                          <a:solidFill>
                            <a:srgbClr val="24437A"/>
                          </a:solidFill>
                          <a:effectLst/>
                        </a:rPr>
                        <a:t>African</a:t>
                      </a:r>
                      <a:r>
                        <a:rPr lang="es-ES" sz="1200" b="1" u="none" strike="noStrike" dirty="0">
                          <a:solidFill>
                            <a:srgbClr val="24437A"/>
                          </a:solidFill>
                          <a:effectLst/>
                        </a:rPr>
                        <a:t>-American</a:t>
                      </a:r>
                      <a:endParaRPr lang="es-ES" sz="1200" b="1" i="0" u="none" strike="noStrike" dirty="0">
                        <a:solidFill>
                          <a:srgbClr val="24437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994" marR="7994" marT="7994" marB="0" anchor="b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algn="r" fontAlgn="b">
                        <a:buNone/>
                      </a:pPr>
                      <a:r>
                        <a:rPr lang="es-ES" sz="1200" u="none" strike="noStrike" dirty="0">
                          <a:effectLst/>
                        </a:rPr>
                        <a:t>0.025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994" marR="7994" marT="7994" marB="0" anchor="b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943"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s-ES" sz="1200" b="1" u="none" strike="noStrike" dirty="0" err="1">
                          <a:solidFill>
                            <a:srgbClr val="24437A"/>
                          </a:solidFill>
                          <a:effectLst/>
                        </a:rPr>
                        <a:t>Caucasian</a:t>
                      </a:r>
                      <a:endParaRPr lang="es-ES" sz="1200" b="1" i="0" u="none" strike="noStrike" dirty="0">
                        <a:solidFill>
                          <a:srgbClr val="24437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994" marR="7994" marT="7994" marB="0" anchor="b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91440" algn="r" fontAlgn="b">
                        <a:buNone/>
                      </a:pPr>
                      <a:r>
                        <a:rPr lang="es-ES" sz="1200" u="none" strike="noStrike" dirty="0">
                          <a:effectLst/>
                        </a:rPr>
                        <a:t>0.051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994" marR="7994" marT="7994" marB="0" anchor="b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943"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s-ES" sz="1200" b="1" u="none" strike="noStrike" dirty="0" err="1">
                          <a:solidFill>
                            <a:srgbClr val="24437A"/>
                          </a:solidFill>
                          <a:effectLst/>
                        </a:rPr>
                        <a:t>Hispanic</a:t>
                      </a:r>
                      <a:endParaRPr lang="es-ES" sz="1200" b="1" i="0" u="none" strike="noStrike" dirty="0">
                        <a:solidFill>
                          <a:srgbClr val="24437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994" marR="7994" marT="7994" marB="0" anchor="b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algn="r" fontAlgn="b">
                        <a:buNone/>
                      </a:pPr>
                      <a:r>
                        <a:rPr lang="es-ES" sz="1200" u="none" strike="noStrike" dirty="0">
                          <a:effectLst/>
                        </a:rPr>
                        <a:t>0.041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994" marR="7994" marT="7994" marB="0" anchor="b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2943"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s-ES" sz="1200" b="1" u="none" strike="noStrike" dirty="0" err="1">
                          <a:solidFill>
                            <a:srgbClr val="24437A"/>
                          </a:solidFill>
                          <a:effectLst/>
                        </a:rPr>
                        <a:t>Other</a:t>
                      </a:r>
                      <a:endParaRPr lang="es-ES" sz="1200" b="1" i="0" u="none" strike="noStrike" dirty="0">
                        <a:solidFill>
                          <a:srgbClr val="24437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994" marR="7994" marT="7994" marB="0" anchor="b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91440" algn="r" fontAlgn="b">
                        <a:buNone/>
                      </a:pPr>
                      <a:r>
                        <a:rPr lang="es-ES" sz="1200" u="none" strike="noStrike" dirty="0">
                          <a:effectLst/>
                        </a:rPr>
                        <a:t>-0.098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994" marR="7994" marT="7994" marB="0" anchor="b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943"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s-ES" sz="1200" b="1" u="none" strike="noStrike" dirty="0" err="1">
                          <a:solidFill>
                            <a:srgbClr val="24437A"/>
                          </a:solidFill>
                          <a:effectLst/>
                        </a:rPr>
                        <a:t>Asian</a:t>
                      </a:r>
                      <a:endParaRPr lang="es-ES" sz="1200" b="1" i="0" u="none" strike="noStrike" dirty="0">
                        <a:solidFill>
                          <a:srgbClr val="24437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994" marR="7994" marT="7994" marB="0" anchor="b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1440" algn="r" fontAlgn="b">
                        <a:buNone/>
                      </a:pPr>
                      <a:r>
                        <a:rPr lang="es-ES" sz="1200" u="none" strike="noStrike" dirty="0">
                          <a:effectLst/>
                        </a:rPr>
                        <a:t>-0.125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994" marR="7994" marT="7994" marB="0" anchor="b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1156799"/>
                  </a:ext>
                </a:extLst>
              </a:tr>
            </a:tbl>
          </a:graphicData>
        </a:graphic>
      </p:graphicFrame>
      <p:sp>
        <p:nvSpPr>
          <p:cNvPr id="45" name="Text 15">
            <a:extLst>
              <a:ext uri="{FF2B5EF4-FFF2-40B4-BE49-F238E27FC236}">
                <a16:creationId xmlns:a16="http://schemas.microsoft.com/office/drawing/2014/main" id="{EAD92F1F-BBA5-5BB6-E088-9646A4257624}"/>
              </a:ext>
            </a:extLst>
          </p:cNvPr>
          <p:cNvSpPr/>
          <p:nvPr/>
        </p:nvSpPr>
        <p:spPr>
          <a:xfrm>
            <a:off x="9616074" y="4417292"/>
            <a:ext cx="2309226" cy="1149594"/>
          </a:xfrm>
          <a:prstGeom prst="roundRect">
            <a:avLst/>
          </a:prstGeom>
          <a:solidFill>
            <a:srgbClr val="24437A"/>
          </a:solidFill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1600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Mejora</a:t>
            </a: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consistente</a:t>
            </a: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en </a:t>
            </a:r>
            <a:r>
              <a:rPr lang="en-US" sz="1600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grupos</a:t>
            </a: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principales</a:t>
            </a: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A49D4AB-98B1-121D-4E97-72457D3995DD}"/>
              </a:ext>
            </a:extLst>
          </p:cNvPr>
          <p:cNvSpPr txBox="1"/>
          <p:nvPr/>
        </p:nvSpPr>
        <p:spPr>
          <a:xfrm>
            <a:off x="6756840" y="6127095"/>
            <a:ext cx="424321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Asian y Native-American </a:t>
            </a:r>
            <a:r>
              <a:rPr lang="en-US" sz="12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tienen</a:t>
            </a:r>
            <a: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muestras</a:t>
            </a:r>
            <a: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muy</a:t>
            </a:r>
            <a: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reducidas</a:t>
            </a:r>
            <a: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E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0" name="Footer Placeholder 3">
            <a:extLst>
              <a:ext uri="{FF2B5EF4-FFF2-40B4-BE49-F238E27FC236}">
                <a16:creationId xmlns:a16="http://schemas.microsoft.com/office/drawing/2014/main" id="{3FF33E29-0938-5F2F-97F1-45E3299B06F2}"/>
              </a:ext>
            </a:extLst>
          </p:cNvPr>
          <p:cNvSpPr txBox="1">
            <a:spLocks/>
          </p:cNvSpPr>
          <p:nvPr/>
        </p:nvSpPr>
        <p:spPr>
          <a:xfrm>
            <a:off x="3547872" y="6400800"/>
            <a:ext cx="5096256" cy="274637"/>
          </a:xfrm>
          <a:prstGeom prst="rect">
            <a:avLst/>
          </a:prstGeom>
        </p:spPr>
        <p:txBody>
          <a:bodyPr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00" dirty="0">
                <a:solidFill>
                  <a:srgbClr val="B9B9B9"/>
                </a:solidFill>
              </a:rPr>
              <a:t>NUCLIO DIGITAL SCHOOL - MÁSTER DATA ANALYTICS - TFM - GRUPO 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B19CA77D-F36D-F55B-50C7-DC18B5C73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18">
            <a:extLst>
              <a:ext uri="{FF2B5EF4-FFF2-40B4-BE49-F238E27FC236}">
                <a16:creationId xmlns:a16="http://schemas.microsoft.com/office/drawing/2014/main" id="{0B052F9C-CC07-E732-F3DB-BF8AABE2BF33}"/>
              </a:ext>
            </a:extLst>
          </p:cNvPr>
          <p:cNvSpPr/>
          <p:nvPr/>
        </p:nvSpPr>
        <p:spPr>
          <a:xfrm>
            <a:off x="6217920" y="1767840"/>
            <a:ext cx="5486400" cy="13411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r>
              <a:rPr lang="en-US" sz="2400" b="1" dirty="0">
                <a:solidFill>
                  <a:srgbClr val="1A2456"/>
                </a:solidFill>
                <a:ea typeface="Georgia" pitchFamily="34" charset="-122"/>
                <a:cs typeface="Georgia" pitchFamily="34" charset="-120"/>
              </a:rPr>
              <a:t>Nuestro </a:t>
            </a:r>
            <a:r>
              <a:rPr lang="en-US" sz="2400" b="1" dirty="0" err="1">
                <a:solidFill>
                  <a:srgbClr val="1A2456"/>
                </a:solidFill>
                <a:ea typeface="Georgia" pitchFamily="34" charset="-122"/>
                <a:cs typeface="Georgia" pitchFamily="34" charset="-120"/>
              </a:rPr>
              <a:t>modelo</a:t>
            </a:r>
            <a:endParaRPr lang="en-US" sz="2400" dirty="0"/>
          </a:p>
          <a:p>
            <a:r>
              <a:rPr lang="en-US" sz="24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Sigue la diagonal en </a:t>
            </a:r>
            <a:r>
              <a:rPr lang="en-US" sz="24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rango</a:t>
            </a:r>
            <a:r>
              <a:rPr lang="en-US" sz="24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0.2–0.6</a:t>
            </a:r>
            <a:endParaRPr lang="en-US" sz="2400" dirty="0"/>
          </a:p>
          <a:p>
            <a:r>
              <a:rPr lang="en-US" sz="24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(zona de mayor </a:t>
            </a:r>
            <a:r>
              <a:rPr lang="en-US" sz="24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densidad</a:t>
            </a:r>
            <a:r>
              <a:rPr lang="en-US" sz="24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24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casos</a:t>
            </a:r>
            <a:r>
              <a:rPr lang="en-US" sz="24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)</a:t>
            </a:r>
            <a:endParaRPr lang="en-US" sz="24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84801652-4425-A1F1-39D5-686F92856F57}"/>
              </a:ext>
            </a:extLst>
          </p:cNvPr>
          <p:cNvSpPr/>
          <p:nvPr/>
        </p:nvSpPr>
        <p:spPr>
          <a:xfrm>
            <a:off x="6461760" y="1865376"/>
            <a:ext cx="49987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6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101848DD-5E77-3190-4680-C84A51831674}"/>
              </a:ext>
            </a:extLst>
          </p:cNvPr>
          <p:cNvSpPr/>
          <p:nvPr/>
        </p:nvSpPr>
        <p:spPr>
          <a:xfrm>
            <a:off x="6217920" y="3291840"/>
            <a:ext cx="5486400" cy="13411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r>
              <a:rPr lang="en-US" sz="2000" b="1" dirty="0">
                <a:solidFill>
                  <a:srgbClr val="1A2456"/>
                </a:solidFill>
                <a:ea typeface="Georgia" pitchFamily="34" charset="-122"/>
                <a:cs typeface="Georgia" pitchFamily="34" charset="-120"/>
              </a:rPr>
              <a:t>COMPAS</a:t>
            </a:r>
          </a:p>
          <a:p>
            <a:r>
              <a:rPr lang="en-US" sz="20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Sobreestima</a:t>
            </a:r>
            <a:r>
              <a:rPr lang="en-US" sz="20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el </a:t>
            </a:r>
            <a:r>
              <a:rPr lang="en-US" sz="20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riesgo</a:t>
            </a:r>
            <a:r>
              <a:rPr lang="en-US" sz="20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desde</a:t>
            </a:r>
            <a:r>
              <a:rPr lang="en-US" sz="20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scores </a:t>
            </a:r>
            <a:r>
              <a:rPr lang="en-US" sz="20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medios</a:t>
            </a:r>
            <a:r>
              <a:rPr lang="en-US" sz="20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-altos (curva se </a:t>
            </a:r>
            <a:r>
              <a:rPr lang="en-US" sz="20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aplana</a:t>
            </a:r>
            <a:r>
              <a:rPr lang="en-US" sz="20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por</a:t>
            </a:r>
            <a:r>
              <a:rPr lang="en-US" sz="20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debajo</a:t>
            </a:r>
            <a:r>
              <a:rPr lang="en-US" sz="20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de la diagonal </a:t>
            </a:r>
            <a:r>
              <a:rPr lang="en-US" sz="20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desde</a:t>
            </a:r>
            <a:r>
              <a:rPr lang="en-US" sz="20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0.4)</a:t>
            </a:r>
            <a:endParaRPr lang="en-US" sz="20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FF4B8FC8-FEDE-7B6D-D12F-77F57FDAD9F3}"/>
              </a:ext>
            </a:extLst>
          </p:cNvPr>
          <p:cNvSpPr/>
          <p:nvPr/>
        </p:nvSpPr>
        <p:spPr>
          <a:xfrm>
            <a:off x="6461760" y="3755136"/>
            <a:ext cx="499872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333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F646D6FB-3900-7D30-3CC0-31B41C007AC2}"/>
              </a:ext>
            </a:extLst>
          </p:cNvPr>
          <p:cNvSpPr/>
          <p:nvPr/>
        </p:nvSpPr>
        <p:spPr>
          <a:xfrm>
            <a:off x="731520" y="4779264"/>
            <a:ext cx="10728960" cy="926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333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35BF46F-0145-8D8F-BA86-B2F98567FC2A}"/>
              </a:ext>
            </a:extLst>
          </p:cNvPr>
          <p:cNvSpPr/>
          <p:nvPr/>
        </p:nvSpPr>
        <p:spPr>
          <a:xfrm>
            <a:off x="0" y="-1"/>
            <a:ext cx="12192000" cy="766167"/>
          </a:xfrm>
          <a:prstGeom prst="rect">
            <a:avLst/>
          </a:prstGeom>
          <a:solidFill>
            <a:srgbClr val="2443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FFFFFF"/>
                </a:solidFill>
                <a:ea typeface="Georgia" pitchFamily="34" charset="-122"/>
                <a:cs typeface="Georgia" pitchFamily="34" charset="-120"/>
              </a:rPr>
              <a:t>COMPARACIÓN COMPAS/NUESTRO MODELO: CALIBRATION</a:t>
            </a:r>
            <a:endParaRPr lang="en-US" sz="2800" dirty="0"/>
          </a:p>
        </p:txBody>
      </p:sp>
      <p:pic>
        <p:nvPicPr>
          <p:cNvPr id="32" name="Picture 8">
            <a:extLst>
              <a:ext uri="{FF2B5EF4-FFF2-40B4-BE49-F238E27FC236}">
                <a16:creationId xmlns:a16="http://schemas.microsoft.com/office/drawing/2014/main" id="{73AB2EB2-3C34-4984-2447-FB8268CFEA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6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8128" y="78457"/>
            <a:ext cx="591924" cy="590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10" descr="Escuela de Formación Digital | Nuclio Digital School">
            <a:extLst>
              <a:ext uri="{FF2B5EF4-FFF2-40B4-BE49-F238E27FC236}">
                <a16:creationId xmlns:a16="http://schemas.microsoft.com/office/drawing/2014/main" id="{7CA15C4A-5C04-3990-8C35-B39D2196B0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alphaModFix amt="6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261533" y="77226"/>
            <a:ext cx="591924" cy="591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hape 38">
            <a:extLst>
              <a:ext uri="{FF2B5EF4-FFF2-40B4-BE49-F238E27FC236}">
                <a16:creationId xmlns:a16="http://schemas.microsoft.com/office/drawing/2014/main" id="{9DDF922E-FEC1-437A-3D09-88A4E81640AB}"/>
              </a:ext>
            </a:extLst>
          </p:cNvPr>
          <p:cNvSpPr/>
          <p:nvPr/>
        </p:nvSpPr>
        <p:spPr>
          <a:xfrm>
            <a:off x="636817" y="5591391"/>
            <a:ext cx="11216640" cy="274320"/>
          </a:xfrm>
          <a:prstGeom prst="roundRect">
            <a:avLst/>
          </a:prstGeom>
          <a:noFill/>
          <a:ln w="12700">
            <a:solidFill>
              <a:srgbClr val="1A2456"/>
            </a:solidFill>
            <a:prstDash val="solid"/>
          </a:ln>
        </p:spPr>
        <p:txBody>
          <a:bodyPr/>
          <a:lstStyle/>
          <a:p>
            <a:pPr algn="ctr"/>
            <a:r>
              <a:rPr lang="en-US" sz="1200" b="1" i="1" dirty="0">
                <a:solidFill>
                  <a:schemeClr val="tx1">
                    <a:lumMod val="65000"/>
                    <a:lumOff val="35000"/>
                  </a:schemeClr>
                </a:solidFill>
                <a:ea typeface="Calibri" pitchFamily="34" charset="-122"/>
                <a:cs typeface="Calibri" pitchFamily="34" charset="-120"/>
              </a:rPr>
              <a:t>Nota: COMPAS produce deciles </a:t>
            </a:r>
            <a:r>
              <a:rPr lang="en-US" sz="1200" b="1" i="1" dirty="0" err="1">
                <a:solidFill>
                  <a:schemeClr val="tx1">
                    <a:lumMod val="65000"/>
                    <a:lumOff val="35000"/>
                  </a:schemeClr>
                </a:solidFill>
                <a:ea typeface="Calibri" pitchFamily="34" charset="-122"/>
                <a:cs typeface="Calibri" pitchFamily="34" charset="-120"/>
              </a:rPr>
              <a:t>ordinales</a:t>
            </a:r>
            <a:r>
              <a:rPr lang="en-US" sz="1200" b="1" i="1" dirty="0">
                <a:solidFill>
                  <a:schemeClr val="tx1">
                    <a:lumMod val="65000"/>
                    <a:lumOff val="35000"/>
                  </a:schemeClr>
                </a:solidFill>
                <a:ea typeface="Calibri" pitchFamily="34" charset="-122"/>
                <a:cs typeface="Calibri" pitchFamily="34" charset="-120"/>
              </a:rPr>
              <a:t> (1–10); </a:t>
            </a:r>
            <a:r>
              <a:rPr lang="en-US" sz="1200" b="1" i="1" dirty="0" err="1">
                <a:solidFill>
                  <a:schemeClr val="tx1">
                    <a:lumMod val="65000"/>
                    <a:lumOff val="35000"/>
                  </a:schemeClr>
                </a:solidFill>
                <a:ea typeface="Calibri" pitchFamily="34" charset="-122"/>
                <a:cs typeface="Calibri" pitchFamily="34" charset="-120"/>
              </a:rPr>
              <a:t>nuestro</a:t>
            </a:r>
            <a:r>
              <a:rPr lang="en-US" sz="1200" b="1" i="1" dirty="0">
                <a:solidFill>
                  <a:schemeClr val="tx1">
                    <a:lumMod val="65000"/>
                    <a:lumOff val="35000"/>
                  </a:schemeClr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i="1" dirty="0" err="1">
                <a:solidFill>
                  <a:schemeClr val="tx1">
                    <a:lumMod val="65000"/>
                    <a:lumOff val="35000"/>
                  </a:schemeClr>
                </a:solidFill>
                <a:ea typeface="Calibri" pitchFamily="34" charset="-122"/>
                <a:cs typeface="Calibri" pitchFamily="34" charset="-120"/>
              </a:rPr>
              <a:t>modelo</a:t>
            </a:r>
            <a:r>
              <a:rPr lang="en-US" sz="1200" b="1" i="1" dirty="0">
                <a:solidFill>
                  <a:schemeClr val="tx1">
                    <a:lumMod val="65000"/>
                    <a:lumOff val="35000"/>
                  </a:schemeClr>
                </a:solidFill>
                <a:ea typeface="Calibri" pitchFamily="34" charset="-122"/>
                <a:cs typeface="Calibri" pitchFamily="34" charset="-120"/>
              </a:rPr>
              <a:t> produce </a:t>
            </a:r>
            <a:r>
              <a:rPr lang="en-US" sz="1200" b="1" i="1" dirty="0" err="1">
                <a:solidFill>
                  <a:schemeClr val="tx1">
                    <a:lumMod val="65000"/>
                    <a:lumOff val="35000"/>
                  </a:schemeClr>
                </a:solidFill>
                <a:ea typeface="Calibri" pitchFamily="34" charset="-122"/>
                <a:cs typeface="Calibri" pitchFamily="34" charset="-120"/>
              </a:rPr>
              <a:t>probabilidades</a:t>
            </a:r>
            <a:r>
              <a:rPr lang="en-US" sz="1200" b="1" i="1" dirty="0">
                <a:solidFill>
                  <a:schemeClr val="tx1">
                    <a:lumMod val="65000"/>
                    <a:lumOff val="35000"/>
                  </a:schemeClr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i="1" dirty="0" err="1">
                <a:solidFill>
                  <a:schemeClr val="tx1">
                    <a:lumMod val="65000"/>
                    <a:lumOff val="35000"/>
                  </a:schemeClr>
                </a:solidFill>
                <a:ea typeface="Calibri" pitchFamily="34" charset="-122"/>
                <a:cs typeface="Calibri" pitchFamily="34" charset="-120"/>
              </a:rPr>
              <a:t>continuas</a:t>
            </a:r>
            <a:r>
              <a:rPr lang="en-US" sz="1200" b="1" i="1" dirty="0">
                <a:solidFill>
                  <a:schemeClr val="tx1">
                    <a:lumMod val="65000"/>
                    <a:lumOff val="35000"/>
                  </a:schemeClr>
                </a:solidFill>
                <a:ea typeface="Calibri" pitchFamily="34" charset="-122"/>
                <a:cs typeface="Calibri" pitchFamily="34" charset="-120"/>
              </a:rPr>
              <a:t> (0–1). La </a:t>
            </a:r>
            <a:r>
              <a:rPr lang="en-US" sz="1200" b="1" i="1" dirty="0" err="1">
                <a:solidFill>
                  <a:schemeClr val="tx1">
                    <a:lumMod val="65000"/>
                    <a:lumOff val="35000"/>
                  </a:schemeClr>
                </a:solidFill>
                <a:ea typeface="Calibri" pitchFamily="34" charset="-122"/>
                <a:cs typeface="Calibri" pitchFamily="34" charset="-120"/>
              </a:rPr>
              <a:t>comparación</a:t>
            </a:r>
            <a:r>
              <a:rPr lang="en-US" sz="1200" b="1" i="1" dirty="0">
                <a:solidFill>
                  <a:schemeClr val="tx1">
                    <a:lumMod val="65000"/>
                    <a:lumOff val="35000"/>
                  </a:schemeClr>
                </a:solidFill>
                <a:ea typeface="Calibri" pitchFamily="34" charset="-122"/>
                <a:cs typeface="Calibri" pitchFamily="34" charset="-120"/>
              </a:rPr>
              <a:t> de calibration es </a:t>
            </a:r>
            <a:r>
              <a:rPr lang="en-US" sz="1200" b="1" i="1" dirty="0" err="1">
                <a:solidFill>
                  <a:schemeClr val="tx1">
                    <a:lumMod val="65000"/>
                    <a:lumOff val="35000"/>
                  </a:schemeClr>
                </a:solidFill>
                <a:ea typeface="Calibri" pitchFamily="34" charset="-122"/>
                <a:cs typeface="Calibri" pitchFamily="34" charset="-120"/>
              </a:rPr>
              <a:t>orientativa</a:t>
            </a:r>
            <a:r>
              <a:rPr lang="en-US" sz="1200" b="1" i="1" dirty="0">
                <a:solidFill>
                  <a:schemeClr val="tx1">
                    <a:lumMod val="65000"/>
                    <a:lumOff val="35000"/>
                  </a:schemeClr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0535F495-3DB6-4DEA-4084-A37A9CE8BA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095" y="1129449"/>
            <a:ext cx="5283269" cy="4050221"/>
          </a:xfrm>
          <a:prstGeom prst="rect">
            <a:avLst/>
          </a:prstGeom>
        </p:spPr>
      </p:pic>
      <p:sp>
        <p:nvSpPr>
          <p:cNvPr id="35" name="Footer Placeholder 3">
            <a:extLst>
              <a:ext uri="{FF2B5EF4-FFF2-40B4-BE49-F238E27FC236}">
                <a16:creationId xmlns:a16="http://schemas.microsoft.com/office/drawing/2014/main" id="{4468DFB5-CA6D-B59A-2093-E44555E48678}"/>
              </a:ext>
            </a:extLst>
          </p:cNvPr>
          <p:cNvSpPr txBox="1">
            <a:spLocks/>
          </p:cNvSpPr>
          <p:nvPr/>
        </p:nvSpPr>
        <p:spPr>
          <a:xfrm>
            <a:off x="3547872" y="6400800"/>
            <a:ext cx="5096256" cy="274637"/>
          </a:xfrm>
          <a:prstGeom prst="rect">
            <a:avLst/>
          </a:prstGeom>
        </p:spPr>
        <p:txBody>
          <a:bodyPr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00" dirty="0">
                <a:solidFill>
                  <a:srgbClr val="B9B9B9"/>
                </a:solidFill>
              </a:rPr>
              <a:t>NUCLIO DIGITAL SCHOOL - MÁSTER DATA ANALYTICS - TFM - GRUPO 3</a:t>
            </a:r>
          </a:p>
        </p:txBody>
      </p:sp>
    </p:spTree>
    <p:extLst>
      <p:ext uri="{BB962C8B-B14F-4D97-AF65-F5344CB8AC3E}">
        <p14:creationId xmlns:p14="http://schemas.microsoft.com/office/powerpoint/2010/main" val="13745966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87680" y="0"/>
            <a:ext cx="1121664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933" dirty="0"/>
          </a:p>
        </p:txBody>
      </p:sp>
      <p:sp>
        <p:nvSpPr>
          <p:cNvPr id="5" name="Text 3"/>
          <p:cNvSpPr/>
          <p:nvPr/>
        </p:nvSpPr>
        <p:spPr>
          <a:xfrm>
            <a:off x="10363200" y="64008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1333" dirty="0"/>
          </a:p>
        </p:txBody>
      </p:sp>
      <p:sp>
        <p:nvSpPr>
          <p:cNvPr id="6" name="Text 4"/>
          <p:cNvSpPr/>
          <p:nvPr/>
        </p:nvSpPr>
        <p:spPr>
          <a:xfrm>
            <a:off x="365759" y="853440"/>
            <a:ext cx="212026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A2456"/>
                </a:solidFill>
                <a:ea typeface="Georgia" pitchFamily="34" charset="-122"/>
                <a:cs typeface="Georgia" pitchFamily="34" charset="-120"/>
              </a:rPr>
              <a:t>Métricas globales</a:t>
            </a:r>
            <a:endParaRPr lang="en-US" sz="1733" b="1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4B3902E-7C8D-24A3-3157-7CD55466B20C}"/>
              </a:ext>
            </a:extLst>
          </p:cNvPr>
          <p:cNvSpPr/>
          <p:nvPr/>
        </p:nvSpPr>
        <p:spPr>
          <a:xfrm>
            <a:off x="0" y="-1"/>
            <a:ext cx="12192000" cy="766167"/>
          </a:xfrm>
          <a:prstGeom prst="rect">
            <a:avLst/>
          </a:prstGeom>
          <a:solidFill>
            <a:srgbClr val="2443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FFFFFF"/>
                </a:solidFill>
                <a:ea typeface="Georgia" pitchFamily="34" charset="-122"/>
                <a:cs typeface="Georgia" pitchFamily="34" charset="-120"/>
              </a:rPr>
              <a:t>COMPARACIÓN: MÉTRICAS GLOBALES</a:t>
            </a:r>
            <a:endParaRPr lang="en-US" sz="2800" dirty="0"/>
          </a:p>
        </p:txBody>
      </p:sp>
      <p:pic>
        <p:nvPicPr>
          <p:cNvPr id="31" name="Picture 8">
            <a:extLst>
              <a:ext uri="{FF2B5EF4-FFF2-40B4-BE49-F238E27FC236}">
                <a16:creationId xmlns:a16="http://schemas.microsoft.com/office/drawing/2014/main" id="{8662A5B1-E021-550A-0DD6-397E03208A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6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8128" y="78457"/>
            <a:ext cx="591924" cy="590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0" descr="Escuela de Formación Digital | Nuclio Digital School">
            <a:extLst>
              <a:ext uri="{FF2B5EF4-FFF2-40B4-BE49-F238E27FC236}">
                <a16:creationId xmlns:a16="http://schemas.microsoft.com/office/drawing/2014/main" id="{C22FE0E7-183C-5368-E035-679AD6FD0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6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261533" y="77226"/>
            <a:ext cx="591924" cy="591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D0CFAD65-60A8-A008-D5AA-EE2FBD11EC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756" y="1317854"/>
            <a:ext cx="5332095" cy="362889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AFB404D0-FDB3-EB01-32EE-0D5D87D0D4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4238" y="1219200"/>
            <a:ext cx="5027295" cy="3686683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7F0079D0-19B9-D750-5356-537B78D946C7}"/>
              </a:ext>
            </a:extLst>
          </p:cNvPr>
          <p:cNvSpPr txBox="1"/>
          <p:nvPr/>
        </p:nvSpPr>
        <p:spPr>
          <a:xfrm>
            <a:off x="857251" y="5200650"/>
            <a:ext cx="10847070" cy="1132939"/>
          </a:xfrm>
          <a:prstGeom prst="roundRect">
            <a:avLst/>
          </a:prstGeom>
          <a:solidFill>
            <a:srgbClr val="24437A"/>
          </a:solidFill>
          <a:ln w="12700">
            <a:noFill/>
            <a:prstDash val="solid"/>
          </a:ln>
        </p:spPr>
        <p:txBody>
          <a:bodyPr/>
          <a:lstStyle>
            <a:defPPr>
              <a:defRPr lang="es-ES"/>
            </a:defPPr>
            <a:lvl1pPr algn="ctr">
              <a:defRPr sz="1600" b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es-ES" dirty="0"/>
              <a:t>Nuestro modelo supera a COMPAS en </a:t>
            </a:r>
            <a:r>
              <a:rPr lang="es-ES" dirty="0" err="1"/>
              <a:t>accuracy</a:t>
            </a:r>
            <a:r>
              <a:rPr lang="es-ES" dirty="0"/>
              <a:t> (0.69 vs 0.65) y </a:t>
            </a:r>
            <a:r>
              <a:rPr lang="es-ES" dirty="0" err="1"/>
              <a:t>precision</a:t>
            </a:r>
            <a:r>
              <a:rPr lang="es-ES" dirty="0"/>
              <a:t> (0.64 vs 0.51).</a:t>
            </a:r>
          </a:p>
          <a:p>
            <a:r>
              <a:rPr lang="es-ES" dirty="0"/>
              <a:t>El FPR global cae de 0.312 a 0.095 (−70%): muchas menos personas inocentes penalizadas preventivamente.</a:t>
            </a:r>
          </a:p>
          <a:p>
            <a:r>
              <a:rPr lang="es-ES" dirty="0"/>
              <a:t>El </a:t>
            </a:r>
            <a:r>
              <a:rPr lang="es-ES" dirty="0" err="1"/>
              <a:t>recall</a:t>
            </a:r>
            <a:r>
              <a:rPr lang="es-ES" dirty="0"/>
              <a:t> es inferior (0.30 vs 0.58) deliberadamente: en contexto judicial, minimizar los falsos positivos es prioritario sobre maximizar la detección.</a:t>
            </a:r>
          </a:p>
        </p:txBody>
      </p:sp>
      <p:sp>
        <p:nvSpPr>
          <p:cNvPr id="47" name="Footer Placeholder 3">
            <a:extLst>
              <a:ext uri="{FF2B5EF4-FFF2-40B4-BE49-F238E27FC236}">
                <a16:creationId xmlns:a16="http://schemas.microsoft.com/office/drawing/2014/main" id="{6938846D-AFCD-5730-EF2C-73BAC570706B}"/>
              </a:ext>
            </a:extLst>
          </p:cNvPr>
          <p:cNvSpPr txBox="1">
            <a:spLocks/>
          </p:cNvSpPr>
          <p:nvPr/>
        </p:nvSpPr>
        <p:spPr>
          <a:xfrm>
            <a:off x="3547872" y="6400800"/>
            <a:ext cx="5096256" cy="274637"/>
          </a:xfrm>
          <a:prstGeom prst="rect">
            <a:avLst/>
          </a:prstGeom>
        </p:spPr>
        <p:txBody>
          <a:bodyPr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00" dirty="0">
                <a:solidFill>
                  <a:srgbClr val="B9B9B9"/>
                </a:solidFill>
              </a:rPr>
              <a:t>NUCLIO DIGITAL SCHOOL - MÁSTER DATA ANALYTICS - TFM - GRUPO 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16CCE-7241-EF68-2426-91135C7BF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468208D8-55CC-5CFB-58B7-21F22604C872}"/>
              </a:ext>
            </a:extLst>
          </p:cNvPr>
          <p:cNvSpPr/>
          <p:nvPr/>
        </p:nvSpPr>
        <p:spPr>
          <a:xfrm>
            <a:off x="487680" y="0"/>
            <a:ext cx="1121664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933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411F326-5BE9-B445-A54C-C6DD5729A6ED}"/>
              </a:ext>
            </a:extLst>
          </p:cNvPr>
          <p:cNvSpPr/>
          <p:nvPr/>
        </p:nvSpPr>
        <p:spPr>
          <a:xfrm>
            <a:off x="10363200" y="64008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1333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E8EBD67-85AD-82FF-D976-10297B06DB22}"/>
              </a:ext>
            </a:extLst>
          </p:cNvPr>
          <p:cNvSpPr/>
          <p:nvPr/>
        </p:nvSpPr>
        <p:spPr>
          <a:xfrm>
            <a:off x="365760" y="853440"/>
            <a:ext cx="219837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 err="1">
                <a:solidFill>
                  <a:srgbClr val="1A2456"/>
                </a:solidFill>
              </a:rPr>
              <a:t>Métricas</a:t>
            </a:r>
            <a:r>
              <a:rPr lang="en-US" sz="1733" b="1" dirty="0">
                <a:solidFill>
                  <a:srgbClr val="1A2456"/>
                </a:solidFill>
              </a:rPr>
              <a:t> </a:t>
            </a:r>
            <a:r>
              <a:rPr lang="en-US" sz="1733" b="1" dirty="0" err="1">
                <a:solidFill>
                  <a:srgbClr val="1A2456"/>
                </a:solidFill>
              </a:rPr>
              <a:t>por</a:t>
            </a:r>
            <a:r>
              <a:rPr lang="en-US" sz="1733" b="1" dirty="0">
                <a:solidFill>
                  <a:srgbClr val="1A2456"/>
                </a:solidFill>
              </a:rPr>
              <a:t> raza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7EB8A30-7DDD-263E-69F6-639DE0BB3D04}"/>
              </a:ext>
            </a:extLst>
          </p:cNvPr>
          <p:cNvSpPr/>
          <p:nvPr/>
        </p:nvSpPr>
        <p:spPr>
          <a:xfrm>
            <a:off x="0" y="-1"/>
            <a:ext cx="12192000" cy="766167"/>
          </a:xfrm>
          <a:prstGeom prst="rect">
            <a:avLst/>
          </a:prstGeom>
          <a:solidFill>
            <a:srgbClr val="2443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FFFFFF"/>
                </a:solidFill>
                <a:ea typeface="Georgia" pitchFamily="34" charset="-122"/>
                <a:cs typeface="Georgia" pitchFamily="34" charset="-120"/>
              </a:rPr>
              <a:t>COMPARACIÓN: MÉTRICAS POR RAZA</a:t>
            </a:r>
            <a:endParaRPr lang="en-US" sz="2800" dirty="0"/>
          </a:p>
        </p:txBody>
      </p:sp>
      <p:pic>
        <p:nvPicPr>
          <p:cNvPr id="31" name="Picture 8">
            <a:extLst>
              <a:ext uri="{FF2B5EF4-FFF2-40B4-BE49-F238E27FC236}">
                <a16:creationId xmlns:a16="http://schemas.microsoft.com/office/drawing/2014/main" id="{F3BA8499-6FA6-51FE-3867-051AA01544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6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8128" y="78457"/>
            <a:ext cx="591924" cy="590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0" descr="Escuela de Formación Digital | Nuclio Digital School">
            <a:extLst>
              <a:ext uri="{FF2B5EF4-FFF2-40B4-BE49-F238E27FC236}">
                <a16:creationId xmlns:a16="http://schemas.microsoft.com/office/drawing/2014/main" id="{C6DF0216-5EB3-CFB8-7445-663F427C7C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6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261533" y="77226"/>
            <a:ext cx="591924" cy="591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1778F148-0913-6FB3-8B53-08E7D4B49E16}"/>
              </a:ext>
            </a:extLst>
          </p:cNvPr>
          <p:cNvSpPr txBox="1"/>
          <p:nvPr/>
        </p:nvSpPr>
        <p:spPr>
          <a:xfrm>
            <a:off x="748525" y="5267861"/>
            <a:ext cx="10808970" cy="1132939"/>
          </a:xfrm>
          <a:prstGeom prst="roundRect">
            <a:avLst/>
          </a:prstGeom>
          <a:solidFill>
            <a:srgbClr val="24437A"/>
          </a:solidFill>
          <a:ln w="12700">
            <a:noFill/>
            <a:prstDash val="solid"/>
          </a:ln>
        </p:spPr>
        <p:txBody>
          <a:bodyPr/>
          <a:lstStyle>
            <a:defPPr>
              <a:defRPr lang="es-ES"/>
            </a:defPPr>
            <a:lvl1pPr algn="ctr">
              <a:defRPr sz="1600" b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lvl="0"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ES" dirty="0">
                <a:solidFill>
                  <a:schemeClr val="bg1"/>
                </a:solidFill>
                <a:latin typeface="Arial" panose="020B0604020202020204" pitchFamily="34" charset="0"/>
              </a:rPr>
              <a:t>Nuestro modelo reduce el FPR un 70% en ambos grupos (</a:t>
            </a:r>
            <a:r>
              <a:rPr lang="es-ES" altLang="es-ES" dirty="0" err="1">
                <a:solidFill>
                  <a:schemeClr val="bg1"/>
                </a:solidFill>
                <a:latin typeface="Arial" panose="020B0604020202020204" pitchFamily="34" charset="0"/>
              </a:rPr>
              <a:t>Af</a:t>
            </a:r>
            <a:r>
              <a:rPr lang="es-ES" altLang="es-ES" dirty="0">
                <a:solidFill>
                  <a:schemeClr val="bg1"/>
                </a:solidFill>
                <a:latin typeface="Arial" panose="020B0604020202020204" pitchFamily="34" charset="0"/>
              </a:rPr>
              <a:t>-Am: 42.9% → 12.9%; </a:t>
            </a:r>
            <a:r>
              <a:rPr lang="es-ES" altLang="es-ES" dirty="0" err="1">
                <a:solidFill>
                  <a:schemeClr val="bg1"/>
                </a:solidFill>
                <a:latin typeface="Arial" panose="020B0604020202020204" pitchFamily="34" charset="0"/>
              </a:rPr>
              <a:t>Caucasian</a:t>
            </a:r>
            <a:r>
              <a:rPr lang="es-ES" altLang="es-ES" dirty="0">
                <a:solidFill>
                  <a:schemeClr val="bg1"/>
                </a:solidFill>
                <a:latin typeface="Arial" panose="020B0604020202020204" pitchFamily="34" charset="0"/>
              </a:rPr>
              <a:t>: 22.1% → 6.7%), lo que se traduce en muchas menos personas inocentes penalizadas.</a:t>
            </a:r>
          </a:p>
          <a:p>
            <a:pPr lvl="0"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ES" dirty="0">
                <a:solidFill>
                  <a:schemeClr val="bg1"/>
                </a:solidFill>
                <a:latin typeface="Arial" panose="020B0604020202020204" pitchFamily="34" charset="0"/>
              </a:rPr>
              <a:t>Sin embargo, la disparidad relativa entre es casi idéntica en ambos modelos (1939 vs 1937): el daño absoluto baja sustancialmente; la desigualdad estructural persiste.</a:t>
            </a:r>
          </a:p>
          <a:p>
            <a:pPr lvl="0" algn="l"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altLang="es-E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endParaRPr lang="es-ES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A4A875-FEBA-C099-9D75-50445063F3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1401673"/>
            <a:ext cx="5063279" cy="37651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B9677B0-97A1-69A9-66D9-59FD17C84E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6975" y="1401673"/>
            <a:ext cx="5347576" cy="3774760"/>
          </a:xfrm>
          <a:prstGeom prst="rect">
            <a:avLst/>
          </a:prstGeom>
        </p:spPr>
      </p:pic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E357EB5D-4FEC-329D-E5EA-8D4C6142E434}"/>
              </a:ext>
            </a:extLst>
          </p:cNvPr>
          <p:cNvSpPr txBox="1">
            <a:spLocks/>
          </p:cNvSpPr>
          <p:nvPr/>
        </p:nvSpPr>
        <p:spPr>
          <a:xfrm>
            <a:off x="3547872" y="6400800"/>
            <a:ext cx="5096256" cy="274637"/>
          </a:xfrm>
          <a:prstGeom prst="rect">
            <a:avLst/>
          </a:prstGeom>
        </p:spPr>
        <p:txBody>
          <a:bodyPr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00" dirty="0">
                <a:solidFill>
                  <a:srgbClr val="B9B9B9"/>
                </a:solidFill>
              </a:rPr>
              <a:t>NUCLIO DIGITAL SCHOOL - MÁSTER DATA ANALYTICS - TFM - GRUPO 3</a:t>
            </a:r>
          </a:p>
        </p:txBody>
      </p:sp>
    </p:spTree>
    <p:extLst>
      <p:ext uri="{BB962C8B-B14F-4D97-AF65-F5344CB8AC3E}">
        <p14:creationId xmlns:p14="http://schemas.microsoft.com/office/powerpoint/2010/main" val="8404295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E64E8-861F-9D67-60A7-8758DB813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2B04F95F-37FA-1012-3D66-70A7EE87B1D7}"/>
              </a:ext>
            </a:extLst>
          </p:cNvPr>
          <p:cNvSpPr/>
          <p:nvPr/>
        </p:nvSpPr>
        <p:spPr>
          <a:xfrm>
            <a:off x="487680" y="0"/>
            <a:ext cx="1121664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933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BFD08F9-B791-CAA6-4CD7-D596DC4ED8F1}"/>
              </a:ext>
            </a:extLst>
          </p:cNvPr>
          <p:cNvSpPr/>
          <p:nvPr/>
        </p:nvSpPr>
        <p:spPr>
          <a:xfrm>
            <a:off x="10363200" y="64008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1333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ED98F64-E652-0148-A178-E6F60001999D}"/>
              </a:ext>
            </a:extLst>
          </p:cNvPr>
          <p:cNvSpPr/>
          <p:nvPr/>
        </p:nvSpPr>
        <p:spPr>
          <a:xfrm>
            <a:off x="365760" y="853440"/>
            <a:ext cx="219837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 err="1">
                <a:solidFill>
                  <a:srgbClr val="1A2456"/>
                </a:solidFill>
                <a:ea typeface="Georgia" pitchFamily="34" charset="-122"/>
                <a:cs typeface="Georgia" pitchFamily="34" charset="-120"/>
              </a:rPr>
              <a:t>Métricas</a:t>
            </a:r>
            <a:r>
              <a:rPr lang="en-US" sz="1733" b="1" dirty="0">
                <a:solidFill>
                  <a:srgbClr val="1A2456"/>
                </a:solidFill>
                <a:ea typeface="Georgia" pitchFamily="34" charset="-122"/>
                <a:cs typeface="Georgia" pitchFamily="34" charset="-120"/>
              </a:rPr>
              <a:t> </a:t>
            </a:r>
            <a:r>
              <a:rPr lang="en-US" sz="1733" b="1" dirty="0" err="1">
                <a:solidFill>
                  <a:srgbClr val="1A2456"/>
                </a:solidFill>
                <a:ea typeface="Georgia" pitchFamily="34" charset="-122"/>
                <a:cs typeface="Georgia" pitchFamily="34" charset="-120"/>
              </a:rPr>
              <a:t>por</a:t>
            </a:r>
            <a:r>
              <a:rPr lang="en-US" sz="1733" b="1" dirty="0">
                <a:solidFill>
                  <a:srgbClr val="1A2456"/>
                </a:solidFill>
                <a:ea typeface="Georgia" pitchFamily="34" charset="-122"/>
                <a:cs typeface="Georgia" pitchFamily="34" charset="-120"/>
              </a:rPr>
              <a:t> raza</a:t>
            </a:r>
            <a:endParaRPr lang="en-US" sz="1733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5D05E84-7B77-290A-E822-81AC9B7B634B}"/>
              </a:ext>
            </a:extLst>
          </p:cNvPr>
          <p:cNvSpPr/>
          <p:nvPr/>
        </p:nvSpPr>
        <p:spPr>
          <a:xfrm>
            <a:off x="0" y="-1"/>
            <a:ext cx="12192000" cy="766167"/>
          </a:xfrm>
          <a:prstGeom prst="rect">
            <a:avLst/>
          </a:prstGeom>
          <a:solidFill>
            <a:srgbClr val="2443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FFFFFF"/>
                </a:solidFill>
                <a:ea typeface="Georgia" pitchFamily="34" charset="-122"/>
                <a:cs typeface="Georgia" pitchFamily="34" charset="-120"/>
              </a:rPr>
              <a:t>COMPARACIÓN: MÉTRICAS POR RAZA</a:t>
            </a:r>
            <a:endParaRPr lang="en-US" sz="2800" dirty="0"/>
          </a:p>
        </p:txBody>
      </p:sp>
      <p:pic>
        <p:nvPicPr>
          <p:cNvPr id="31" name="Picture 8">
            <a:extLst>
              <a:ext uri="{FF2B5EF4-FFF2-40B4-BE49-F238E27FC236}">
                <a16:creationId xmlns:a16="http://schemas.microsoft.com/office/drawing/2014/main" id="{1D75EA89-5E07-E306-71FF-B50BAE9451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6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8128" y="78457"/>
            <a:ext cx="591924" cy="590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0" descr="Escuela de Formación Digital | Nuclio Digital School">
            <a:extLst>
              <a:ext uri="{FF2B5EF4-FFF2-40B4-BE49-F238E27FC236}">
                <a16:creationId xmlns:a16="http://schemas.microsoft.com/office/drawing/2014/main" id="{7755609D-63B3-6C94-7227-E26AE4429E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6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261533" y="77226"/>
            <a:ext cx="591924" cy="591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B1A7358-0261-4290-20FB-5E87048521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680" y="1269090"/>
            <a:ext cx="3826092" cy="26039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23BB8D6-9885-B3A1-FA87-503CD831C6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2999" y="939320"/>
            <a:ext cx="3699978" cy="251811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D1760E6-088D-25F7-4040-7B7C18E84A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03021" y="2846747"/>
            <a:ext cx="3699978" cy="251811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6590138-0986-5CD7-BF1F-18E79559C11D}"/>
              </a:ext>
            </a:extLst>
          </p:cNvPr>
          <p:cNvSpPr txBox="1"/>
          <p:nvPr/>
        </p:nvSpPr>
        <p:spPr>
          <a:xfrm>
            <a:off x="748525" y="5267861"/>
            <a:ext cx="10808970" cy="1132939"/>
          </a:xfrm>
          <a:prstGeom prst="roundRect">
            <a:avLst/>
          </a:prstGeom>
          <a:solidFill>
            <a:srgbClr val="24437A"/>
          </a:solidFill>
          <a:ln w="12700">
            <a:noFill/>
            <a:prstDash val="solid"/>
          </a:ln>
        </p:spPr>
        <p:txBody>
          <a:bodyPr anchor="ctr"/>
          <a:lstStyle>
            <a:defPPr>
              <a:defRPr lang="es-ES"/>
            </a:defPPr>
            <a:lvl1pPr algn="ctr">
              <a:defRPr sz="1600" b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ES" b="1" dirty="0">
                <a:solidFill>
                  <a:schemeClr val="bg1"/>
                </a:solidFill>
                <a:latin typeface="Arial" panose="020B0604020202020204" pitchFamily="34" charset="0"/>
              </a:rPr>
              <a:t>Nuestro modelo mejora la </a:t>
            </a:r>
            <a:r>
              <a:rPr lang="es-ES" altLang="es-ES" b="1" dirty="0" err="1">
                <a:solidFill>
                  <a:schemeClr val="bg1"/>
                </a:solidFill>
                <a:latin typeface="Arial" panose="020B0604020202020204" pitchFamily="34" charset="0"/>
              </a:rPr>
              <a:t>precision</a:t>
            </a:r>
            <a:r>
              <a:rPr lang="es-ES" altLang="es-ES" b="1" dirty="0">
                <a:solidFill>
                  <a:schemeClr val="bg1"/>
                </a:solidFill>
                <a:latin typeface="Arial" panose="020B0604020202020204" pitchFamily="34" charset="0"/>
              </a:rPr>
              <a:t> en ambos grupos (</a:t>
            </a:r>
            <a:r>
              <a:rPr lang="es-ES" altLang="es-ES" b="1" dirty="0" err="1">
                <a:solidFill>
                  <a:schemeClr val="bg1"/>
                </a:solidFill>
                <a:latin typeface="Arial" panose="020B0604020202020204" pitchFamily="34" charset="0"/>
              </a:rPr>
              <a:t>Af</a:t>
            </a:r>
            <a:r>
              <a:rPr lang="es-ES" altLang="es-ES" b="1" dirty="0">
                <a:solidFill>
                  <a:schemeClr val="bg1"/>
                </a:solidFill>
                <a:latin typeface="Arial" panose="020B0604020202020204" pitchFamily="34" charset="0"/>
              </a:rPr>
              <a:t>-Am: 0.68 vs 0.54; </a:t>
            </a:r>
            <a:r>
              <a:rPr lang="es-ES" altLang="es-ES" b="1" dirty="0" err="1">
                <a:solidFill>
                  <a:schemeClr val="bg1"/>
                </a:solidFill>
                <a:latin typeface="Arial" panose="020B0604020202020204" pitchFamily="34" charset="0"/>
              </a:rPr>
              <a:t>Caucasian</a:t>
            </a:r>
            <a:r>
              <a:rPr lang="es-ES" altLang="es-ES" b="1" dirty="0">
                <a:solidFill>
                  <a:schemeClr val="bg1"/>
                </a:solidFill>
                <a:latin typeface="Arial" panose="020B0604020202020204" pitchFamily="34" charset="0"/>
              </a:rPr>
              <a:t>: 0.59 vs 0.46), a costa de un </a:t>
            </a:r>
            <a:r>
              <a:rPr lang="es-ES" altLang="es-ES" b="1" dirty="0" err="1">
                <a:solidFill>
                  <a:schemeClr val="bg1"/>
                </a:solidFill>
                <a:latin typeface="Arial" panose="020B0604020202020204" pitchFamily="34" charset="0"/>
              </a:rPr>
              <a:t>recall</a:t>
            </a:r>
            <a:r>
              <a:rPr lang="es-ES" altLang="es-ES" b="1" dirty="0">
                <a:solidFill>
                  <a:schemeClr val="bg1"/>
                </a:solidFill>
                <a:latin typeface="Arial" panose="020B0604020202020204" pitchFamily="34" charset="0"/>
              </a:rPr>
              <a:t> más bajo. Es una elección deliberada: equivocarse menos al acusar, aunque se detecten menos reincidentes. El F1 inferior refleja ese intercambio.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64C3FFAC-452D-EBD9-D4AA-6140927B6A2C}"/>
              </a:ext>
            </a:extLst>
          </p:cNvPr>
          <p:cNvSpPr txBox="1">
            <a:spLocks/>
          </p:cNvSpPr>
          <p:nvPr/>
        </p:nvSpPr>
        <p:spPr>
          <a:xfrm>
            <a:off x="3547872" y="6400800"/>
            <a:ext cx="5096256" cy="274637"/>
          </a:xfrm>
          <a:prstGeom prst="rect">
            <a:avLst/>
          </a:prstGeom>
        </p:spPr>
        <p:txBody>
          <a:bodyPr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00" dirty="0">
                <a:solidFill>
                  <a:srgbClr val="B9B9B9"/>
                </a:solidFill>
              </a:rPr>
              <a:t>NUCLIO DIGITAL SCHOOL - MÁSTER DATA ANALYTICS - TFM - GRUPO 3</a:t>
            </a:r>
          </a:p>
        </p:txBody>
      </p:sp>
    </p:spTree>
    <p:extLst>
      <p:ext uri="{BB962C8B-B14F-4D97-AF65-F5344CB8AC3E}">
        <p14:creationId xmlns:p14="http://schemas.microsoft.com/office/powerpoint/2010/main" val="33348698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5B1B6-BAB7-D3BD-1D13-195A7D369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E3699DF8-C6B1-03F3-575F-F06F4BE3087A}"/>
              </a:ext>
            </a:extLst>
          </p:cNvPr>
          <p:cNvSpPr/>
          <p:nvPr/>
        </p:nvSpPr>
        <p:spPr>
          <a:xfrm>
            <a:off x="487680" y="0"/>
            <a:ext cx="1121664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933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34E1A83-0CDD-B74D-7C12-A97B60CFD09C}"/>
              </a:ext>
            </a:extLst>
          </p:cNvPr>
          <p:cNvSpPr/>
          <p:nvPr/>
        </p:nvSpPr>
        <p:spPr>
          <a:xfrm>
            <a:off x="0" y="-1"/>
            <a:ext cx="12192000" cy="766167"/>
          </a:xfrm>
          <a:prstGeom prst="rect">
            <a:avLst/>
          </a:prstGeom>
          <a:solidFill>
            <a:srgbClr val="2443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FFFFFF"/>
                </a:solidFill>
                <a:ea typeface="Georgia" pitchFamily="34" charset="-122"/>
                <a:cs typeface="Georgia" pitchFamily="34" charset="-120"/>
              </a:rPr>
              <a:t>EQUALIZED ODDS GAP</a:t>
            </a:r>
            <a:endParaRPr lang="en-US" sz="2800" dirty="0"/>
          </a:p>
        </p:txBody>
      </p:sp>
      <p:pic>
        <p:nvPicPr>
          <p:cNvPr id="31" name="Picture 8">
            <a:extLst>
              <a:ext uri="{FF2B5EF4-FFF2-40B4-BE49-F238E27FC236}">
                <a16:creationId xmlns:a16="http://schemas.microsoft.com/office/drawing/2014/main" id="{E0F475B0-451E-6D7B-7B05-81BF96043A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6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8128" y="78457"/>
            <a:ext cx="591924" cy="590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0" descr="Escuela de Formación Digital | Nuclio Digital School">
            <a:extLst>
              <a:ext uri="{FF2B5EF4-FFF2-40B4-BE49-F238E27FC236}">
                <a16:creationId xmlns:a16="http://schemas.microsoft.com/office/drawing/2014/main" id="{A894DCF9-7321-3A02-7636-4B6763EF3E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6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261533" y="77226"/>
            <a:ext cx="591924" cy="591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533EA99D-9E5D-4E42-3E53-F21154AA41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292" y="1514475"/>
            <a:ext cx="4693158" cy="4181475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05ACB36E-5AFE-E71D-85ED-DBE79AA250CE}"/>
              </a:ext>
            </a:extLst>
          </p:cNvPr>
          <p:cNvSpPr txBox="1"/>
          <p:nvPr/>
        </p:nvSpPr>
        <p:spPr>
          <a:xfrm>
            <a:off x="6118313" y="1609725"/>
            <a:ext cx="5586007" cy="3990974"/>
          </a:xfrm>
          <a:prstGeom prst="roundRect">
            <a:avLst/>
          </a:prstGeom>
          <a:solidFill>
            <a:srgbClr val="24437A"/>
          </a:solidFill>
          <a:ln w="12700">
            <a:noFill/>
            <a:prstDash val="solid"/>
          </a:ln>
        </p:spPr>
        <p:txBody>
          <a:bodyPr anchor="ctr"/>
          <a:lstStyle>
            <a:defPPr>
              <a:defRPr lang="es-ES"/>
            </a:defPPr>
            <a:lvl1pPr algn="ctr">
              <a:defRPr sz="1600" b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/>
            <a:r>
              <a:rPr lang="es-ES" sz="2400" b="0" dirty="0">
                <a:latin typeface="+mn-lt"/>
              </a:rPr>
              <a:t>Nuestro modelo reduce el </a:t>
            </a:r>
            <a:r>
              <a:rPr lang="es-ES" sz="2400" b="0" dirty="0" err="1">
                <a:latin typeface="+mn-lt"/>
              </a:rPr>
              <a:t>Equalized</a:t>
            </a:r>
            <a:r>
              <a:rPr lang="es-ES" sz="2400" b="0" dirty="0">
                <a:latin typeface="+mn-lt"/>
              </a:rPr>
              <a:t> </a:t>
            </a:r>
            <a:r>
              <a:rPr lang="es-ES" sz="2400" b="0" dirty="0" err="1">
                <a:latin typeface="+mn-lt"/>
              </a:rPr>
              <a:t>Odds</a:t>
            </a:r>
            <a:r>
              <a:rPr lang="es-ES" sz="2400" b="0" dirty="0">
                <a:latin typeface="+mn-lt"/>
              </a:rPr>
              <a:t> gap de </a:t>
            </a:r>
            <a:r>
              <a:rPr lang="es-ES" sz="2400" dirty="0">
                <a:latin typeface="+mn-lt"/>
              </a:rPr>
              <a:t>0.208 </a:t>
            </a:r>
            <a:r>
              <a:rPr lang="es-ES" sz="2400" b="0" dirty="0">
                <a:latin typeface="+mn-lt"/>
              </a:rPr>
              <a:t>a </a:t>
            </a:r>
            <a:r>
              <a:rPr lang="es-ES" sz="2400" dirty="0">
                <a:latin typeface="+mn-lt"/>
              </a:rPr>
              <a:t>0.131</a:t>
            </a:r>
            <a:r>
              <a:rPr lang="es-ES" sz="2400" b="0" dirty="0">
                <a:latin typeface="+mn-lt"/>
              </a:rPr>
              <a:t>, lo que indica que distribuye sus errores de forma más equitativa entre grupos raciales que COMPAS. Sin embargo, un gap de </a:t>
            </a:r>
            <a:r>
              <a:rPr lang="es-ES" sz="2400" dirty="0">
                <a:latin typeface="+mn-lt"/>
              </a:rPr>
              <a:t>0.131 </a:t>
            </a:r>
            <a:r>
              <a:rPr lang="es-ES" sz="2400" b="0" dirty="0">
                <a:latin typeface="+mn-lt"/>
              </a:rPr>
              <a:t>sigue siendo sustancial: el modelo no trata a ambos grupos de forma equivalente, solo lo hace menos desigualmente.</a:t>
            </a:r>
          </a:p>
        </p:txBody>
      </p:sp>
      <p:sp>
        <p:nvSpPr>
          <p:cNvPr id="38" name="Footer Placeholder 3">
            <a:extLst>
              <a:ext uri="{FF2B5EF4-FFF2-40B4-BE49-F238E27FC236}">
                <a16:creationId xmlns:a16="http://schemas.microsoft.com/office/drawing/2014/main" id="{A063512E-4378-6A42-E202-4D062E33486D}"/>
              </a:ext>
            </a:extLst>
          </p:cNvPr>
          <p:cNvSpPr txBox="1">
            <a:spLocks/>
          </p:cNvSpPr>
          <p:nvPr/>
        </p:nvSpPr>
        <p:spPr>
          <a:xfrm>
            <a:off x="3547872" y="6400800"/>
            <a:ext cx="5096256" cy="274637"/>
          </a:xfrm>
          <a:prstGeom prst="rect">
            <a:avLst/>
          </a:prstGeom>
        </p:spPr>
        <p:txBody>
          <a:bodyPr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00" dirty="0">
                <a:solidFill>
                  <a:srgbClr val="B9B9B9"/>
                </a:solidFill>
              </a:rPr>
              <a:t>NUCLIO DIGITAL SCHOOL - MÁSTER DATA ANALYTICS - TFM - GRUPO 3</a:t>
            </a:r>
          </a:p>
        </p:txBody>
      </p:sp>
    </p:spTree>
    <p:extLst>
      <p:ext uri="{BB962C8B-B14F-4D97-AF65-F5344CB8AC3E}">
        <p14:creationId xmlns:p14="http://schemas.microsoft.com/office/powerpoint/2010/main" val="24758707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70F01-23D8-16FA-B484-2ED3B5C8F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81C89C92-DB79-7CFA-BAA0-981173E93995}"/>
              </a:ext>
            </a:extLst>
          </p:cNvPr>
          <p:cNvSpPr/>
          <p:nvPr/>
        </p:nvSpPr>
        <p:spPr>
          <a:xfrm>
            <a:off x="487680" y="0"/>
            <a:ext cx="1121664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933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72544E8-EE59-A034-1B6D-2CAD5C2DBE3A}"/>
              </a:ext>
            </a:extLst>
          </p:cNvPr>
          <p:cNvSpPr/>
          <p:nvPr/>
        </p:nvSpPr>
        <p:spPr>
          <a:xfrm>
            <a:off x="0" y="-1"/>
            <a:ext cx="12192000" cy="766167"/>
          </a:xfrm>
          <a:prstGeom prst="rect">
            <a:avLst/>
          </a:prstGeom>
          <a:solidFill>
            <a:srgbClr val="2443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FFFFFF"/>
                </a:solidFill>
                <a:ea typeface="Georgia" pitchFamily="34" charset="-122"/>
                <a:cs typeface="Georgia" pitchFamily="34" charset="-120"/>
              </a:rPr>
              <a:t>CONCLUSIONES</a:t>
            </a:r>
            <a:endParaRPr lang="en-US" sz="2800" dirty="0"/>
          </a:p>
        </p:txBody>
      </p:sp>
      <p:pic>
        <p:nvPicPr>
          <p:cNvPr id="31" name="Picture 8">
            <a:extLst>
              <a:ext uri="{FF2B5EF4-FFF2-40B4-BE49-F238E27FC236}">
                <a16:creationId xmlns:a16="http://schemas.microsoft.com/office/drawing/2014/main" id="{2DB56834-F38F-9AD5-AB9C-6B2234C75E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6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8128" y="78457"/>
            <a:ext cx="591924" cy="590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0" descr="Escuela de Formación Digital | Nuclio Digital School">
            <a:extLst>
              <a:ext uri="{FF2B5EF4-FFF2-40B4-BE49-F238E27FC236}">
                <a16:creationId xmlns:a16="http://schemas.microsoft.com/office/drawing/2014/main" id="{6D1FA720-E519-0C1E-35D1-04AE300EEF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6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261533" y="77226"/>
            <a:ext cx="591924" cy="591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hape 4"/>
          <p:cNvSpPr/>
          <p:nvPr/>
        </p:nvSpPr>
        <p:spPr>
          <a:xfrm>
            <a:off x="487680" y="1280160"/>
            <a:ext cx="11216640" cy="92659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 sz="2400"/>
          </a:p>
        </p:txBody>
      </p:sp>
      <p:sp>
        <p:nvSpPr>
          <p:cNvPr id="7" name="Shape 5"/>
          <p:cNvSpPr/>
          <p:nvPr/>
        </p:nvSpPr>
        <p:spPr>
          <a:xfrm>
            <a:off x="487680" y="1280160"/>
            <a:ext cx="73152" cy="926592"/>
          </a:xfrm>
          <a:prstGeom prst="rect">
            <a:avLst/>
          </a:prstGeom>
          <a:solidFill>
            <a:srgbClr val="24437A"/>
          </a:solidFill>
          <a:ln w="12700">
            <a:noFill/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8" name="Text 6"/>
          <p:cNvSpPr/>
          <p:nvPr/>
        </p:nvSpPr>
        <p:spPr>
          <a:xfrm>
            <a:off x="731520" y="1341120"/>
            <a:ext cx="10728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Nuestro modelo supera a COMPAS en accuracy (0.69 vs 0.65), precision (0.64 vs 0.51) y AUC (0.708 vs 0.685).</a:t>
            </a:r>
            <a:endParaRPr lang="en-US" sz="1467" dirty="0"/>
          </a:p>
        </p:txBody>
      </p:sp>
      <p:sp>
        <p:nvSpPr>
          <p:cNvPr id="9" name="Shape 7"/>
          <p:cNvSpPr/>
          <p:nvPr/>
        </p:nvSpPr>
        <p:spPr>
          <a:xfrm>
            <a:off x="487680" y="2316480"/>
            <a:ext cx="11216640" cy="92659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 sz="2400"/>
          </a:p>
        </p:txBody>
      </p:sp>
      <p:sp>
        <p:nvSpPr>
          <p:cNvPr id="10" name="Shape 8"/>
          <p:cNvSpPr/>
          <p:nvPr/>
        </p:nvSpPr>
        <p:spPr>
          <a:xfrm>
            <a:off x="487680" y="2316480"/>
            <a:ext cx="73152" cy="926592"/>
          </a:xfrm>
          <a:prstGeom prst="rect">
            <a:avLst/>
          </a:prstGeom>
          <a:solidFill>
            <a:srgbClr val="24437A"/>
          </a:solidFill>
          <a:ln w="12700">
            <a:noFill/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11" name="Text 9"/>
          <p:cNvSpPr/>
          <p:nvPr/>
        </p:nvSpPr>
        <p:spPr>
          <a:xfrm>
            <a:off x="731520" y="2377440"/>
            <a:ext cx="10728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drástica del FPR </a:t>
            </a:r>
            <a:r>
              <a:rPr lang="en-US" sz="1467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absoluto</a:t>
            </a:r>
            <a:r>
              <a:rPr lang="en-US" sz="14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(31.2% de COMPAS vs 9.5% del </a:t>
            </a:r>
            <a:r>
              <a:rPr lang="en-US" sz="1467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nuestro</a:t>
            </a:r>
            <a:r>
              <a:rPr lang="en-US" sz="14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racial (</a:t>
            </a:r>
            <a:r>
              <a:rPr lang="en-US" sz="1467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p.ej</a:t>
            </a:r>
            <a:r>
              <a:rPr lang="en-US" sz="14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., de 42.86% a 12.91% African-American, un 70% de </a:t>
            </a:r>
            <a:r>
              <a:rPr lang="en-US" sz="1467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</a:t>
            </a:r>
            <a:r>
              <a:rPr lang="en-US" sz="14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Menos personas </a:t>
            </a:r>
            <a:r>
              <a:rPr lang="en-US" sz="1467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inocentes</a:t>
            </a:r>
            <a:r>
              <a:rPr lang="en-US" sz="14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son </a:t>
            </a:r>
            <a:r>
              <a:rPr lang="en-US" sz="1467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penalizadas</a:t>
            </a:r>
            <a:r>
              <a:rPr lang="en-US" sz="14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67" dirty="0"/>
          </a:p>
        </p:txBody>
      </p:sp>
      <p:sp>
        <p:nvSpPr>
          <p:cNvPr id="12" name="Shape 10"/>
          <p:cNvSpPr/>
          <p:nvPr/>
        </p:nvSpPr>
        <p:spPr>
          <a:xfrm>
            <a:off x="487680" y="3352800"/>
            <a:ext cx="11216640" cy="92659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 sz="2400"/>
          </a:p>
        </p:txBody>
      </p:sp>
      <p:sp>
        <p:nvSpPr>
          <p:cNvPr id="13" name="Shape 11"/>
          <p:cNvSpPr/>
          <p:nvPr/>
        </p:nvSpPr>
        <p:spPr>
          <a:xfrm>
            <a:off x="487680" y="3352800"/>
            <a:ext cx="73152" cy="926592"/>
          </a:xfrm>
          <a:prstGeom prst="rect">
            <a:avLst/>
          </a:prstGeom>
          <a:solidFill>
            <a:srgbClr val="24437A"/>
          </a:solidFill>
          <a:ln w="12700">
            <a:noFill/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14" name="Text 12"/>
          <p:cNvSpPr/>
          <p:nvPr/>
        </p:nvSpPr>
        <p:spPr>
          <a:xfrm>
            <a:off x="731520" y="3413760"/>
            <a:ext cx="10728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disparidad relativa de FPR entre razas se mantiene prácticamente idéntica (1937 vs 1939). El sesgo estructural persiste.</a:t>
            </a:r>
            <a:endParaRPr lang="en-US" sz="1467" dirty="0"/>
          </a:p>
        </p:txBody>
      </p:sp>
      <p:sp>
        <p:nvSpPr>
          <p:cNvPr id="15" name="Shape 13"/>
          <p:cNvSpPr/>
          <p:nvPr/>
        </p:nvSpPr>
        <p:spPr>
          <a:xfrm>
            <a:off x="487680" y="4389120"/>
            <a:ext cx="11216640" cy="92659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 sz="2400"/>
          </a:p>
        </p:txBody>
      </p:sp>
      <p:sp>
        <p:nvSpPr>
          <p:cNvPr id="16" name="Shape 14"/>
          <p:cNvSpPr/>
          <p:nvPr/>
        </p:nvSpPr>
        <p:spPr>
          <a:xfrm>
            <a:off x="487680" y="4389120"/>
            <a:ext cx="73152" cy="926592"/>
          </a:xfrm>
          <a:prstGeom prst="rect">
            <a:avLst/>
          </a:prstGeom>
          <a:solidFill>
            <a:srgbClr val="24437A"/>
          </a:solidFill>
          <a:ln w="12700">
            <a:noFill/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17" name="Text 15"/>
          <p:cNvSpPr/>
          <p:nvPr/>
        </p:nvSpPr>
        <p:spPr>
          <a:xfrm>
            <a:off x="731520" y="4450080"/>
            <a:ext cx="10728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Equalized Odds gap mejora de 0.208 a 0.131 (−37%), pero sigue siendo sustancial.</a:t>
            </a:r>
            <a:endParaRPr lang="en-US" sz="1467" dirty="0"/>
          </a:p>
        </p:txBody>
      </p:sp>
      <p:sp>
        <p:nvSpPr>
          <p:cNvPr id="18" name="Shape 16"/>
          <p:cNvSpPr/>
          <p:nvPr/>
        </p:nvSpPr>
        <p:spPr>
          <a:xfrm>
            <a:off x="487680" y="5425440"/>
            <a:ext cx="11216640" cy="92659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 sz="2400"/>
          </a:p>
        </p:txBody>
      </p:sp>
      <p:sp>
        <p:nvSpPr>
          <p:cNvPr id="19" name="Shape 17"/>
          <p:cNvSpPr/>
          <p:nvPr/>
        </p:nvSpPr>
        <p:spPr>
          <a:xfrm>
            <a:off x="487680" y="5425440"/>
            <a:ext cx="73152" cy="926592"/>
          </a:xfrm>
          <a:prstGeom prst="rect">
            <a:avLst/>
          </a:prstGeom>
          <a:solidFill>
            <a:srgbClr val="24437A"/>
          </a:solidFill>
          <a:ln w="12700">
            <a:noFill/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20" name="Text 18"/>
          <p:cNvSpPr/>
          <p:nvPr/>
        </p:nvSpPr>
        <p:spPr>
          <a:xfrm>
            <a:off x="731520" y="5486400"/>
            <a:ext cx="10728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solución puramente técnica a un problema de origen estructural. Los datos históricos heredan la desigualdad del sistema.</a:t>
            </a:r>
            <a:endParaRPr lang="en-US" sz="1467" dirty="0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39C7F5EE-16B8-7F25-CE7F-4DF3147D2672}"/>
              </a:ext>
            </a:extLst>
          </p:cNvPr>
          <p:cNvSpPr txBox="1">
            <a:spLocks/>
          </p:cNvSpPr>
          <p:nvPr/>
        </p:nvSpPr>
        <p:spPr>
          <a:xfrm>
            <a:off x="3547872" y="6400800"/>
            <a:ext cx="5096256" cy="274637"/>
          </a:xfrm>
          <a:prstGeom prst="rect">
            <a:avLst/>
          </a:prstGeom>
        </p:spPr>
        <p:txBody>
          <a:bodyPr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00" dirty="0">
                <a:solidFill>
                  <a:srgbClr val="B9B9B9"/>
                </a:solidFill>
              </a:rPr>
              <a:t>NUCLIO DIGITAL SCHOOL - MÁSTER DATA ANALYTICS - TFM - GRUPO 3</a:t>
            </a:r>
          </a:p>
        </p:txBody>
      </p:sp>
    </p:spTree>
    <p:extLst>
      <p:ext uri="{BB962C8B-B14F-4D97-AF65-F5344CB8AC3E}">
        <p14:creationId xmlns:p14="http://schemas.microsoft.com/office/powerpoint/2010/main" val="41018021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3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ADBB7DBF-C3CA-8DA7-39A7-B2627FB4EB35}"/>
              </a:ext>
            </a:extLst>
          </p:cNvPr>
          <p:cNvSpPr/>
          <p:nvPr/>
        </p:nvSpPr>
        <p:spPr>
          <a:xfrm>
            <a:off x="0" y="-1"/>
            <a:ext cx="12192000" cy="7661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1440"/>
            <a:r>
              <a:rPr lang="en-US" sz="2800" b="1" dirty="0">
                <a:solidFill>
                  <a:srgbClr val="24437A"/>
                </a:solidFill>
                <a:ea typeface="Georgia" pitchFamily="34" charset="-122"/>
                <a:cs typeface="Georgia" pitchFamily="34" charset="-120"/>
              </a:rPr>
              <a:t>REFLEXIÓN FINAL</a:t>
            </a:r>
            <a:endParaRPr lang="en-US" sz="2800" dirty="0">
              <a:solidFill>
                <a:srgbClr val="24437A"/>
              </a:solidFill>
            </a:endParaRPr>
          </a:p>
        </p:txBody>
      </p:sp>
      <p:sp>
        <p:nvSpPr>
          <p:cNvPr id="30" name="Text 1">
            <a:extLst>
              <a:ext uri="{FF2B5EF4-FFF2-40B4-BE49-F238E27FC236}">
                <a16:creationId xmlns:a16="http://schemas.microsoft.com/office/drawing/2014/main" id="{BEB95159-0D60-BA3B-A343-6CB8295E20FF}"/>
              </a:ext>
            </a:extLst>
          </p:cNvPr>
          <p:cNvSpPr/>
          <p:nvPr/>
        </p:nvSpPr>
        <p:spPr>
          <a:xfrm>
            <a:off x="457200" y="2514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5400" dirty="0">
              <a:solidFill>
                <a:srgbClr val="24437A"/>
              </a:solidFill>
            </a:endParaRPr>
          </a:p>
        </p:txBody>
      </p:sp>
      <p:pic>
        <p:nvPicPr>
          <p:cNvPr id="39" name="Picture 8">
            <a:extLst>
              <a:ext uri="{FF2B5EF4-FFF2-40B4-BE49-F238E27FC236}">
                <a16:creationId xmlns:a16="http://schemas.microsoft.com/office/drawing/2014/main" id="{BB0F9D25-0CA1-56E1-9C0A-062C605020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8128" y="78457"/>
            <a:ext cx="591924" cy="590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10" descr="Escuela de Formación Digital | Nuclio Digital School">
            <a:extLst>
              <a:ext uri="{FF2B5EF4-FFF2-40B4-BE49-F238E27FC236}">
                <a16:creationId xmlns:a16="http://schemas.microsoft.com/office/drawing/2014/main" id="{88048AC1-4E54-5540-9917-CD6FAEBF2E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261533" y="77226"/>
            <a:ext cx="591924" cy="591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Shape 2">
            <a:extLst>
              <a:ext uri="{FF2B5EF4-FFF2-40B4-BE49-F238E27FC236}">
                <a16:creationId xmlns:a16="http://schemas.microsoft.com/office/drawing/2014/main" id="{C1F6EAC9-BF42-220B-8E87-20AEDB0EC8E4}"/>
              </a:ext>
            </a:extLst>
          </p:cNvPr>
          <p:cNvSpPr/>
          <p:nvPr/>
        </p:nvSpPr>
        <p:spPr>
          <a:xfrm>
            <a:off x="609600" y="1463040"/>
            <a:ext cx="7315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43" name="Text 3">
            <a:extLst>
              <a:ext uri="{FF2B5EF4-FFF2-40B4-BE49-F238E27FC236}">
                <a16:creationId xmlns:a16="http://schemas.microsoft.com/office/drawing/2014/main" id="{BE4AFDFC-AD41-A4DC-AB6C-E78B418F9381}"/>
              </a:ext>
            </a:extLst>
          </p:cNvPr>
          <p:cNvSpPr/>
          <p:nvPr/>
        </p:nvSpPr>
        <p:spPr>
          <a:xfrm>
            <a:off x="853440" y="1463040"/>
            <a:ext cx="1072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F4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comparación relevante no es entre un modelo sesgado y la ausencia de sesgo, sino entre un modelo sesgado y el juicio humano, que tampoco es neutral.</a:t>
            </a:r>
            <a:endParaRPr lang="en-US" sz="2000" dirty="0"/>
          </a:p>
        </p:txBody>
      </p:sp>
      <p:sp>
        <p:nvSpPr>
          <p:cNvPr id="44" name="Shape 4">
            <a:extLst>
              <a:ext uri="{FF2B5EF4-FFF2-40B4-BE49-F238E27FC236}">
                <a16:creationId xmlns:a16="http://schemas.microsoft.com/office/drawing/2014/main" id="{F74D3EF7-2B6D-FFCA-B3C0-47B385FF3BB7}"/>
              </a:ext>
            </a:extLst>
          </p:cNvPr>
          <p:cNvSpPr/>
          <p:nvPr/>
        </p:nvSpPr>
        <p:spPr>
          <a:xfrm>
            <a:off x="609600" y="2621280"/>
            <a:ext cx="7315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45" name="Text 5">
            <a:extLst>
              <a:ext uri="{FF2B5EF4-FFF2-40B4-BE49-F238E27FC236}">
                <a16:creationId xmlns:a16="http://schemas.microsoft.com/office/drawing/2014/main" id="{606A46D8-F0AC-3B64-4910-53519014FF42}"/>
              </a:ext>
            </a:extLst>
          </p:cNvPr>
          <p:cNvSpPr/>
          <p:nvPr/>
        </p:nvSpPr>
        <p:spPr>
          <a:xfrm>
            <a:off x="853440" y="2621280"/>
            <a:ext cx="1072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F4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riesgo específico de formalizar estos modelos es que escalan y legitiman el sesgo dándole apariencia de objetividad cuantitativa.</a:t>
            </a:r>
            <a:endParaRPr lang="en-US" sz="2000" dirty="0"/>
          </a:p>
        </p:txBody>
      </p:sp>
      <p:sp>
        <p:nvSpPr>
          <p:cNvPr id="46" name="Shape 6">
            <a:extLst>
              <a:ext uri="{FF2B5EF4-FFF2-40B4-BE49-F238E27FC236}">
                <a16:creationId xmlns:a16="http://schemas.microsoft.com/office/drawing/2014/main" id="{D31BE72F-5659-9A72-1714-B7CB6BD96C44}"/>
              </a:ext>
            </a:extLst>
          </p:cNvPr>
          <p:cNvSpPr/>
          <p:nvPr/>
        </p:nvSpPr>
        <p:spPr>
          <a:xfrm>
            <a:off x="609600" y="3779520"/>
            <a:ext cx="7315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47" name="Text 7">
            <a:extLst>
              <a:ext uri="{FF2B5EF4-FFF2-40B4-BE49-F238E27FC236}">
                <a16:creationId xmlns:a16="http://schemas.microsoft.com/office/drawing/2014/main" id="{36D782FE-E4E9-3070-8E56-0E148A7DD858}"/>
              </a:ext>
            </a:extLst>
          </p:cNvPr>
          <p:cNvSpPr/>
          <p:nvPr/>
        </p:nvSpPr>
        <p:spPr>
          <a:xfrm>
            <a:off x="853440" y="3779520"/>
            <a:ext cx="1072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F4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caso de herramientas propietarias como COMPAS: el acusado no puede conocer ni impugnar los criterios que determinaron su puntuación.</a:t>
            </a:r>
            <a:endParaRPr lang="en-US" sz="2000" dirty="0"/>
          </a:p>
        </p:txBody>
      </p:sp>
      <p:sp>
        <p:nvSpPr>
          <p:cNvPr id="48" name="Shape 8">
            <a:extLst>
              <a:ext uri="{FF2B5EF4-FFF2-40B4-BE49-F238E27FC236}">
                <a16:creationId xmlns:a16="http://schemas.microsoft.com/office/drawing/2014/main" id="{1608D266-7A2B-C7B6-C5C6-B2F3BA52287A}"/>
              </a:ext>
            </a:extLst>
          </p:cNvPr>
          <p:cNvSpPr/>
          <p:nvPr/>
        </p:nvSpPr>
        <p:spPr>
          <a:xfrm>
            <a:off x="609600" y="4937760"/>
            <a:ext cx="73152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49" name="Text 9">
            <a:extLst>
              <a:ext uri="{FF2B5EF4-FFF2-40B4-BE49-F238E27FC236}">
                <a16:creationId xmlns:a16="http://schemas.microsoft.com/office/drawing/2014/main" id="{3437678C-AC07-EAFE-2ACC-62C909F3B9C8}"/>
              </a:ext>
            </a:extLst>
          </p:cNvPr>
          <p:cNvSpPr/>
          <p:nvPr/>
        </p:nvSpPr>
        <p:spPr>
          <a:xfrm>
            <a:off x="853440" y="4937760"/>
            <a:ext cx="1072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F4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se acepta algún papel para estas herramientas, debería limitarse a una señal secundaria, auditada públicamente, siempre subordinada al criterio del juez.</a:t>
            </a:r>
            <a:endParaRPr lang="en-US" sz="2000" dirty="0"/>
          </a:p>
        </p:txBody>
      </p:sp>
      <p:sp>
        <p:nvSpPr>
          <p:cNvPr id="50" name="Text 10">
            <a:extLst>
              <a:ext uri="{FF2B5EF4-FFF2-40B4-BE49-F238E27FC236}">
                <a16:creationId xmlns:a16="http://schemas.microsoft.com/office/drawing/2014/main" id="{8F3C87BD-7CB3-E299-BC90-9DA8744E746D}"/>
              </a:ext>
            </a:extLst>
          </p:cNvPr>
          <p:cNvSpPr/>
          <p:nvPr/>
        </p:nvSpPr>
        <p:spPr>
          <a:xfrm>
            <a:off x="152401" y="6021705"/>
            <a:ext cx="1154906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5C96A"/>
                </a:solidFill>
                <a:ea typeface="Georgia" pitchFamily="34" charset="-122"/>
                <a:cs typeface="Georgia" pitchFamily="34" charset="-120"/>
              </a:rPr>
              <a:t>La responsabilidad de </a:t>
            </a:r>
            <a:r>
              <a:rPr lang="en-US" sz="1600" b="1" i="1" dirty="0" err="1">
                <a:solidFill>
                  <a:srgbClr val="F5C96A"/>
                </a:solidFill>
                <a:ea typeface="Georgia" pitchFamily="34" charset="-122"/>
                <a:cs typeface="Georgia" pitchFamily="34" charset="-120"/>
              </a:rPr>
              <a:t>diseñar</a:t>
            </a:r>
            <a:r>
              <a:rPr lang="en-US" sz="1600" b="1" i="1" dirty="0">
                <a:solidFill>
                  <a:srgbClr val="F5C96A"/>
                </a:solidFill>
                <a:ea typeface="Georgia" pitchFamily="34" charset="-122"/>
                <a:cs typeface="Georgia" pitchFamily="34" charset="-120"/>
              </a:rPr>
              <a:t> </a:t>
            </a:r>
            <a:r>
              <a:rPr lang="en-US" sz="1600" b="1" i="1" dirty="0" err="1">
                <a:solidFill>
                  <a:srgbClr val="F5C96A"/>
                </a:solidFill>
                <a:ea typeface="Georgia" pitchFamily="34" charset="-122"/>
                <a:cs typeface="Georgia" pitchFamily="34" charset="-120"/>
              </a:rPr>
              <a:t>modelos</a:t>
            </a:r>
            <a:r>
              <a:rPr lang="en-US" sz="1600" b="1" i="1" dirty="0">
                <a:solidFill>
                  <a:srgbClr val="F5C96A"/>
                </a:solidFill>
                <a:ea typeface="Georgia" pitchFamily="34" charset="-122"/>
                <a:cs typeface="Georgia" pitchFamily="34" charset="-120"/>
              </a:rPr>
              <a:t> </a:t>
            </a:r>
            <a:r>
              <a:rPr lang="en-US" sz="1600" b="1" i="1" dirty="0" err="1">
                <a:solidFill>
                  <a:srgbClr val="F5C96A"/>
                </a:solidFill>
                <a:ea typeface="Georgia" pitchFamily="34" charset="-122"/>
                <a:cs typeface="Georgia" pitchFamily="34" charset="-120"/>
              </a:rPr>
              <a:t>justos</a:t>
            </a:r>
            <a:r>
              <a:rPr lang="en-US" sz="1600" b="1" i="1" dirty="0">
                <a:solidFill>
                  <a:srgbClr val="F5C96A"/>
                </a:solidFill>
                <a:ea typeface="Georgia" pitchFamily="34" charset="-122"/>
                <a:cs typeface="Georgia" pitchFamily="34" charset="-120"/>
              </a:rPr>
              <a:t> y </a:t>
            </a:r>
            <a:r>
              <a:rPr lang="en-US" sz="1600" b="1" i="1" dirty="0" err="1">
                <a:solidFill>
                  <a:srgbClr val="F5C96A"/>
                </a:solidFill>
                <a:ea typeface="Georgia" pitchFamily="34" charset="-122"/>
                <a:cs typeface="Georgia" pitchFamily="34" charset="-120"/>
              </a:rPr>
              <a:t>que</a:t>
            </a:r>
            <a:r>
              <a:rPr lang="en-US" sz="1600" b="1" i="1" dirty="0">
                <a:solidFill>
                  <a:srgbClr val="F5C96A"/>
                </a:solidFill>
                <a:ea typeface="Georgia" pitchFamily="34" charset="-122"/>
                <a:cs typeface="Georgia" pitchFamily="34" charset="-120"/>
              </a:rPr>
              <a:t> no </a:t>
            </a:r>
            <a:r>
              <a:rPr lang="en-US" sz="1600" b="1" i="1" dirty="0" err="1">
                <a:solidFill>
                  <a:srgbClr val="F5C96A"/>
                </a:solidFill>
                <a:ea typeface="Georgia" pitchFamily="34" charset="-122"/>
                <a:cs typeface="Georgia" pitchFamily="34" charset="-120"/>
              </a:rPr>
              <a:t>causen</a:t>
            </a:r>
            <a:r>
              <a:rPr lang="en-US" sz="1600" b="1" i="1" dirty="0">
                <a:solidFill>
                  <a:srgbClr val="F5C96A"/>
                </a:solidFill>
                <a:ea typeface="Georgia" pitchFamily="34" charset="-122"/>
                <a:cs typeface="Georgia" pitchFamily="34" charset="-120"/>
              </a:rPr>
              <a:t> </a:t>
            </a:r>
            <a:r>
              <a:rPr lang="en-US" sz="1600" b="1" i="1" dirty="0" err="1">
                <a:solidFill>
                  <a:srgbClr val="F5C96A"/>
                </a:solidFill>
                <a:ea typeface="Georgia" pitchFamily="34" charset="-122"/>
                <a:cs typeface="Georgia" pitchFamily="34" charset="-120"/>
              </a:rPr>
              <a:t>daño</a:t>
            </a:r>
            <a:r>
              <a:rPr lang="en-US" sz="1600" b="1" i="1" dirty="0">
                <a:solidFill>
                  <a:srgbClr val="F5C96A"/>
                </a:solidFill>
                <a:ea typeface="Georgia" pitchFamily="34" charset="-122"/>
                <a:cs typeface="Georgia" pitchFamily="34" charset="-120"/>
              </a:rPr>
              <a:t> real es nuestra.</a:t>
            </a:r>
            <a:endParaRPr lang="en-US" sz="1600" b="1" dirty="0"/>
          </a:p>
        </p:txBody>
      </p:sp>
      <p:sp>
        <p:nvSpPr>
          <p:cNvPr id="51" name="Footer Placeholder 3">
            <a:extLst>
              <a:ext uri="{FF2B5EF4-FFF2-40B4-BE49-F238E27FC236}">
                <a16:creationId xmlns:a16="http://schemas.microsoft.com/office/drawing/2014/main" id="{1C49233E-584E-236E-C1D5-FC8A444F0E8A}"/>
              </a:ext>
            </a:extLst>
          </p:cNvPr>
          <p:cNvSpPr txBox="1">
            <a:spLocks/>
          </p:cNvSpPr>
          <p:nvPr/>
        </p:nvSpPr>
        <p:spPr>
          <a:xfrm>
            <a:off x="3547872" y="6400800"/>
            <a:ext cx="5096256" cy="274637"/>
          </a:xfrm>
          <a:prstGeom prst="rect">
            <a:avLst/>
          </a:prstGeom>
        </p:spPr>
        <p:txBody>
          <a:bodyPr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00" dirty="0">
                <a:solidFill>
                  <a:srgbClr val="B9B9B9"/>
                </a:solidFill>
              </a:rPr>
              <a:t>NUCLIO DIGITAL SCHOOL - MÁSTER DATA ANALYTICS - TFM - GRUPO 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A1BEF-0907-7996-185B-06F687F83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Our Startups">
            <a:extLst>
              <a:ext uri="{FF2B5EF4-FFF2-40B4-BE49-F238E27FC236}">
                <a16:creationId xmlns:a16="http://schemas.microsoft.com/office/drawing/2014/main" id="{D04C5C96-04DA-CC47-34B2-4C2EC8395B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3278" y="2105690"/>
            <a:ext cx="7445443" cy="2646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891C6BA-2484-E5E0-7A20-8F2D5F9AF5A1}"/>
              </a:ext>
            </a:extLst>
          </p:cNvPr>
          <p:cNvSpPr txBox="1"/>
          <p:nvPr/>
        </p:nvSpPr>
        <p:spPr>
          <a:xfrm>
            <a:off x="3300411" y="5014863"/>
            <a:ext cx="55911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¡GRACIAS!</a:t>
            </a:r>
          </a:p>
        </p:txBody>
      </p:sp>
    </p:spTree>
    <p:extLst>
      <p:ext uri="{BB962C8B-B14F-4D97-AF65-F5344CB8AC3E}">
        <p14:creationId xmlns:p14="http://schemas.microsoft.com/office/powerpoint/2010/main" val="355711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186</TotalTime>
  <Words>2782</Words>
  <Application>Microsoft Office PowerPoint</Application>
  <PresentationFormat>Widescreen</PresentationFormat>
  <Paragraphs>311</Paragraphs>
  <Slides>27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41" baseType="lpstr">
      <vt:lpstr>Merriweather-Bold</vt:lpstr>
      <vt:lpstr>Merriweather-Regular</vt:lpstr>
      <vt:lpstr>Roboto-Regular</vt:lpstr>
      <vt:lpstr>Aptos</vt:lpstr>
      <vt:lpstr>Aptos Display</vt:lpstr>
      <vt:lpstr>Aptos Narrow</vt:lpstr>
      <vt:lpstr>Arial</vt:lpstr>
      <vt:lpstr>Calibri</vt:lpstr>
      <vt:lpstr>Georgia</vt:lpstr>
      <vt:lpstr>Merriweather Bold</vt:lpstr>
      <vt:lpstr>Open Sans</vt:lpstr>
      <vt:lpstr>Roboto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Hermogenes Garces</dc:creator>
  <cp:lastModifiedBy>Luis Hermogenes Garces</cp:lastModifiedBy>
  <cp:revision>6</cp:revision>
  <dcterms:created xsi:type="dcterms:W3CDTF">2026-02-28T14:41:00Z</dcterms:created>
  <dcterms:modified xsi:type="dcterms:W3CDTF">2026-02-28T21:41:45Z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0f27493-9fb2-474d-b1c8-ac2c092355c0_Enabled">
    <vt:lpwstr>true</vt:lpwstr>
  </property>
  <property fmtid="{D5CDD505-2E9C-101B-9397-08002B2CF9AE}" pid="3" name="MSIP_Label_a0f27493-9fb2-474d-b1c8-ac2c092355c0_SetDate">
    <vt:lpwstr>2026-02-28T17:37:38Z</vt:lpwstr>
  </property>
  <property fmtid="{D5CDD505-2E9C-101B-9397-08002B2CF9AE}" pid="4" name="MSIP_Label_a0f27493-9fb2-474d-b1c8-ac2c092355c0_Method">
    <vt:lpwstr>Standard</vt:lpwstr>
  </property>
  <property fmtid="{D5CDD505-2E9C-101B-9397-08002B2CF9AE}" pid="5" name="MSIP_Label_a0f27493-9fb2-474d-b1c8-ac2c092355c0_Name">
    <vt:lpwstr>defa4170-0d19-0005-0004-bc88714345d2</vt:lpwstr>
  </property>
  <property fmtid="{D5CDD505-2E9C-101B-9397-08002B2CF9AE}" pid="6" name="MSIP_Label_a0f27493-9fb2-474d-b1c8-ac2c092355c0_SiteId">
    <vt:lpwstr>9b415834-803a-4da0-afdc-fe6b1d52d649</vt:lpwstr>
  </property>
  <property fmtid="{D5CDD505-2E9C-101B-9397-08002B2CF9AE}" pid="7" name="MSIP_Label_a0f27493-9fb2-474d-b1c8-ac2c092355c0_ActionId">
    <vt:lpwstr>1348266a-9660-473f-8b3a-29e437b5a76f</vt:lpwstr>
  </property>
  <property fmtid="{D5CDD505-2E9C-101B-9397-08002B2CF9AE}" pid="8" name="MSIP_Label_a0f27493-9fb2-474d-b1c8-ac2c092355c0_ContentBits">
    <vt:lpwstr>0</vt:lpwstr>
  </property>
  <property fmtid="{D5CDD505-2E9C-101B-9397-08002B2CF9AE}" pid="9" name="MSIP_Label_a0f27493-9fb2-474d-b1c8-ac2c092355c0_Tag">
    <vt:lpwstr>10, 3, 0, 1</vt:lpwstr>
  </property>
</Properties>
</file>